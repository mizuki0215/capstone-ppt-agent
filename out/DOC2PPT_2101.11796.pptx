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State the paper, then the one-sentence claim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abstract. Open with: We propose a hierarchical sequence-to-sequence approach to tackle our task in an end-to-end manner. Then move to: Can machines learn to emulate this laborious process?.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introduction. Open with: We hope that our DOC2PPT will advance the state-of-the-art in the vision-and-language domain. Then move to: In this paper, we introduce DOC2PPT, a novel task of creating presentation slides from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related work. Open with: We propose a large dataset of 5,873 pairs of high-quality scientiﬁc documents and slide .... Then move to: Learning text-image similarity has been studied in the visual-semantic embedding (VSE) literature (Karpathy and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approach. Open with: Table 1 reports the descriptive statistics of our dataset. Then move to: We tune the two hyper-parameters θR and θA via cross-validation (we set θR =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experiments. Open with: DOC2PPT is a new task with no established evaluation metrics and baselines. Then move to: We carefully ablate various components of our approach and evaluate them on our proposed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evaluation metrics. Open with: Each layer of the PT is based on a 256-unit GRU. Then move to: Implementation Detail For the DR, we use a Bi-GRU with 1,024 hidden units and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results and discussions. Open with: Table 2 (a) and (b) compare the two models on the four metrics. Then move to: Table 2 (f) shows this post-processing further improves the two image-related metrics, LC-FS and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conclusion. Open with: Our slide stemming step is 93% accurate based on the human annotated validation set. Then move to: Sentence Matching Table 4 shows examples of matching sentences between the paper and the .... Target roughly 90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>
                <a:solidFill>
                  <a:srgbClr val="10233A"/>
                </a:solidFill>
                <a:latin typeface="Helvetica Neue"/>
              </a:rPr>
              <a:t>DOC2PPT: Automatic Presentation Slides Generation from Scientiﬁc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0">
                <a:solidFill>
                  <a:srgbClr val="5A6B7C"/>
                </a:solidFill>
                <a:latin typeface="Helvetica Neue"/>
              </a:rPr>
              <a:t>A generated deck - draft, not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propose a hierarchical sequence-to-sequence approach to tackle our task in an end-to-end manner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Can machines learn to emulate this laborious process?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Our approach exploits the inherent structures within documents and slides and incorporates paraphrasing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show that our approach outperforms strong baselines and produces slides with rich content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present a novel task and approach for document-to-slide generation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Creating presentation materials requires complex multimodal reasoning skills to summarize key concepts and arrange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We hope that our DOC2PPT will advance the state-of-the-art in the vision-and-language domain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In this paper, we introduce DOC2PPT, a novel task of creating presentation slides from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This requires solving several challenges in the vision-and-language domain, e.g., visual-semantic embedding and multimodal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Lastly, we explore both template-based and learning-based layout design and compare them both quantitatively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It requires skills to abstract complex concepts and conveys them in a concise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5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500">
                <a:solidFill>
                  <a:srgbClr val="10233A"/>
                </a:solidFill>
                <a:latin typeface="Helvetica Neue"/>
              </a:rPr>
              <a:t>Furthermore, none of the above addresses the challenge of ﬁnd-ing an optimal visual layout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propose a large dataset of 5,873 pairs of high-quality scientiﬁc documents and slide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Learning text-image similarity has been studied in the visual-semantic embedding (VSE) literature (Karpathy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As argued above, our task brings a new suite of challenges to vision-and-language understanding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Furthermore, existing datasets in this domain (such as TalkSumm (Lev et al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Joint modeling of vision-andlanguage has been studied from different angles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Our task involves generating slides with relevant text and ﬁgures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5623560"/>
            <a:ext cx="10424160" cy="6858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7424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0">
                <a:solidFill>
                  <a:srgbClr val="5A6B7C"/>
                </a:solidFill>
                <a:latin typeface="Helvetica Neue"/>
              </a:rPr>
              <a:t>Figure 1: We introduce DOC2PPT, a novel task of gener-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Table 1 reports the descriptive statistics of our dataset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We tune the two hyper-parameters θR and θA via cross-validation (we set θR =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For simplicity, we discard F out if its highest visual embedding similarity is lower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goal of DOC2PPT is to generate a slide deck from a multimodal document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Figure 2: An overview of our architecture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This is a natural choice to encode our prior knowledge about the hierarchical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DOC2PPT is a new task with no established evaluation metrics and baselines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carefully ablate various components of our approach and evaluate them on our proposed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propose automatic metrics speciﬁ- cally designed for evaluating slide generation methods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20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2000">
                <a:solidFill>
                  <a:srgbClr val="10233A"/>
                </a:solidFill>
                <a:latin typeface="Helvetica Neue"/>
              </a:rPr>
              <a:t>We also perform hu-man evaluation to assess the generation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Each layer of the PT is based on a 256-unit GRU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Implementation Detail For the DR, we use a Bi-GRU with 1,024 hidden units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The PAR is designed as Seq2Seq with 512-unit GRU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Therefore, we propose the slide-level ROUGE: ROUGE-SL = ROUGE-L × e |Q−˜ Q| Q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Intuitively, the number of slides in a deck is a good proxy for the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8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800">
                <a:solidFill>
                  <a:srgbClr val="10233A"/>
                </a:solidFill>
                <a:latin typeface="Helvetica Neue"/>
              </a:rPr>
              <a:t>Ablation Settings ROUGE-SL LC-FS TFR mIoU Hrch-PT PAR TIM Post Proc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Results and Discussions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Table 2 (a) and (b) compare the two models on the four metrics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Table 2 (f) shows this post-processing further improves the two image-related metrics, LC-FS and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Significance tests: two-sample t-test (p &lt;0.05.) maining space under the main content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How well do the ﬁgure(s)/tables(s) in DECK A match the text or ﬁgures/tables in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responses were all on a scale of 1 (not similar at all) to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The workers were then asked to answer three questions: 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800" b="1">
                <a:solidFill>
                  <a:srgbClr val="10233A"/>
                </a:solidFill>
                <a:latin typeface="Helvetica Neue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98448"/>
            <a:ext cx="10515600" cy="18288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4241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Our slide stemming step is 93% accurate based on the human annotated validation set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Sentence Matching Table 4 shows examples of matching sentences between the paper and the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Precision, recall, and F1 are evaluated using the human-labeled testing set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Slides are matched with the section with the highest cosine similarity and our slide-section ...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Also, using hobj beneﬁts more (w/ 32.27 vs w/o 31.95)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1">
                <a:solidFill>
                  <a:srgbClr val="C08A2E"/>
                </a:solidFill>
                <a:latin typeface="Helvetica Neue"/>
              </a:rPr>
              <a:t>-  </a:t>
            </a:r>
            <a:r>
              <a:rPr sz="1700">
                <a:solidFill>
                  <a:srgbClr val="10233A"/>
                </a:solidFill>
                <a:latin typeface="Helvetica Neue"/>
              </a:rPr>
              <a:t>Details of the Data Processing Steps Section 4 in our main paper explains how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