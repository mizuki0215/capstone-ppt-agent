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DSAI4901  ·  CAPSTONE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0233A"/>
                </a:solidFill>
                <a:latin typeface="PingFang HK"/>
              </a:rPr>
              <a:t>論文整理型 PPT Agent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0" i="0">
                <a:solidFill>
                  <a:srgbClr val="2E6F95"/>
                </a:solidFill>
                <a:latin typeface="PingFang HK"/>
              </a:rPr>
              <a:t>從「生成得到」到「驗證得到」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1371600" cy="4114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B7C"/>
                </a:solidFill>
                <a:latin typeface="PingFang HK"/>
              </a:rPr>
              <a:t>以內容可追溯性（traceability）與版面可用率（deck-readiness）
為核心的簡報生成系統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PingFang HK"/>
              </a:rPr>
              <a:t>CHAN Yee Tung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Supervisor：Mr. Chen Xianwei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2026 年 10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830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PingFang HK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414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篇核心文獻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3081528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326440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PingFang H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92277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個功能缺口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4562856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4745736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C08A2E"/>
                </a:solidFill>
                <a:latin typeface="PingFang H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4041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條研究路線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文獻研究：由 367 篇收窄到 38 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920240"/>
            <a:ext cx="78638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PingFang HK"/>
              </a:rPr>
              <a:t>367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6675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arXiv 候選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51206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35224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PingFang HK"/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9923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相關度篩選後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12464"/>
            <a:ext cx="384048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31336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3A"/>
                </a:solidFill>
                <a:latin typeface="PingFang HK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9534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精讀（33 Agent + 5 教育）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8576"/>
            <a:ext cx="3291840" cy="676656"/>
          </a:xfrm>
          <a:prstGeom prst="roundRect">
            <a:avLst>
              <a:gd name="adj" fmla="val 35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727448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PingFang HK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91456"/>
            <a:ext cx="2103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ingFang HK"/>
              </a:rPr>
              <a:t>作者公開原始碼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920240"/>
            <a:ext cx="2834640" cy="30175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084831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我實際做了什麼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95728"/>
            <a:ext cx="239572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950">
                <a:solidFill>
                  <a:srgbClr val="1E3652"/>
                </a:solidFill>
                <a:latin typeface="PingFang HK"/>
              </a:rPr>
              <a:t>12 組 arXiv 查詢（slide / PPT / poster / deck）</a:t>
            </a:r>
          </a:p>
          <a:p>
            <a:pPr>
              <a:lnSpc>
                <a:spcPct val="128000"/>
              </a:lnSpc>
              <a:spcBef>
                <a:spcPts val="70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950">
                <a:solidFill>
                  <a:srgbClr val="1E3652"/>
                </a:solidFill>
                <a:latin typeface="PingFang HK"/>
              </a:rPr>
              <a:t>以功能相關度篩選，排除無關領域</a:t>
            </a:r>
          </a:p>
          <a:p>
            <a:pPr>
              <a:lnSpc>
                <a:spcPct val="128000"/>
              </a:lnSpc>
              <a:spcBef>
                <a:spcPts val="70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950">
                <a:solidFill>
                  <a:srgbClr val="1E3652"/>
                </a:solidFill>
                <a:latin typeface="PingFang HK"/>
              </a:rPr>
              <a:t>38 篇全文關鍵詞掃描（WCAG、notes、成本）</a:t>
            </a:r>
          </a:p>
          <a:p>
            <a:pPr>
              <a:lnSpc>
                <a:spcPct val="128000"/>
              </a:lnSpc>
              <a:spcBef>
                <a:spcPts val="70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950">
                <a:solidFill>
                  <a:srgbClr val="1E3652"/>
                </a:solidFill>
                <a:latin typeface="PingFang HK"/>
              </a:rPr>
              <a:t>逐篇由 PDF 抽取 GitHub 連結並 HTTP 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18/38 有作者公開原始碼（已逐一 HTTP 驗證）；其餘為論文描述或匿名投稿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佢哋做得好嘅四件事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PingFang HK"/>
              </a:rPr>
              <a:t>先確認：現有系統已解決了什麼——這決定了我不應該重做什麼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2615184" cy="29260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PingFang H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87168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33A"/>
                </a:solidFill>
                <a:latin typeface="PingFang HK"/>
              </a:rPr>
              <a:t>生成品質與版面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063240"/>
            <a:ext cx="223113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已做到「看起來像真」：版面穩定、風格一致，盲測可贏商業工具。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416052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E6F95"/>
                </a:solidFill>
                <a:latin typeface="PingFang HK"/>
              </a:rPr>
              <a:t>Zheng et al. (2025); Vats et al. (2026)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2615184" cy="29260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PingFang H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487168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33A"/>
                </a:solidFill>
                <a:latin typeface="PingFang HK"/>
              </a:rPr>
              <a:t>原生可編輯輸出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063240"/>
            <a:ext cx="223113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開始在 .pptx 物件層操作，保留樣式與可編輯性。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416052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E6F95"/>
                </a:solidFill>
                <a:latin typeface="PingFang HK"/>
              </a:rPr>
              <a:t>Jung et al. (2025); Zheng et al. (2026b)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965960"/>
            <a:ext cx="2615184" cy="29260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9944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PingFang H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87168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33A"/>
                </a:solidFill>
                <a:latin typeface="PingFang HK"/>
              </a:rPr>
              <a:t>評測方法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63240"/>
            <a:ext cx="223113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從主觀打分走向任務化：用答題測內容傳達、用 gate 測可用性。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2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E6F95"/>
                </a:solidFill>
                <a:latin typeface="PingFang HK"/>
              </a:rPr>
              <a:t>Pang et al. (2025); Hu et al. (2026)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965960"/>
            <a:ext cx="2615184" cy="29260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176272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A2E"/>
                </a:solidFill>
                <a:latin typeface="PingFang H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487168"/>
            <a:ext cx="22311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33A"/>
                </a:solidFill>
                <a:latin typeface="PingFang HK"/>
              </a:rPr>
              <a:t>多模態與敘事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063240"/>
            <a:ext cx="223113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圖、表、公式能進入版面；開始顯式建模故事線。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4160520"/>
            <a:ext cx="2231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E6F95"/>
                </a:solidFill>
                <a:latin typeface="PingFang HK"/>
              </a:rPr>
              <a:t>Liang et al. (2025); Ozden et al. (2026a)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3542"/>
                </a:solidFill>
                <a:latin typeface="PingFang HK"/>
              </a:rPr>
              <a:t>結論：生成能力已經商品化，我不應該再做一個更好的生成器。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把 PPT Agent 拆成 8 個功能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PingFang HK"/>
              </a:rPr>
              <a:t>缺口要講得具體，就先要有一張功能地圖——之後四頁逐個對照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解析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4288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8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內容選取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敘事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15584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版面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71232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2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2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輸出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8A2E"/>
                </a:solidFill>
                <a:latin typeface="PingFang HK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檢查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9476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862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8A2E"/>
                </a:solidFill>
                <a:latin typeface="PingFang HK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89534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講稿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977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跨階段：把內容轉成可講的節奏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75488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8A2E"/>
                </a:solidFill>
                <a:latin typeface="PingFang HK"/>
              </a:rPr>
              <a:t>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85546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引用與可追溯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跨階段：每一句都要有出處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9A8"/>
                </a:solidFill>
                <a:latin typeface="PingFang HK"/>
              </a:rPr>
              <a:t>接下來四頁：每頁講 2 個缺口 —— 症狀 · 文獻證據 · 後果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缺口 1 ｜ 解析與內容選取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①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圖文分離，輸入即失真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figure 與 caption 被拆散，圖文對不上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雙欄論文閱讀順序錯亂，段落拼接錯位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表格被壓成文字牆，數字失去行列結構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現有系統把解析視為前處理，未處理圖文對齊（Pang et al., 2025; Fu et al., 2021）。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錯的輸入會被下游全部繼承——後面每一步都在錯的基礎上做決策，而且錯誤在成品上不可見。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② 內容選取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平均分配，沒有輕重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每節平均分配一頁，篇幅與重要性無關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最關鍵的實驗結果被省略，反而保留背景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method 細節塞進 introduction 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多數方法集中於文字選取，忽略篇幅與重要性的對應（Liang et al., 2025; Chen et al., 2026）。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deck 完整但沒有重點；觀眾離場只記得標題，講者也說不出「最重要的一句是什麼」。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缺口 2 ｜ 敘事與版面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③ 敘事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目錄式摘要，不是演講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逐段摘要＝論文目錄，不是一條論證線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10 頁 background、2 頁 result，輕重倒置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缺少 motivation → problem → insight → evidence 的弧線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現有方法直接把原文摘要成 slide（Ozden et al., 2026a）；顯式敘事規劃仍屬少數（Vats et al., 2026）。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講者變成朗讀目錄，聽眾無法建立因果理解——記得住每頁，但說不出整個研究在解決什麼。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④ 版面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出界、重疊、被裁切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文字超出版面、元素互相重疊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字級過小、對比不足，投影後看不清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圖被裁切、留白失衡，每頁都是 bullet 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局部錯誤包括 overflow、overlap、clipping、off-canvas（Tian et al., 2026）；模型讀得懂內容卻排不好版面（Huang et al., 2025）。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這是最直接可見的失敗：投影當場文字被切、圖被遮，觀眾即時失去信任。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缺口 3 ｜ 輸出與檢查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⑤ 輸出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看似可用，其實不能改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輸出圖片或 HTML，無法在 PowerPoint 內編輯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出到 .pptx 但全是 textbox，改一個字就爆版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圖表被點陣化，原始資料消失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現有 agent 常把可編輯內容點陣化或破壞版面（Zheng et al., 2026b）；物件模型路線才能保留樣式（Jung et al., 2025）。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用戶拿到成品但不能改，等於不能用；修改成本高於自己重做，工具因此被棄用。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⑥ 檢查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一次性回饋，無法歸因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整份重寫一次，只看一次回饋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錯誤無法定位到具體元素（哪個 shape 出界？）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修完可能更差，沒有收斂保證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單體式 one-version-one-feedback 令局部錯誤難以歸因（Tian et al., 2026）；反思須以渲染狀態為依據（Zheng et al., 2026a）。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迭代變成賭博：越修越差，而且無法解釋為什麼——使用者最終選擇手動修改。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缺口 4 ｜ 講稿與引用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⑦ 講稿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notes 只是 bullet 的複述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speaker notes 與頁面文字高度重複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沒有時間預算，不知 3 分鐘該講幾頁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沒有轉場句，頁與頁之間斷開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現有系統低估交付過程（Yang et al., 2026）；38 篇中僅 5 篇提及 speaker notes，且均非研究重點。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講者照讀 slide，觀眾同時讀字與聽字，注意力分裂；準備時間沒有減少，工具失去意義。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3542"/>
                </a:solidFill>
                <a:latin typeface="PingFang HK"/>
              </a:rPr>
              <a:t>⑧ 引用與可追溯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29968"/>
            <a:ext cx="4773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0233A"/>
                </a:solidFill>
                <a:latin typeface="PingFang HK"/>
              </a:rPr>
              <a:t>寫得出字，說不出出處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bullet 沒有出處，無法回溯到論文哪一段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把 related work 寫成「本文提出」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00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1000">
                <a:solidFill>
                  <a:srgbClr val="1E3652"/>
                </a:solidFill>
                <a:latin typeface="PingFang HK"/>
              </a:rPr>
              <a:t>圖表編號錯配，數字張冠李戴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785615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977639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E6F95"/>
                </a:solidFill>
                <a:latin typeface="PingFang HK"/>
              </a:rPr>
              <a:t>檢索用於提升可靠性但未提供逐句出處（Xie et al., 2025）；全局意圖有保留，句子級錨點仍缺（Ozden et al., 2026a）。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18304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006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992624"/>
            <a:ext cx="45902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233A"/>
                </a:solidFill>
                <a:latin typeface="PingFang HK"/>
              </a:rPr>
              <a:t>講錯數據也無人察覺；在學術場景，一次錯誤引用就足以摧毀整場簡報的可信度。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單點失效，會被下游放大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輸入錯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86584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7752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內容錯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7096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敘事散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7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5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5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版面爆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9288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修不好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28632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4708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ingFang HK"/>
              </a:rPr>
              <a:t>無從查證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871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9A8"/>
                </a:solidFill>
                <a:latin typeface="PingFang HK"/>
              </a:rPr>
              <a:t>每一個上游錯誤，都會在下游被放大，而且無法回溯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3346704" cy="14630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218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觀眾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52958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E3652"/>
                </a:solidFill>
                <a:latin typeface="PingFang HK"/>
              </a:rPr>
              <a:t>看不懂、記不住，當場看到字被切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→ 注意力流失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063240"/>
            <a:ext cx="3346704" cy="14630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218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講者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52958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E3652"/>
                </a:solidFill>
                <a:latin typeface="PingFang HK"/>
              </a:rPr>
              <a:t>不敢用、要重做，答不出「這數字哪來的」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→ 信任崩塌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063240"/>
            <a:ext cx="3346704" cy="14630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7" y="3218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研究者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352958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E3652"/>
                </a:solidFill>
                <a:latin typeface="PingFang HK"/>
              </a:rPr>
              <a:t>無法比較系統好壞，因為沒有共同的可信度量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7" y="42062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→ 領域停滯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38928"/>
            <a:ext cx="10607040" cy="86868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85232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3A"/>
                </a:solidFill>
                <a:latin typeface="PingFang HK"/>
              </a:rPr>
              <a:t>量度已經存在（SlideAudit、DECKBench）；缺的是把它當作控制訊號，並量度它換來幾多。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03 · 研究定位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我的方向：論文整理型 PPT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PingFang HK"/>
              </a:rPr>
              <a:t>明確不是 lecture note —— 兩者的成功標準根本不同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74519"/>
            <a:ext cx="5623559" cy="40233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975103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PingFang HK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975103"/>
            <a:ext cx="2240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PingFang HK"/>
              </a:rPr>
              <a:t>論文整理（本項目）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3" y="1975103"/>
            <a:ext cx="1920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PingFang HK"/>
              </a:rPr>
              <a:t>Lecture note（不做）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76856"/>
            <a:ext cx="5623559" cy="676656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368296"/>
            <a:ext cx="859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2368296"/>
            <a:ext cx="2185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單篇論文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368296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9A8"/>
                </a:solidFill>
                <a:latin typeface="PingFang HK"/>
              </a:rPr>
              <a:t>教材 / 課堂內容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53511"/>
            <a:ext cx="5623559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44951"/>
            <a:ext cx="859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3044951"/>
            <a:ext cx="2185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把研究壓縮成可講的論證鏈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3044951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9A8"/>
                </a:solidFill>
                <a:latin typeface="PingFang HK"/>
              </a:rPr>
              <a:t>把知識拆成學習單元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30168"/>
            <a:ext cx="5623559" cy="676656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721607"/>
            <a:ext cx="859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成功標準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3721607"/>
            <a:ext cx="2185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內容可追溯、論點完整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3721607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9A8"/>
                </a:solidFill>
                <a:latin typeface="PingFang HK"/>
              </a:rPr>
              <a:t>學習者理解與練習題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06823"/>
            <a:ext cx="5623559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398263"/>
            <a:ext cx="8595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主要難點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0824" y="4398263"/>
            <a:ext cx="2185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事實正確性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398263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9A8"/>
                </a:solidFill>
                <a:latin typeface="PingFang HK"/>
              </a:rPr>
              <a:t>教學設計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3408" y="1874519"/>
            <a:ext cx="4718304" cy="315468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20299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研究問題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3774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3542"/>
                </a:solidFill>
                <a:latin typeface="PingFang HK"/>
              </a:rPr>
              <a:t>RQ1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359152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如何為每條 bullet 建立可驗證的來源錨點？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2735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3542"/>
                </a:solidFill>
                <a:latin typeface="PingFang HK"/>
              </a:rPr>
              <a:t>RQ2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255264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如何把版面可用性變成可計算的指標？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169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3542"/>
                </a:solidFill>
                <a:latin typeface="PingFang HK"/>
              </a:rPr>
              <a:t>RQ3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4151376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檢查—修復迴圈能否同時提升兩者，而成本可接受？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03 · 研究定位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三個貢獻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PingFang H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5623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3A"/>
                </a:solidFill>
                <a:latin typeface="PingFang HK"/>
              </a:rPr>
              <a:t>可計算的「可信度」框架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5856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PingFang HK"/>
              </a:rPr>
              <a:t>把「內容可信」與「版面可用」各變成一個可自動量度的比率：
內容可追溯率（traceable bullet ratio）＋ 版面可用率（deck-ready rate）。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F95"/>
                </a:solidFill>
                <a:latin typeface="PingFang HK"/>
              </a:rPr>
              <a:t>交付：指標定義 + 開源計算套件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72968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PingFang H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3A"/>
                </a:solidFill>
                <a:latin typeface="PingFang HK"/>
              </a:rPr>
              <a:t>逐步檢查—修復迴圈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39896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PingFang HK"/>
              </a:rPr>
              <a:t>每次只改一個元素、改完立即渲染驗證，令錯誤可歸因；
並報告迭代的收斂行為，而不是只報最終分數。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67588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F95"/>
                </a:solidFill>
                <a:latin typeface="PingFang HK"/>
              </a:rPr>
              <a:t>交付：agent 實作 + 收斂曲線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54296"/>
            <a:ext cx="10607040" cy="129844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889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3717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8A2E"/>
                </a:solidFill>
                <a:latin typeface="PingFang H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1888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3A"/>
                </a:solidFill>
                <a:latin typeface="PingFang HK"/>
              </a:rPr>
              <a:t>公開資料集與評測協定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21224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E3652"/>
                </a:solidFill>
                <a:latin typeface="PingFang HK"/>
              </a:rPr>
              <a:t>150 版人手標註的違規 ground truth、30 人 pairwise 偏好資料、
以及可重跑的評測腳本。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57216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F95"/>
                </a:solidFill>
                <a:latin typeface="PingFang HK"/>
              </a:rPr>
              <a:t>交付：dataset + benchmark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04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PingFang HK"/>
              </a:rPr>
              <a:t>金色 = 本項目的新貢獻；其餘沿用已被驗證的成熟做法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輸入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4540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7984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1136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section / figure / table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5284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證據圖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claim–evidence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96028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19472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敘事規劃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篇幅分配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76772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版面約束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容量感知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57516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渲染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python-pptx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38260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1704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檢查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違規偵測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319004" y="2377440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42448" y="1874519"/>
            <a:ext cx="1243584" cy="1207008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2029968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3A"/>
                </a:solidFill>
                <a:latin typeface="PingFang HK"/>
              </a:rPr>
              <a:t>修復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24140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B7C"/>
                </a:solidFill>
                <a:latin typeface="PingFang HK"/>
              </a:rPr>
              <a:t>局部重寫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611880"/>
            <a:ext cx="3346704" cy="1051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3" y="376732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33A"/>
                </a:solidFill>
                <a:latin typeface="PingFang HK"/>
              </a:rPr>
              <a:t>限制輸出空間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3" y="411480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C"/>
                </a:solidFill>
                <a:latin typeface="PingFang HK"/>
              </a:rPr>
              <a:t>模型只寫結構化內容，座標與樣式由模板負責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1688" y="3611880"/>
            <a:ext cx="3346704" cy="1051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1" y="376732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33A"/>
                </a:solidFill>
                <a:latin typeface="PingFang HK"/>
              </a:rPr>
              <a:t>一次只改一個元素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1" y="411480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C"/>
                </a:solidFill>
                <a:latin typeface="PingFang HK"/>
              </a:rPr>
              <a:t>局部重寫 + 即時驗證，錯誤才可歸因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6136" y="3611880"/>
            <a:ext cx="3346704" cy="1051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3767328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33A"/>
                </a:solidFill>
                <a:latin typeface="PingFang HK"/>
              </a:rPr>
              <a:t>所有判斷都要有數字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114800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A6B7C"/>
                </a:solidFill>
                <a:latin typeface="PingFang HK"/>
              </a:rPr>
              <a:t>不用「看起來不錯」，只用可量度的違規與比率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3652"/>
                </a:solidFill>
                <a:latin typeface="PingFang HK"/>
              </a:rPr>
              <a:t>輸出的不是圖片，而是可編輯的 .pptx：版面由約束求解決定，內容由證據圖決定。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04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如何證明有效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PingFang HK"/>
              </a:rPr>
              <a:t>三軌並行，避免「用 LLM 評 LLM」的循環論證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74519"/>
            <a:ext cx="10607040" cy="384048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HK"/>
              </a:rPr>
              <a:t>軌道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194767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HK"/>
              </a:rPr>
              <a:t>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9476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HK"/>
              </a:rPr>
              <a:t>樣本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8" y="1947672"/>
            <a:ext cx="2468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ingFang HK"/>
              </a:rPr>
              <a:t>為何需要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58568"/>
            <a:ext cx="10607040" cy="603504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14016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自動（幾何）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414016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違規數、版面可用率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414016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8 篇 held-out、150 版標註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414016"/>
            <a:ext cx="2450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C"/>
                </a:solidFill>
                <a:latin typeface="PingFang HK"/>
              </a:rPr>
              <a:t>完全確定性、可重跑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62072"/>
            <a:ext cx="106070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017520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任務式（問答）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017520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內容傳達正確率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17520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每份 deck 10 題 × 8 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3017520"/>
            <a:ext cx="2450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C"/>
                </a:solidFill>
                <a:latin typeface="PingFang HK"/>
              </a:rPr>
              <a:t>測「觀眾能否從成品得到正確資訊」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465576"/>
            <a:ext cx="10607040" cy="603504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62102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人評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621024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pairwise 偏好、可講性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621024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233A"/>
                </a:solidFill>
                <a:latin typeface="PingFang HK"/>
              </a:rPr>
              <a:t>30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621024"/>
            <a:ext cx="2450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7C"/>
                </a:solidFill>
                <a:latin typeface="PingFang HK"/>
              </a:rPr>
              <a:t>設計沒有 ground truth，只能相對比較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26280"/>
            <a:ext cx="5212080" cy="10241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65429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8A2E"/>
                </a:solidFill>
                <a:latin typeface="PingFang HK"/>
              </a:rPr>
              <a:t>BASELINES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9204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E3652"/>
                </a:solidFill>
                <a:latin typeface="PingFang HK"/>
              </a:rPr>
              <a:t>① Naive single-pass  ·  ② PPTAgent  ·  ③ VLM-judge 修復迴圈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526280"/>
            <a:ext cx="5184648" cy="10241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465429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8A2E"/>
                </a:solidFill>
                <a:latin typeface="PingFang HK"/>
              </a:rPr>
              <a:t>ABLATION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89204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移除引用錨點 / 移除檢查 / 移除修復
→ 逐項歸因每個模組的貢獻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05 · 計劃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20 週時間表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1460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9456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PingFang HK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344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PingFang HK"/>
              </a:rPr>
              <a:t>W5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224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PingFang HK"/>
              </a:rPr>
              <a:t>W10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PingFang HK"/>
              </a:rPr>
              <a:t>W15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09960" y="1691640"/>
            <a:ext cx="0" cy="374904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0" y="146304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9A8"/>
                </a:solidFill>
                <a:latin typeface="PingFang HK"/>
              </a:rPr>
              <a:t>W20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1828800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1897380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74519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文獻與範圍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4136" y="2340864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240944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3865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環境與 spike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3672" y="2852928"/>
            <a:ext cx="1289304" cy="329184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921508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W5–7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986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解析與證據圖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22976" y="3364992"/>
            <a:ext cx="1719072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32704" y="3433572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W8–11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107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版面與渲染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3877056"/>
            <a:ext cx="1289304" cy="329184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5" y="3945636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W12–14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2277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檢查與修復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1352" y="4389120"/>
            <a:ext cx="1719072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4457700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W15–18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實驗與人評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0424" y="4901184"/>
            <a:ext cx="859536" cy="329184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60152" y="496976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PingFang HK"/>
              </a:rPr>
              <a:t>W19–20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報告與簡報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2026-11-05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PingFang HK"/>
              </a:rPr>
              <a:t>Proposal 提交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1688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61688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62855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2027-01-07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2855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PingFang HK"/>
              </a:rPr>
              <a:t>Interim Report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46136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46136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47304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3542"/>
                </a:solidFill>
                <a:latin typeface="PingFang HK"/>
              </a:rPr>
              <a:t>2027-04-08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47304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7C"/>
                </a:solidFill>
                <a:latin typeface="PingFang HK"/>
              </a:rPr>
              <a:t>Final Report + Turnitin + AI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附錄 · APA 7TH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33A"/>
                </a:solidFill>
                <a:latin typeface="PingFang HK"/>
              </a:rPr>
              <a:t>引用文獻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Chen, H., Zhou, X., Zhou, W., Shao, X., Zhu, Y., Wang, B., Hong, J., Jia, A., &amp; Wu, F. (2026). X+Slides: Benchmarking audience-conditioned slide generation (arXiv:2606.19256). arXiv. https://doi.org/10.48550/arXiv.2606.19256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Fu, T.-J., Wang, W. Y., McDuff, D., &amp; Song, Y. (2021). DOC2PPT: Automatic presentation slides generation from scientific documents (arXiv:2101.11796). arXiv. https://doi.org/10.48550/arXiv.2101.11796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Ge, J., Wang, Z. Z., Zhou, X., Peng, Y.-H., Subramanian, S., Tan, Q., Sap, M., Suhr, A., Fried, D., Neubig, G., &amp; Darrell, T. (2025). AutoPresent: Designing structured visuals from scratch (arXiv:2501.00912). arXiv. https://doi.org/10.48550/arXiv.2501.00912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Hu, H., Dang, C., Liu, Y., Kang, H., He, C., &amp; Li, W. (2026). PosterMELD: Multi-agent paper-to-poster generation for controllable design diversity with editable print-ready outputs (arXiv:2608.02218). arXiv. https://doi.org/10.48550/arXiv.2608.02218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Huang, Z., Liu, X., Hu, T., Zhang, K., &amp; Liu, Y. (2025). PPTBench: Towards holistic evaluation of large language models for PowerPoint layout and design understanding (arXiv:2512.02624). arXiv. https://doi.org/10.48550/arXiv.2512.02624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Jang, D., Heisler, M. L., Xing, L., Li, Y., Wang, E., Xiong, Y., Zhang, Y., &amp; Fan, Z. (2026). DECKBench: Benchmarking multi-agent frameworks for academic slide generation and editing (arXiv:2602.13318). arXiv. https://doi.org/10.48550/arXiv.2602.13318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Jung, K., Cho, H., Yun, J., Yang, S., Jang, J., &amp; Choo, J. (2025). Talk to your slides: High-efficiency slide editing via language-driven structured data manipulation (arXiv:2505.11604). arXiv. https://doi.org/10.48550/arXiv.2505.11604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Liang, X., Zhang, Z., Zhang, X., Su, H., Xu, Y., Sun, S., &amp; You, C. (2025). SlideGen: Collaborative multimodal agents for scientific slide generation (arXiv:2512.04529). arXiv. https://doi.org/10.48550/arXiv.2512.04529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Ofengenden, M., Man, Y., Pang, Z., Gui, L.-Y., &amp; Wang, Y.-X. (2025). PPTArena: A benchmark for PowerPoint editing (arXiv:2512.03042). arXiv. https://doi.org/10.48550/arXiv.2512.03042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Ozden, T. C., VS, S., Horoz, F., Kara, O., Kim, J., &amp; Rehg, J. M. (2026a). Narrative-driven paper-to-slide generation via ArcDeck (arXiv:2604.11969). arXiv. https://doi.org/10.48550/arXiv.2604.11969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Ozden, T. C., VS, S., Horoz, F., Kara, O., Hakkani-Tür, D., Kim, J., &amp; Rehg, J. M. (2026b). ConvDeck: Conversational paper-to-slide generation via stage-specific user feedback (arXiv:2609.00226). arXiv. https://doi.org/10.48550/arXiv.2609.00226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Pang, W., Lin, K. Q., Jian, X., He, X., &amp; Torr, P. (2025). Paper2Poster: Towards multimodal poster automation from scientific papers (arXiv:2505.21497). arXiv. https://doi.org/10.48550/arXiv.2505.21497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Sun, E., Hou, Y., Wang, D., Zhang, Y., &amp; Wang, N. X. R. (2021). D2S: Document-to-slide generation via query-based text summarization (arXiv:2105.03664). arXiv. https://doi.org/10.48550/arXiv.2105.03664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Tian, M., Zeng, Z., Yang, Y., Gao, X., Li, Y., Huang, Z., Wang, X., Lv, C., Cheng, M., Liu, B., Qiu, K., Dai, Q., Chen, D., Dong, Y., Zheng, X., Li, J., &amp; Luo, C. (2026). ReDeck: Step-level render-grounded refinement for document-to-slide generation (arXiv:2609.00194). arXiv. https://doi.org/10.48550/arXiv.2609.00194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Vats, V., Sharma, K., &amp; Wang, Y. (2026). SlideLab: Audience-centered scientific slide generation and evaluation (arXiv:2609.30294). arXiv. https://doi.org/10.48550/arXiv.2609.30294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Xie, E., Waterfield, D., Kennedy, M., &amp; Zhang, A. (2025). SlideBot: A multi-agent framework for generating informative, reliable, multi-modal presentations (arXiv:2511.09804). arXiv. https://doi.org/10.48550/arXiv.2511.09804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Yang, M., Zhang, Z., Li, J., Liu, H., Cai, Y., &amp; Zheng, W. (2026). DeepSlide: From artifacts to presentation delivery (arXiv:2605.15202). arXiv. https://doi.org/10.48550/arXiv.2605.15202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Zhang, Z. J., Chen, R., Zhong, M., &amp; Wobbrock, J. O. (2025). SlideAudit: A dataset and taxonomy for automated evaluation of presentation slides (arXiv:2508.03630). arXiv. https://doi.org/10.48550/arXiv.2508.03630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Zheng, H., Guan, X., Kong, H., Zheng, J., Zhou, W., Lin, H., Lu, Y., He, B., Han, X., &amp; Sun, L. (2025). PPTAgent: Generating and evaluating presentations beyond text-to-slides (arXiv:2501.03936). arXiv. https://doi.org/10.48550/arXiv.2501.03936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Zheng, H., Mo, G., Yan, X., Yuan, Q., Zhang, W., Chen, X., Lu, Y., Lin, H., Han, X., &amp; Sun, L. (2026a). DeepPresenter: Environment-grounded reflection for agentic presentation generation (arXiv:2602.22839). arXiv. https://doi.org/10.48550/arXiv.2602.22839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60">
                <a:solidFill>
                  <a:srgbClr val="1E3652"/>
                </a:solidFill>
                <a:latin typeface="PingFang HK"/>
              </a:rPr>
              <a:t>Zheng, H., Wang, F., Xiong, T., Yu, Y., Qian, S., Yu, H., Schwing, A., Nahrstedt, K., &amp; Wu, M. (2026b). SLIDEFORGE: An LLM agent for controllable editing of slides as structured artifacts (arXiv:2609.03109). arXiv. https://doi.org/10.48550/arXiv.2609.03109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99A8"/>
                </a:solidFill>
                <a:latin typeface="PingFang HK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