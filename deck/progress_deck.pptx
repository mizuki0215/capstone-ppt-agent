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 i="0">
                <a:solidFill>
                  <a:srgbClr val="C08A2E"/>
                </a:solidFill>
                <a:latin typeface="Helvetica Neue"/>
              </a:rPr>
              <a:t>DSAI4901  ·  CAPSTONE PROGRESS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9966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600" b="1" i="0">
                <a:solidFill>
                  <a:srgbClr val="10233A"/>
                </a:solidFill>
                <a:latin typeface="Helvetica Neue"/>
              </a:rPr>
              <a:t>From generating
to verifying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5A6B7C"/>
                </a:solidFill>
                <a:latin typeface="Helvetica Neue"/>
              </a:rPr>
              <a:t>A reference-free measure of deck usability, used as a control signal in paper-to-slide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892040"/>
            <a:ext cx="3108960" cy="1828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CHAN Yee Tung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5A6B7C"/>
                </a:solidFill>
                <a:latin typeface="Helvetica Neue"/>
              </a:rPr>
              <a:t>Supervisor: Dr. Jibin Wu   ·   29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WHERE THE FIELD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Two families, one missing instrument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64208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9184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Helvetica Neue"/>
                        </a:rPr>
                        <a:t>What it provides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Helvetica Neue"/>
                        </a:rPr>
                        <a:t>What it leaves open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Helvetica Neue"/>
                        </a:rPr>
                        <a:t>PPTAgent, SlideGen,
SlideLab, ArcDeck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Helvetica Neue"/>
                        </a:rPr>
                        <a:t>Strong generators;
narrative planning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Helvetica Neue"/>
                        </a:rPr>
                        <a:t>Whether any given deck is usable;
local, mechanical failures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Helvetica Neue"/>
                        </a:rPr>
                        <a:t>ReDeck, PPTPilot,
SLIDEFORGE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Helvetica Neue"/>
                        </a:rPr>
                        <a:t>Repair loops that read
rendered feedback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Helvetica Neue"/>
                        </a:rPr>
                        <a:t>Which class of defect responded
to repair, and by how much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Helvetica Neue"/>
                        </a:rPr>
                        <a:t>SlideAudit, DECKBench,
PresentBench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Helvetica Neue"/>
                        </a:rPr>
                        <a:t>Flaw taxonomy; deck-level
scoring against a reference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Helvetica Neue"/>
                        </a:rPr>
                        <a:t>Arrives after generation; needs a
target deck or labels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931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500" b="0" i="0">
                <a:solidFill>
                  <a:srgbClr val="10233A"/>
                </a:solidFill>
                <a:latin typeface="Helvetica Neue"/>
              </a:rPr>
              <a:t>Read together, the field is good at producing decks and good at scoring them afterwards, but it has not closed the loop in between.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50" b="0" i="0">
                <a:solidFill>
                  <a:srgbClr val="5A6B7C"/>
                </a:solidFill>
                <a:latin typeface="Helvetica Neue"/>
              </a:rPr>
              <a:t>The instrument arrives too late to steer generation, and it is not decomposable when it does arrive.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074920"/>
            <a:ext cx="10881360" cy="9601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5074920"/>
            <a:ext cx="64008" cy="9601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10233A"/>
                </a:solidFill>
                <a:latin typeface="Helvetica Neue"/>
              </a:rPr>
              <a:t>The gap: no instrument runs inside the loop, and none of them decomposes the score. A deck-level number cannot tell you which defect to fix.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WHY THIS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Three things the literature does 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19072"/>
            <a:ext cx="3401568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3401568" cy="54864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01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Attribution is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450592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ReDeck and PPTPilot both repair, but a deck-level gain of ten points does not say which defect class responded.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1719072"/>
            <a:ext cx="3401568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1737360"/>
            <a:ext cx="3401568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901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Measurement is post-hoc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50592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SlideAudit and DECKBench score finished decks. A score that arrives after generation cannot steer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719072"/>
            <a:ext cx="3401568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737360"/>
            <a:ext cx="3401568" cy="5486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01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 i="0">
                <a:solidFill>
                  <a:srgbClr val="10233A"/>
                </a:solidFill>
                <a:latin typeface="Helvetica Neue"/>
              </a:rPr>
              <a:t>Instruments need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50592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A target deck, or human labels on images. Neither can run on an arbitrary .pptx at generation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 i="0">
                <a:solidFill>
                  <a:srgbClr val="10233A"/>
                </a:solidFill>
                <a:latin typeface="Helvetica Neue"/>
              </a:rPr>
              <a:t>So the contribution is not another generator, and not a new taxonomy.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607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250" b="1">
                <a:solidFill>
                  <a:srgbClr val="10233A"/>
                </a:solidFill>
                <a:latin typeface="Helvetica Neue"/>
              </a:rPr>
              <a:t>It is a measurement layer </a:t>
            </a:r>
            <a:r>
              <a:rPr sz="1250">
                <a:solidFill>
                  <a:srgbClr val="10233A"/>
                </a:solidFill>
                <a:latin typeface="Helvetica Neue"/>
              </a:rPr>
              <a:t>that is reference-free, computed on the object model, and cheap enough to run inside the loop.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250" b="1">
                <a:solidFill>
                  <a:srgbClr val="10233A"/>
                </a:solidFill>
                <a:latin typeface="Helvetica Neue"/>
              </a:rPr>
              <a:t>And a study of what that measurement is worth</a:t>
            </a:r>
            <a:r>
              <a:rPr sz="1250">
                <a:solidFill>
                  <a:srgbClr val="10233A"/>
                </a:solidFill>
                <a:latin typeface="Helvetica Neue"/>
              </a:rPr>
              <a:t> - per violation class, against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One gap, two 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10881360" cy="1417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64008" cy="14173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847088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 i="1">
                <a:solidFill>
                  <a:srgbClr val="10233A"/>
                </a:solidFill>
                <a:latin typeface="Helvetica Neue"/>
              </a:rPr>
              <a:t>“Slide quality can now be measured after the fact. What these instruments cannot answer is whether measurement can drive generation.”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3814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340156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1E3652"/>
                </a:solidFill>
                <a:latin typeface="Helvetica Neue"/>
              </a:rPr>
              <a:t>Can a small set of mechanical gates replace a reference deck or human labels, and still rank decks in the order a person would?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9826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36168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1E3652"/>
                </a:solidFill>
                <a:latin typeface="Helvetica Neue"/>
              </a:rPr>
              <a:t>What does using that signal inside the loop actually add - per violation class, and at what cost?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 i="1">
                <a:solidFill>
                  <a:srgbClr val="5A6B7C"/>
                </a:solidFill>
                <a:latin typeface="Helvetica Neue"/>
              </a:rPr>
              <a:t>Both are answered by the same artefact: a deck, a score, and a repair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Seven parts, four of which call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1307592" cy="1024128"/>
          </a:xfrm>
          <a:prstGeom prst="rect">
            <a:avLst/>
          </a:prstGeom>
          <a:solidFill>
            <a:srgbClr val="ECF1F5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PDF -&gt; sections,
figures, captions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99132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8004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1156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1156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assertions with
an evidence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9836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Helvetica Neue"/>
              </a:rPr>
              <a:t>AI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48456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7328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requirement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talk length and
audience -&gt;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Helvetica Neue"/>
              </a:rPr>
              <a:t>AI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97780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652" y="1755648"/>
            <a:ext cx="1307592" cy="1024128"/>
          </a:xfrm>
          <a:prstGeom prst="rect">
            <a:avLst/>
          </a:prstGeom>
          <a:solidFill>
            <a:srgbClr val="ECF1F5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9804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select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9804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keep or drop,
per claim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47104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65976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outline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re-order into
an argument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Helvetica Neue"/>
              </a:rPr>
              <a:t>AI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96428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5300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8452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bullets+notes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8452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compress, then
write the talk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7132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Helvetica Neue"/>
              </a:rPr>
              <a:t>AI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45752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64624" y="1755648"/>
            <a:ext cx="1307592" cy="1024128"/>
          </a:xfrm>
          <a:prstGeom prst="rect">
            <a:avLst/>
          </a:prstGeom>
          <a:solidFill>
            <a:srgbClr val="ECF1F5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render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Helvetica Neue"/>
              </a:rPr>
              <a:t>native, editable
.pptx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Helvetica Neue"/>
              </a:rPr>
              <a:t>G1 containment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58568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7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Helvetica Neue"/>
              </a:rPr>
              <a:t>G2 overlap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48456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4176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Helvetica Neue"/>
              </a:rPr>
              <a:t>G3 font size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38344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4064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Helvetica Neue"/>
              </a:rPr>
              <a:t>G4 contrast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28231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1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Helvetica Neue"/>
              </a:rPr>
              <a:t>G5 text fit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19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Helvetica Neue"/>
              </a:rPr>
              <a:t>G6 density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53728" y="3584448"/>
            <a:ext cx="914400" cy="640080"/>
          </a:xfrm>
          <a:prstGeom prst="rect">
            <a:avLst/>
          </a:prstGeom>
          <a:solidFill>
            <a:srgbClr val="ECF1F5"/>
          </a:solidFill>
          <a:ln w="1143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9448" y="37947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 i="0">
                <a:solidFill>
                  <a:srgbClr val="10233A"/>
                </a:solidFill>
                <a:latin typeface="Helvetica Neue"/>
              </a:rPr>
              <a:t>SRR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14432" y="3584448"/>
            <a:ext cx="960120" cy="640080"/>
          </a:xfrm>
          <a:prstGeom prst="rect">
            <a:avLst/>
          </a:prstGeom>
          <a:solidFill>
            <a:srgbClr val="ECF1F5"/>
          </a:solidFill>
          <a:ln w="1143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60152" y="379476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10233A"/>
                </a:solidFill>
                <a:latin typeface="Helvetica Neue"/>
              </a:rPr>
              <a:t>ready?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14813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5A6B7C"/>
                </a:solidFill>
                <a:latin typeface="Helvetica Neue"/>
              </a:rPr>
              <a:t>A  generation - text layer, frozen once written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32186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5A6B7C"/>
                </a:solidFill>
                <a:latin typeface="Helvetica Neue"/>
              </a:rPr>
              <a:t>B  measurement - six gates on the .pptx object model, no rendering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4526280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39" y="4654296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1  measure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1E3652"/>
                </a:solidFill>
                <a:latin typeface="Helvetica Neue"/>
              </a:rPr>
              <a:t>worst violation first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34840" y="4526280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4654296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2  repair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1E3652"/>
                </a:solidFill>
                <a:latin typeface="Helvetica Neue"/>
              </a:rPr>
              <a:t>cheapest reversible action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4526280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4654296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3  re-measure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1E3652"/>
                </a:solidFill>
                <a:latin typeface="Helvetica Neue"/>
              </a:rPr>
              <a:t>gain per second and per dollar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5376672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 i="0">
                <a:solidFill>
                  <a:srgbClr val="1E3652"/>
                </a:solidFill>
                <a:latin typeface="Helvetica Neue"/>
              </a:rPr>
              <a:t>Only the text layer is allowed to change the words. Repair may move, resize or recolour; it may never add content or change a number. That is what keeps “the loop improved the deck” from being confounded with “the loop rewrote the deck”.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PART 1  ·  READING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Captions are re-rendered, not extracted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5760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200" b="1">
                <a:solidFill>
                  <a:srgbClr val="10233A"/>
                </a:solidFill>
                <a:latin typeface="Helvetica Neue"/>
              </a:rPr>
              <a:t>Headings </a:t>
            </a:r>
            <a:r>
              <a:rPr sz="1200">
                <a:solidFill>
                  <a:srgbClr val="10233A"/>
                </a:solidFill>
                <a:latin typeface="Helvetica Neue"/>
              </a:rPr>
              <a:t>are found by font size and weight, not by a fixed list.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200" b="1">
                <a:solidFill>
                  <a:srgbClr val="10233A"/>
                </a:solidFill>
                <a:latin typeface="Helvetica Neue"/>
              </a:rPr>
              <a:t>Figures </a:t>
            </a:r>
            <a:r>
              <a:rPr sz="1200">
                <a:solidFill>
                  <a:srgbClr val="10233A"/>
                </a:solidFill>
                <a:latin typeface="Helvetica Neue"/>
              </a:rPr>
              <a:t>are vector art in this literature: pulling embedded images returns 32x32 icons. So each caption's region is clipped and rasterised at 200 dpi.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200" b="1">
                <a:solidFill>
                  <a:srgbClr val="10233A"/>
                </a:solidFill>
                <a:latin typeface="Helvetica Neue"/>
              </a:rPr>
              <a:t>The band stops at the nearest paragraph</a:t>
            </a:r>
            <a:r>
              <a:rPr sz="1200">
                <a:solidFill>
                  <a:srgbClr val="10233A"/>
                </a:solidFill>
                <a:latin typeface="Helvetica Neue"/>
              </a:rPr>
              <a:t>, not at any text block - a figure carries its own labels, and stopping at those cut the figure in half.</a:t>
            </a:r>
          </a:p>
        </p:txBody>
      </p:sp>
      <p:pic>
        <p:nvPicPr>
          <p:cNvPr id="9" name="Picture 8" descr="p02_01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4434840" cy="2236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3977639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 i="1">
                <a:solidFill>
                  <a:srgbClr val="5A6B7C"/>
                </a:solidFill>
                <a:latin typeface="Helvetica Neue"/>
              </a:rPr>
              <a:t>Figure 2 of PPTAgent, clipped from the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12 of 32 captions in this paper produced a usable crop. The failures are tables whose caption sits above the table, and figures that span both columns. Both are fixable; the rule that produced the 12 is already the one the evaluation will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PART 2  ·  DECIDING WHAT TO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Selection is a table, not a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108813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2651760"/>
                <a:gridCol w="21031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request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always kept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kept if room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dropped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5 min, general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results, conclusion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method (core only)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analysis, limitations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12 min, expert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results, conclusion, method,
motivation, background, analysis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related work, setup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-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246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 i="0">
                <a:solidFill>
                  <a:srgbClr val="10233A"/>
                </a:solidFill>
                <a:latin typeface="Helvetica Neue"/>
              </a:rPr>
              <a:t>Every kept or dropped claim carries the id of the rule that decided it: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370332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731520"/>
                <a:gridCol w="1188720"/>
                <a:gridCol w="2286000"/>
                <a:gridCol w="43891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claim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section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imp.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decision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rule id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why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c3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results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kept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hard:results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results are never dropped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c7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setup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dropped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table:12:setup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not kept in a 12-minute talk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c9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analysis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dropped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importance:cut2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importance 1 &lt; cutoff 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5440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5A6B7C"/>
                </a:solidFill>
                <a:latin typeface="Helvetica Neue"/>
              </a:rPr>
              <a:t>The model appears at two boundaries only: it converts a free-text request into that table, and it extracts claims. The keep/drop decision in between is a lookup, so a second person can re-run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PART 3  ·  MEASURING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Four of six gates exist; two are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681228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971800"/>
                <a:gridCol w="1051560"/>
                <a:gridCol w="10972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gate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rule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threshold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state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G1 containment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every shape inside the slide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0 pt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2F7D5D"/>
                          </a:solidFill>
                          <a:latin typeface="Helvetica Neue"/>
                        </a:rPr>
                        <a:t>built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G2 overlap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text intersection over the smaller box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&gt; 5 %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2F7D5D"/>
                          </a:solidFill>
                          <a:latin typeface="Helvetica Neue"/>
                        </a:rPr>
                        <a:t>built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G3 font size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body and title, by slide role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role min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B07A1E"/>
                          </a:solidFill>
                          <a:latin typeface="Helvetica Neue"/>
                        </a:rPr>
                        <a:t>built (global)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G6 density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characters and bullets, by role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role max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B07A1E"/>
                          </a:solidFill>
                          <a:latin typeface="Helvetica Neue"/>
                        </a:rPr>
                        <a:t>built (global)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G4 contrast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WCAG 2.2 AA, fill against background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4.5 : 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A83542"/>
                          </a:solidFill>
                          <a:latin typeface="Helvetica Neue"/>
                        </a:rPr>
                        <a:t>next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10233A"/>
                          </a:solidFill>
                          <a:latin typeface="Helvetica Neue"/>
                        </a:rPr>
                        <a:t>G5 text fit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rendered height over box height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60" b="0" i="0">
                          <a:solidFill>
                            <a:srgbClr val="1E3652"/>
                          </a:solidFill>
                          <a:latin typeface="Helvetica Neue"/>
                        </a:rPr>
                        <a:t>&lt;= 0.95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60" b="1" i="0">
                          <a:solidFill>
                            <a:srgbClr val="A83542"/>
                          </a:solidFill>
                          <a:latin typeface="Helvetica Neue"/>
                        </a:rPr>
                        <a:t>next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1691640"/>
            <a:ext cx="3520440" cy="17556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10512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 i="0">
                <a:solidFill>
                  <a:srgbClr val="10233A"/>
                </a:solidFill>
                <a:latin typeface="Helvetica Neue"/>
              </a:rPr>
              <a:t>SRR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0233A"/>
                </a:solidFill>
                <a:latin typeface="Helvetica Neue"/>
              </a:rPr>
              <a:t>SRR = Σ P / Σ J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840" b="0" i="0">
                <a:solidFill>
                  <a:srgbClr val="1E3652"/>
                </a:solidFill>
                <a:latin typeface="Helvetica Neue"/>
              </a:rPr>
              <a:t>J = checks that could be judged, P = those that passed. One weight per check; none is fitted.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3584448"/>
            <a:ext cx="352044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694176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Helvetica Neue"/>
              </a:rPr>
              <a:t>unknown is not n/a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19" b="0" i="0">
                <a:solidFill>
                  <a:srgbClr val="1E3652"/>
                </a:solidFill>
                <a:latin typeface="Helvetica Neue"/>
              </a:rPr>
              <a:t>n/a: does not apply - one text box, so no G2 pair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19" b="0" i="0">
                <a:solidFill>
                  <a:srgbClr val="1E3652"/>
                </a:solidFill>
                <a:latin typeface="Helvetica Neue"/>
              </a:rPr>
              <a:t>unknown: applies but cannot be computed - image background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19" b="0" i="0">
                <a:solidFill>
                  <a:srgbClr val="5A6B7C"/>
                </a:solidFill>
                <a:latin typeface="Helvetica Neue"/>
              </a:rPr>
              <a:t>both leave the denominator, both carry a reason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102352"/>
            <a:ext cx="10469880" cy="841248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5102352"/>
            <a:ext cx="64008" cy="84124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12080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0233A"/>
                </a:solidFill>
                <a:latin typeface="Helvetica Neue"/>
              </a:rPr>
              <a:t>deck-ready = no failure anywhere, and every gate judged at least once. A title slide does not need G6; the deck does.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Sixty-five things you could measure. Six are worth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356616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00" b="1" i="0">
                          <a:solidFill>
                            <a:srgbClr val="10233A"/>
                          </a:solidFill>
                          <a:latin typeface="Helvetica Neue"/>
                        </a:rPr>
                        <a:t>candidate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00" b="1" i="0">
                          <a:solidFill>
                            <a:srgbClr val="10233A"/>
                          </a:solidFill>
                          <a:latin typeface="Helvetica Neue"/>
                        </a:rPr>
                        <a:t>n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A  layout geometry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14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B  typography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15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C  colour and contrast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D  content and meaning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12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E  structure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8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F  rendering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  audience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C08A2E"/>
                          </a:solidFill>
                          <a:latin typeface="Helvetica Neue"/>
                        </a:rPr>
                        <a:t>65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00600" y="169164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 i="0">
                <a:solidFill>
                  <a:srgbClr val="10233A"/>
                </a:solidFill>
                <a:latin typeface="Helvetica Neue"/>
              </a:rPr>
              <a:t>Five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5740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-  decidable without a reference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-  deterministic: same file, same number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-  a violation is worse, not different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-  cheap enough to run in the loop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-  explainable: shape, value,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69164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 i="0">
                <a:solidFill>
                  <a:srgbClr val="10233A"/>
                </a:solidFill>
                <a:latin typeface="Helvetica Neue"/>
              </a:rPr>
              <a:t>What survives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09560" y="2057400"/>
          <a:ext cx="342900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00" b="1" i="0">
                          <a:solidFill>
                            <a:srgbClr val="10233A"/>
                          </a:solidFill>
                          <a:latin typeface="Helvetica Neue"/>
                        </a:rPr>
                        <a:t>gate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00" b="1" i="0">
                          <a:solidFill>
                            <a:srgbClr val="10233A"/>
                          </a:solidFill>
                          <a:latin typeface="Helvetica Neue"/>
                        </a:rPr>
                        <a:t>from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G1 containment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A1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G2 overlap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A2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G3 font size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B1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G4 contrast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C1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G5 text fit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B7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G6 density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B5+B6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68680" y="5074920"/>
            <a:ext cx="10881360" cy="105156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5074920"/>
            <a:ext cx="64008" cy="1051560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120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10233A"/>
                </a:solidFill>
                <a:latin typeface="Helvetica Neue"/>
              </a:rPr>
              <a:t>And what it cannot see: a bullet can be grammatical, the right length, the right size - and still nonsense. That is the boundary of a mechanical metric, and it belongs to the human study.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RESULTS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Every generated slide fails at least one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10</a:t>
            </a:r>
          </a:p>
        </p:txBody>
      </p:sp>
      <p:pic>
        <p:nvPicPr>
          <p:cNvPr id="8" name="Picture 7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6263640" cy="35232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57800"/>
            <a:ext cx="6263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 i="1">
                <a:solidFill>
                  <a:srgbClr val="5A6B7C"/>
                </a:solidFill>
                <a:latin typeface="Helvetica Neue"/>
              </a:rPr>
              <a:t>Slide 2 of the generated deck: figure placed, caption under it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1664208"/>
          <a:ext cx="4160519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143000"/>
                <a:gridCol w="11430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PPTAgent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DOC2PPT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slides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clean slides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SRR (slide-level)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0.00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0.00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violations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33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32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slides failing G3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9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9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Helvetica Neue"/>
                        </a:rPr>
                        <a:t>slides failing G6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8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Helvetica Neue"/>
                        </a:rPr>
                        <a:t>8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52360" y="4224528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00" b="0" i="0">
                <a:solidFill>
                  <a:srgbClr val="1E3652"/>
                </a:solidFill>
                <a:latin typeface="Helvetica Neue"/>
              </a:rPr>
              <a:t>This is the expected result, not a defect: the baseline generator ignores every gate. What matters is that the number is reproducible and the violations are named.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It runs end to end, and it fails honestly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11</a:t>
            </a:r>
          </a:p>
        </p:txBody>
      </p:sp>
      <p:pic>
        <p:nvPicPr>
          <p:cNvPr id="8" name="Picture 7" descr="console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7589520" cy="4827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455664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 i="1">
                <a:solidFill>
                  <a:srgbClr val="5A6B7C"/>
                </a:solidFill>
                <a:latin typeface="Helvetica Neue"/>
              </a:rPr>
              <a:t>Real terminal output; rows in the middle are elided.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73736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parse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8 sections, 24 captions, 11 figures clipped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578608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compose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8 slides, 90 seconds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419856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render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a 9-slide deck, native and editable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261104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detect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32 violations, SRR 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02352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Helvetica Neue"/>
              </a:rPr>
              <a:t>pytest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Helvetica Neue"/>
              </a:rPr>
              <a:t>76 cases green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What is built, what is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35204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3520440" cy="50292"/>
          </a:xfrm>
          <a:prstGeom prst="rect">
            <a:avLst/>
          </a:prstGeom>
          <a:solidFill>
            <a:srgbClr val="2F7D5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Built and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parse: sections, figures, captions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figure clipping, 12/32 on the sample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render: native .pptx with speaker notes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G1, G2, G3, G6 + SRR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selection rule table, 55 test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3712" y="1691640"/>
            <a:ext cx="35204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691640"/>
            <a:ext cx="3520440" cy="50292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87451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Partially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33172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G3 / G6 still use one global threshold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figure captions need a word-boundary trim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claims are still extracted by heuristic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91640"/>
            <a:ext cx="35204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691640"/>
            <a:ext cx="3520440" cy="50292"/>
          </a:xfrm>
          <a:prstGeom prst="rect">
            <a:avLst/>
          </a:prstGeom>
          <a:solidFill>
            <a:srgbClr val="5A6B7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87451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Not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G4 contrast, G5 text fit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repair actions and the loop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110-slide test set and its labels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Helvetica Neue"/>
              </a:rPr>
              <a:t>-  human decks, baselines, the 2x2 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 i="1">
                <a:solidFill>
                  <a:srgbClr val="5A6B7C"/>
                </a:solidFill>
                <a:latin typeface="Helvetica Neue"/>
              </a:rPr>
              <a:t>76 test cases pass. The deck above was produced by this pipeline end to 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The experiment, and the calendar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The design: a 2 x 2 factor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2011680"/>
          <a:ext cx="493776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00200"/>
                <a:gridCol w="16002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no inspection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inspection on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1" i="0">
                          <a:solidFill>
                            <a:srgbClr val="10233A"/>
                          </a:solidFill>
                          <a:latin typeface="Helvetica Neue"/>
                        </a:rPr>
                        <a:t>base model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Helvetica Neue"/>
                        </a:rPr>
                        <a:t>A1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Helvetica Neue"/>
                        </a:rPr>
                        <a:t>A2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1" i="0">
                          <a:solidFill>
                            <a:srgbClr val="10233A"/>
                          </a:solidFill>
                          <a:latin typeface="Helvetica Neue"/>
                        </a:rPr>
                        <a:t>fine-tuned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Helvetica Neue"/>
                        </a:rPr>
                        <a:t>A1'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Helvetica Neue"/>
                        </a:rPr>
                        <a:t>A2'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1546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A2 - A1 isolates what inspection adds. The fine-tuned row tests whether that gain survives a better generator.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0" i="1">
                <a:solidFill>
                  <a:srgbClr val="5A6B7C"/>
                </a:solidFill>
                <a:latin typeface="Helvetica Neue"/>
              </a:rPr>
              <a:t>The fine-tuned arm is conditional: it runs only if the main result is in and four weeks of buffer remain.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2011680"/>
          <a:ext cx="548640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74320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weeks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milestone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W1-2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scope and literature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proposal, 5 Nov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W3-7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rulebook, six gates, calibration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validity check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W8-11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repair actions, 110-slide test set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interim report, 7 Jan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W12-18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loop, ablation, 20-person study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preference correlation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Helvetica Neue"/>
                        </a:rPr>
                        <a:t>W19-23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report, demo, presentation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Helvetica Neue"/>
                        </a:rPr>
                        <a:t>final, 8 Apr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4617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00" b="0" i="0">
                <a:solidFill>
                  <a:srgbClr val="5A6B7C"/>
                </a:solidFill>
                <a:latin typeface="Helvetica Neue"/>
              </a:rPr>
              <a:t>Two validity checks run before the study: decks must rank human &gt; PPTAgent &gt; naive, and SRR must track preference. The correlation is pre-registered and reported whatever it shows.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Helvetica Neue"/>
              </a:rPr>
              <a:t>WHAT I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Helvetica Neue"/>
              </a:rPr>
              <a:t>Three decisions and one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Helvetica Neue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C08A2E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4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Human decks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Where can I get decks an author actually presented? They are the upper bound in the validity check, and I have none.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C08A2E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2608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Scope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Single-column English papers, 10-12 slides, 8 held-out papers - is that narrow enough to finish, or too narrow to generalise?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20624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C08A2E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6052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Helvetica Neue"/>
              </a:rPr>
              <a:t>Gate set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 i="0">
                <a:solidFill>
                  <a:srgbClr val="1E3652"/>
                </a:solidFill>
                <a:latin typeface="Helvetica Neue"/>
              </a:rPr>
              <a:t>Six mechanical gates, with density and font size swept rather than fitted. Is that defensible, or should one be dropped?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440680"/>
            <a:ext cx="10881360" cy="77724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5955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10233A"/>
                </a:solidFill>
                <a:latin typeface="Helvetica Neue"/>
              </a:rPr>
              <a:t>And one question I would like your view on: is a deterministic detector seen as a strength here, or as a gap in the AI content of the project?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