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10896" cy="6858000"/>
          </a:xfrm>
          <a:prstGeom prst="rect">
            <a:avLst/>
          </a:prstGeom>
          <a:solidFill>
            <a:srgbClr val="10233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10896" y="0"/>
            <a:ext cx="64008" cy="6858000"/>
          </a:xfrm>
          <a:prstGeom prst="rect">
            <a:avLst/>
          </a:prstGeom>
          <a:solidFill>
            <a:srgbClr val="C08A2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1234440"/>
            <a:ext cx="9875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100" b="1" i="0">
                <a:solidFill>
                  <a:srgbClr val="C08A2E"/>
                </a:solidFill>
                <a:latin typeface="Helvetica Neue"/>
              </a:rPr>
              <a:t>DSAI4901  ·  CAPSTONE PROGRESS BRIEFING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1783080"/>
            <a:ext cx="996696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</a:pPr>
            <a:r>
              <a:rPr sz="4600" b="1" i="0">
                <a:solidFill>
                  <a:srgbClr val="10233A"/>
                </a:solidFill>
                <a:latin typeface="Helvetica Neue"/>
              </a:rPr>
              <a:t>From generating
to verifying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3794760"/>
            <a:ext cx="95097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</a:pPr>
            <a:r>
              <a:rPr sz="1450" b="0" i="0">
                <a:solidFill>
                  <a:srgbClr val="5A6B7C"/>
                </a:solidFill>
                <a:latin typeface="Helvetica Neue"/>
              </a:rPr>
              <a:t>A reference-free measure of deck usability, used as a control signal in paper-to-slide generation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1005840" y="4892040"/>
            <a:ext cx="3108960" cy="18288"/>
          </a:xfrm>
          <a:prstGeom prst="rect">
            <a:avLst/>
          </a:prstGeom>
          <a:solidFill>
            <a:srgbClr val="C08A2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5074920"/>
            <a:ext cx="95097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250" b="1" i="0">
                <a:solidFill>
                  <a:srgbClr val="10233A"/>
                </a:solidFill>
                <a:latin typeface="Helvetica Neue"/>
              </a:rPr>
              <a:t>CHAN Yee Tung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100" b="0" i="0">
                <a:solidFill>
                  <a:srgbClr val="5A6B7C"/>
                </a:solidFill>
                <a:latin typeface="Helvetica Neue"/>
              </a:rPr>
              <a:t>Supervisor: Dr. Jibin Wu   ·   29 October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37744" cy="6858000"/>
          </a:xfrm>
          <a:prstGeom prst="rect">
            <a:avLst/>
          </a:prstGeom>
          <a:solidFill>
            <a:srgbClr val="10233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37744" y="0"/>
            <a:ext cx="45720" cy="6858000"/>
          </a:xfrm>
          <a:prstGeom prst="rect">
            <a:avLst/>
          </a:prstGeom>
          <a:solidFill>
            <a:srgbClr val="C08A2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384048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950" b="1" i="0">
                <a:solidFill>
                  <a:srgbClr val="C08A2E"/>
                </a:solidFill>
                <a:latin typeface="Helvetica Neue"/>
              </a:rPr>
              <a:t>WHERE THE FIELD STANDS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640080"/>
            <a:ext cx="1088136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2500" b="1" i="0">
                <a:solidFill>
                  <a:srgbClr val="10233A"/>
                </a:solidFill>
                <a:latin typeface="Helvetica Neue"/>
              </a:rPr>
              <a:t>Two families, one missing instrument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868680" y="1389888"/>
            <a:ext cx="10881360" cy="12801"/>
          </a:xfrm>
          <a:prstGeom prst="rect">
            <a:avLst/>
          </a:prstGeom>
          <a:solidFill>
            <a:srgbClr val="DDE2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55680" y="635508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</a:pPr>
            <a:r>
              <a:rPr sz="900" b="0" i="0">
                <a:solidFill>
                  <a:srgbClr val="8A99A8"/>
                </a:solidFill>
                <a:latin typeface="Helvetica Neue"/>
              </a:rPr>
              <a:t>02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868680" y="1664208"/>
          <a:ext cx="10881360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3291840"/>
                <a:gridCol w="4389120"/>
              </a:tblGrid>
              <a:tr h="329184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</a:pPr>
                      <a:r>
                        <a:rPr sz="1050" b="1" i="0">
                          <a:solidFill>
                            <a:srgbClr val="10233A"/>
                          </a:solidFill>
                          <a:latin typeface="Helvetica Neue"/>
                        </a:rPr>
                        <a:t>Work</a:t>
                      </a:r>
                    </a:p>
                  </a:txBody>
                  <a:tcPr marL="73152" marT="36576" marB="36576">
                    <a:solidFill>
                      <a:srgbClr val="ECF1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</a:pPr>
                      <a:r>
                        <a:rPr sz="1050" b="1" i="0">
                          <a:solidFill>
                            <a:srgbClr val="10233A"/>
                          </a:solidFill>
                          <a:latin typeface="Helvetica Neue"/>
                        </a:rPr>
                        <a:t>What it provides</a:t>
                      </a:r>
                    </a:p>
                  </a:txBody>
                  <a:tcPr marL="73152" marT="36576" marB="36576">
                    <a:solidFill>
                      <a:srgbClr val="ECF1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</a:pPr>
                      <a:r>
                        <a:rPr sz="1050" b="1" i="0">
                          <a:solidFill>
                            <a:srgbClr val="10233A"/>
                          </a:solidFill>
                          <a:latin typeface="Helvetica Neue"/>
                        </a:rPr>
                        <a:t>What it leaves open</a:t>
                      </a:r>
                    </a:p>
                  </a:txBody>
                  <a:tcPr marL="73152" marT="36576" marB="36576">
                    <a:solidFill>
                      <a:srgbClr val="ECF1F5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1050" b="1" i="0">
                          <a:solidFill>
                            <a:srgbClr val="10233A"/>
                          </a:solidFill>
                          <a:latin typeface="Helvetica Neue"/>
                        </a:rPr>
                        <a:t>PPTAgent, SlideGen,
SlideLab, ArcDeck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1050" b="0" i="0">
                          <a:solidFill>
                            <a:srgbClr val="1E3652"/>
                          </a:solidFill>
                          <a:latin typeface="Helvetica Neue"/>
                        </a:rPr>
                        <a:t>Strong generators;
narrative planning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1050" b="0" i="0">
                          <a:solidFill>
                            <a:srgbClr val="1E3652"/>
                          </a:solidFill>
                          <a:latin typeface="Helvetica Neue"/>
                        </a:rPr>
                        <a:t>Whether any given deck is usable;
local, mechanical failures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1050" b="1" i="0">
                          <a:solidFill>
                            <a:srgbClr val="10233A"/>
                          </a:solidFill>
                          <a:latin typeface="Helvetica Neue"/>
                        </a:rPr>
                        <a:t>ReDeck, PPTPilot,
SLIDEFORGE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1050" b="0" i="0">
                          <a:solidFill>
                            <a:srgbClr val="1E3652"/>
                          </a:solidFill>
                          <a:latin typeface="Helvetica Neue"/>
                        </a:rPr>
                        <a:t>Repair loops that read
rendered feedback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1050" b="0" i="0">
                          <a:solidFill>
                            <a:srgbClr val="1E3652"/>
                          </a:solidFill>
                          <a:latin typeface="Helvetica Neue"/>
                        </a:rPr>
                        <a:t>Which class of defect responded
to repair, and by how much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1050" b="1" i="0">
                          <a:solidFill>
                            <a:srgbClr val="10233A"/>
                          </a:solidFill>
                          <a:latin typeface="Helvetica Neue"/>
                        </a:rPr>
                        <a:t>SlideAudit, DECKBench,
PresentBench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1050" b="0" i="0">
                          <a:solidFill>
                            <a:srgbClr val="1E3652"/>
                          </a:solidFill>
                          <a:latin typeface="Helvetica Neue"/>
                        </a:rPr>
                        <a:t>Flaw taxonomy; deck-level
scoring against a reference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1050" b="0" i="0">
                          <a:solidFill>
                            <a:srgbClr val="1E3652"/>
                          </a:solidFill>
                          <a:latin typeface="Helvetica Neue"/>
                        </a:rPr>
                        <a:t>Arrives after generation; needs a
target deck or labels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868680" y="3931920"/>
            <a:ext cx="1060704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</a:pPr>
            <a:r>
              <a:rPr sz="1500" b="0" i="0">
                <a:solidFill>
                  <a:srgbClr val="10233A"/>
                </a:solidFill>
                <a:latin typeface="Helvetica Neue"/>
              </a:rPr>
              <a:t>Read together, the field is good at producing decks and good at scoring them afterwards, but it has not closed the loop in between.</a:t>
            </a:r>
          </a:p>
          <a:p>
            <a:pPr algn="l">
              <a:lnSpc>
                <a:spcPct val="130000"/>
              </a:lnSpc>
              <a:spcBef>
                <a:spcPts val="800"/>
              </a:spcBef>
            </a:pPr>
            <a:r>
              <a:rPr sz="1250" b="0" i="0">
                <a:solidFill>
                  <a:srgbClr val="5A6B7C"/>
                </a:solidFill>
                <a:latin typeface="Helvetica Neue"/>
              </a:rPr>
              <a:t>The instrument arrives too late to steer generation, and it is not decomposable when it does arrive.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68680" y="5074920"/>
            <a:ext cx="10881360" cy="960120"/>
          </a:xfrm>
          <a:prstGeom prst="rect">
            <a:avLst/>
          </a:prstGeom>
          <a:solidFill>
            <a:srgbClr val="ECF1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68680" y="5074920"/>
            <a:ext cx="64008" cy="960120"/>
          </a:xfrm>
          <a:prstGeom prst="rect">
            <a:avLst/>
          </a:prstGeom>
          <a:solidFill>
            <a:srgbClr val="C08A2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70432" y="5230368"/>
            <a:ext cx="103327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</a:pPr>
            <a:r>
              <a:rPr sz="1250" b="0" i="0">
                <a:solidFill>
                  <a:srgbClr val="10233A"/>
                </a:solidFill>
                <a:latin typeface="Helvetica Neue"/>
              </a:rPr>
              <a:t>The gap: no instrument runs inside the loop, and none of them decomposes the score. A deck-level number cannot tell you which defect to fix.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37744" cy="6858000"/>
          </a:xfrm>
          <a:prstGeom prst="rect">
            <a:avLst/>
          </a:prstGeom>
          <a:solidFill>
            <a:srgbClr val="10233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37744" y="0"/>
            <a:ext cx="45720" cy="6858000"/>
          </a:xfrm>
          <a:prstGeom prst="rect">
            <a:avLst/>
          </a:prstGeom>
          <a:solidFill>
            <a:srgbClr val="C08A2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384048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950" b="1" i="0">
                <a:solidFill>
                  <a:srgbClr val="C08A2E"/>
                </a:solidFill>
                <a:latin typeface="Helvetica Neue"/>
              </a:rPr>
              <a:t>WHY THIS DIRECTION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640080"/>
            <a:ext cx="1088136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2500" b="1" i="0">
                <a:solidFill>
                  <a:srgbClr val="10233A"/>
                </a:solidFill>
                <a:latin typeface="Helvetica Neue"/>
              </a:rPr>
              <a:t>Three things the literature does not do</a:t>
            </a:r>
          </a:p>
        </p:txBody>
      </p:sp>
      <p:sp>
        <p:nvSpPr>
          <p:cNvPr id="6" name="Rectangle 5"/>
          <p:cNvSpPr/>
          <p:nvPr/>
        </p:nvSpPr>
        <p:spPr>
          <a:xfrm>
            <a:off x="868680" y="1389888"/>
            <a:ext cx="10881360" cy="12801"/>
          </a:xfrm>
          <a:prstGeom prst="rect">
            <a:avLst/>
          </a:prstGeom>
          <a:solidFill>
            <a:srgbClr val="DDE2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55680" y="635508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</a:pPr>
            <a:r>
              <a:rPr sz="900" b="0" i="0">
                <a:solidFill>
                  <a:srgbClr val="8A99A8"/>
                </a:solidFill>
                <a:latin typeface="Helvetica Neue"/>
              </a:rPr>
              <a:t>03</a:t>
            </a:r>
          </a:p>
        </p:txBody>
      </p:sp>
      <p:sp>
        <p:nvSpPr>
          <p:cNvPr id="8" name="Rectangle 7"/>
          <p:cNvSpPr/>
          <p:nvPr/>
        </p:nvSpPr>
        <p:spPr>
          <a:xfrm>
            <a:off x="868680" y="1719072"/>
            <a:ext cx="3401568" cy="196596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68680" y="1737360"/>
            <a:ext cx="3401568" cy="54864"/>
          </a:xfrm>
          <a:prstGeom prst="rect">
            <a:avLst/>
          </a:prstGeom>
          <a:solidFill>
            <a:srgbClr val="B07A1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24712" y="1901952"/>
            <a:ext cx="2926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350" b="1" i="0">
                <a:solidFill>
                  <a:srgbClr val="10233A"/>
                </a:solidFill>
                <a:latin typeface="Helvetica Neue"/>
              </a:rPr>
              <a:t>Attribution is missing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4712" y="2450592"/>
            <a:ext cx="292608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</a:pPr>
            <a:r>
              <a:rPr sz="1050" b="0" i="0">
                <a:solidFill>
                  <a:srgbClr val="1E3652"/>
                </a:solidFill>
                <a:latin typeface="Helvetica Neue"/>
              </a:rPr>
              <a:t>ReDeck and PPTPilot both repair, but a deck-level gain of ten points does not say which defect class responded.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89704" y="1719072"/>
            <a:ext cx="3401568" cy="196596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489704" y="1737360"/>
            <a:ext cx="3401568" cy="54864"/>
          </a:xfrm>
          <a:prstGeom prst="rect">
            <a:avLst/>
          </a:prstGeom>
          <a:solidFill>
            <a:srgbClr val="2E6F9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745736" y="1901952"/>
            <a:ext cx="2926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350" b="1" i="0">
                <a:solidFill>
                  <a:srgbClr val="10233A"/>
                </a:solidFill>
                <a:latin typeface="Helvetica Neue"/>
              </a:rPr>
              <a:t>Measurement is post-hoc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45736" y="2450592"/>
            <a:ext cx="292608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</a:pPr>
            <a:r>
              <a:rPr sz="1050" b="0" i="0">
                <a:solidFill>
                  <a:srgbClr val="1E3652"/>
                </a:solidFill>
                <a:latin typeface="Helvetica Neue"/>
              </a:rPr>
              <a:t>SlideAudit and DECKBench score finished decks. A score that arrives after generation cannot steer it.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110728" y="1719072"/>
            <a:ext cx="3401568" cy="196596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10728" y="1737360"/>
            <a:ext cx="3401568" cy="54864"/>
          </a:xfrm>
          <a:prstGeom prst="rect">
            <a:avLst/>
          </a:prstGeom>
          <a:solidFill>
            <a:srgbClr val="A83542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66760" y="1901952"/>
            <a:ext cx="2926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350" b="1" i="0">
                <a:solidFill>
                  <a:srgbClr val="10233A"/>
                </a:solidFill>
                <a:latin typeface="Helvetica Neue"/>
              </a:rPr>
              <a:t>Instruments need references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66760" y="2450592"/>
            <a:ext cx="292608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</a:pPr>
            <a:r>
              <a:rPr sz="1050" b="0" i="0">
                <a:solidFill>
                  <a:srgbClr val="1E3652"/>
                </a:solidFill>
                <a:latin typeface="Helvetica Neue"/>
              </a:rPr>
              <a:t>A target deck, or human labels on images. Neither can run on an arbitrary .pptx at generation time.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" y="40690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500" b="1" i="0">
                <a:solidFill>
                  <a:srgbClr val="10233A"/>
                </a:solidFill>
                <a:latin typeface="Helvetica Neue"/>
              </a:rPr>
              <a:t>So the contribution is not another generator, and not a new taxonomy.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" y="4663440"/>
            <a:ext cx="10607040" cy="3840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2000"/>
              </a:lnSpc>
              <a:spcBef>
                <a:spcPts val="0"/>
              </a:spcBef>
            </a:pPr>
            <a:r>
              <a:rPr sz="1250" b="1">
                <a:solidFill>
                  <a:srgbClr val="C08A2E"/>
                </a:solidFill>
                <a:latin typeface="Helvetica Neue"/>
              </a:rPr>
              <a:t>-  </a:t>
            </a:r>
            <a:r>
              <a:rPr sz="1250" b="1">
                <a:solidFill>
                  <a:srgbClr val="10233A"/>
                </a:solidFill>
                <a:latin typeface="Helvetica Neue"/>
              </a:rPr>
              <a:t>It is a measurement layer </a:t>
            </a:r>
            <a:r>
              <a:rPr sz="1250">
                <a:solidFill>
                  <a:srgbClr val="10233A"/>
                </a:solidFill>
                <a:latin typeface="Helvetica Neue"/>
              </a:rPr>
              <a:t>that is reference-free, computed on the object model, and cheap enough to run inside the loop.</a:t>
            </a:r>
          </a:p>
          <a:p>
            <a:pPr>
              <a:lnSpc>
                <a:spcPct val="122000"/>
              </a:lnSpc>
              <a:spcBef>
                <a:spcPts val="600"/>
              </a:spcBef>
            </a:pPr>
            <a:r>
              <a:rPr sz="1250" b="1">
                <a:solidFill>
                  <a:srgbClr val="C08A2E"/>
                </a:solidFill>
                <a:latin typeface="Helvetica Neue"/>
              </a:rPr>
              <a:t>-  </a:t>
            </a:r>
            <a:r>
              <a:rPr sz="1250" b="1">
                <a:solidFill>
                  <a:srgbClr val="10233A"/>
                </a:solidFill>
                <a:latin typeface="Helvetica Neue"/>
              </a:rPr>
              <a:t>And a study of what that measurement is worth</a:t>
            </a:r>
            <a:r>
              <a:rPr sz="1250">
                <a:solidFill>
                  <a:srgbClr val="10233A"/>
                </a:solidFill>
                <a:latin typeface="Helvetica Neue"/>
              </a:rPr>
              <a:t> - per violation class, against cost.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37744" cy="6858000"/>
          </a:xfrm>
          <a:prstGeom prst="rect">
            <a:avLst/>
          </a:prstGeom>
          <a:solidFill>
            <a:srgbClr val="10233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37744" y="0"/>
            <a:ext cx="45720" cy="6858000"/>
          </a:xfrm>
          <a:prstGeom prst="rect">
            <a:avLst/>
          </a:prstGeom>
          <a:solidFill>
            <a:srgbClr val="C08A2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384048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950" b="1" i="0">
                <a:solidFill>
                  <a:srgbClr val="C08A2E"/>
                </a:solidFill>
                <a:latin typeface="Helvetica Neue"/>
              </a:rPr>
              <a:t>THE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640080"/>
            <a:ext cx="1088136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2500" b="1" i="0">
                <a:solidFill>
                  <a:srgbClr val="10233A"/>
                </a:solidFill>
                <a:latin typeface="Helvetica Neue"/>
              </a:rPr>
              <a:t>One gap, two research questions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868680" y="1389888"/>
            <a:ext cx="10881360" cy="12801"/>
          </a:xfrm>
          <a:prstGeom prst="rect">
            <a:avLst/>
          </a:prstGeom>
          <a:solidFill>
            <a:srgbClr val="DDE2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55680" y="635508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</a:pPr>
            <a:r>
              <a:rPr sz="900" b="0" i="0">
                <a:solidFill>
                  <a:srgbClr val="8A99A8"/>
                </a:solidFill>
                <a:latin typeface="Helvetica Neue"/>
              </a:rPr>
              <a:t>04</a:t>
            </a:r>
          </a:p>
        </p:txBody>
      </p:sp>
      <p:sp>
        <p:nvSpPr>
          <p:cNvPr id="8" name="Rectangle 7"/>
          <p:cNvSpPr/>
          <p:nvPr/>
        </p:nvSpPr>
        <p:spPr>
          <a:xfrm>
            <a:off x="868680" y="1691640"/>
            <a:ext cx="10881360" cy="1417320"/>
          </a:xfrm>
          <a:prstGeom prst="rect">
            <a:avLst/>
          </a:prstGeom>
          <a:solidFill>
            <a:srgbClr val="ECF1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68680" y="1691640"/>
            <a:ext cx="64008" cy="1417320"/>
          </a:xfrm>
          <a:prstGeom prst="rect">
            <a:avLst/>
          </a:prstGeom>
          <a:solidFill>
            <a:srgbClr val="C08A2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70432" y="1847088"/>
            <a:ext cx="1033272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</a:pPr>
            <a:r>
              <a:rPr sz="1350" b="0" i="1">
                <a:solidFill>
                  <a:srgbClr val="10233A"/>
                </a:solidFill>
                <a:latin typeface="Helvetica Neue"/>
              </a:rPr>
              <a:t>“Slide quality can now be measured after the fact. What these instruments cannot answer is whether measurement can drive generation.”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68680" y="3438144"/>
            <a:ext cx="77724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240">
            <a:solidFill>
              <a:srgbClr val="C08A2E"/>
            </a:solidFill>
          </a:ln>
          <a:effectLst/>
        </p:spPr>
        <p:txBody>
          <a:bodyPr rtlCol="0" anchor="ctr" wrap="square" tIns="0" bIns="0"/>
          <a:lstStyle/>
          <a:p>
            <a:pPr algn="ctr">
              <a:lnSpc>
                <a:spcPct val="115000"/>
              </a:lnSpc>
              <a:spcBef>
                <a:spcPts val="0"/>
              </a:spcBef>
            </a:pPr>
            <a:r>
              <a:rPr sz="1000" b="1" i="0">
                <a:solidFill>
                  <a:srgbClr val="C08A2E"/>
                </a:solidFill>
                <a:latin typeface="Helvetica Neue"/>
              </a:rPr>
              <a:t>RQ1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10512" y="3401568"/>
            <a:ext cx="98755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</a:pPr>
            <a:r>
              <a:rPr sz="1300" b="0" i="0">
                <a:solidFill>
                  <a:srgbClr val="1E3652"/>
                </a:solidFill>
                <a:latin typeface="Helvetica Neue"/>
              </a:rPr>
              <a:t>Can a small set of mechanical gates replace a reference deck or human labels, and still rank decks in the order a person would?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68680" y="4398264"/>
            <a:ext cx="77724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240">
            <a:solidFill>
              <a:srgbClr val="C08A2E"/>
            </a:solidFill>
          </a:ln>
          <a:effectLst/>
        </p:spPr>
        <p:txBody>
          <a:bodyPr rtlCol="0" anchor="ctr" wrap="square" tIns="0" bIns="0"/>
          <a:lstStyle/>
          <a:p>
            <a:pPr algn="ctr">
              <a:lnSpc>
                <a:spcPct val="115000"/>
              </a:lnSpc>
              <a:spcBef>
                <a:spcPts val="0"/>
              </a:spcBef>
            </a:pPr>
            <a:r>
              <a:rPr sz="1000" b="1" i="0">
                <a:solidFill>
                  <a:srgbClr val="C08A2E"/>
                </a:solidFill>
                <a:latin typeface="Helvetica Neue"/>
              </a:rPr>
              <a:t>RQ2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10512" y="4361688"/>
            <a:ext cx="98755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</a:pPr>
            <a:r>
              <a:rPr sz="1300" b="0" i="0">
                <a:solidFill>
                  <a:srgbClr val="1E3652"/>
                </a:solidFill>
                <a:latin typeface="Helvetica Neue"/>
              </a:rPr>
              <a:t>What does using that signal inside the loop actually add - per violation class, and at what cost?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5440680"/>
            <a:ext cx="106070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150" b="0" i="1">
                <a:solidFill>
                  <a:srgbClr val="5A6B7C"/>
                </a:solidFill>
                <a:latin typeface="Helvetica Neue"/>
              </a:rPr>
              <a:t>Both are answered by the same artefact: a deck, a score, and a repair log.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37744" cy="6858000"/>
          </a:xfrm>
          <a:prstGeom prst="rect">
            <a:avLst/>
          </a:prstGeom>
          <a:solidFill>
            <a:srgbClr val="10233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37744" y="0"/>
            <a:ext cx="45720" cy="6858000"/>
          </a:xfrm>
          <a:prstGeom prst="rect">
            <a:avLst/>
          </a:prstGeom>
          <a:solidFill>
            <a:srgbClr val="C08A2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384048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950" b="1" i="0">
                <a:solidFill>
                  <a:srgbClr val="C08A2E"/>
                </a:solidFill>
                <a:latin typeface="Helvetica Neue"/>
              </a:rPr>
              <a:t>THE SYSTEM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640080"/>
            <a:ext cx="1088136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2500" b="1" i="0">
                <a:solidFill>
                  <a:srgbClr val="10233A"/>
                </a:solidFill>
                <a:latin typeface="Helvetica Neue"/>
              </a:rPr>
              <a:t>Seven parts, four of which call a model</a:t>
            </a:r>
          </a:p>
        </p:txBody>
      </p:sp>
      <p:sp>
        <p:nvSpPr>
          <p:cNvPr id="6" name="Rectangle 5"/>
          <p:cNvSpPr/>
          <p:nvPr/>
        </p:nvSpPr>
        <p:spPr>
          <a:xfrm>
            <a:off x="868680" y="1389888"/>
            <a:ext cx="10881360" cy="12801"/>
          </a:xfrm>
          <a:prstGeom prst="rect">
            <a:avLst/>
          </a:prstGeom>
          <a:solidFill>
            <a:srgbClr val="DDE2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55680" y="635508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</a:pPr>
            <a:r>
              <a:rPr sz="900" b="0" i="0">
                <a:solidFill>
                  <a:srgbClr val="8A99A8"/>
                </a:solidFill>
                <a:latin typeface="Helvetica Neue"/>
              </a:rPr>
              <a:t>05</a:t>
            </a:r>
          </a:p>
        </p:txBody>
      </p:sp>
      <p:sp>
        <p:nvSpPr>
          <p:cNvPr id="8" name="Rectangle 7"/>
          <p:cNvSpPr/>
          <p:nvPr/>
        </p:nvSpPr>
        <p:spPr>
          <a:xfrm>
            <a:off x="868680" y="1755648"/>
            <a:ext cx="1307592" cy="1024128"/>
          </a:xfrm>
          <a:prstGeom prst="rect">
            <a:avLst/>
          </a:prstGeom>
          <a:solidFill>
            <a:srgbClr val="ECF1F5"/>
          </a:solidFill>
          <a:ln w="11430">
            <a:solidFill>
              <a:srgbClr val="D3DBE3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41832" y="1865376"/>
            <a:ext cx="11612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</a:pPr>
            <a:r>
              <a:rPr sz="1050" b="1" i="0">
                <a:solidFill>
                  <a:srgbClr val="10233A"/>
                </a:solidFill>
                <a:latin typeface="Helvetica Neue"/>
              </a:rPr>
              <a:t>parse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41832" y="2157984"/>
            <a:ext cx="1161288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</a:pPr>
            <a:r>
              <a:rPr sz="780" b="0" i="0">
                <a:solidFill>
                  <a:srgbClr val="1E3652"/>
                </a:solidFill>
                <a:latin typeface="Helvetica Neue"/>
              </a:rPr>
              <a:t>PDF -&gt; sections,
figures, captions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2199132" y="2199132"/>
            <a:ext cx="96012" cy="137160"/>
          </a:xfrm>
          <a:prstGeom prst="rightArrow">
            <a:avLst/>
          </a:prstGeom>
          <a:solidFill>
            <a:srgbClr val="8A99A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318004" y="1755648"/>
            <a:ext cx="1307592" cy="1024128"/>
          </a:xfrm>
          <a:prstGeom prst="rect">
            <a:avLst/>
          </a:prstGeom>
          <a:solidFill>
            <a:srgbClr val="F4F6F8"/>
          </a:solidFill>
          <a:ln w="11430">
            <a:solidFill>
              <a:srgbClr val="D3DBE3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391156" y="1865376"/>
            <a:ext cx="11612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</a:pPr>
            <a:r>
              <a:rPr sz="1050" b="1" i="0">
                <a:solidFill>
                  <a:srgbClr val="10233A"/>
                </a:solidFill>
                <a:latin typeface="Helvetica Neue"/>
              </a:rPr>
              <a:t>claims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391156" y="2157984"/>
            <a:ext cx="1161288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</a:pPr>
            <a:r>
              <a:rPr sz="780" b="0" i="0">
                <a:solidFill>
                  <a:srgbClr val="1E3652"/>
                </a:solidFill>
                <a:latin typeface="Helvetica Neue"/>
              </a:rPr>
              <a:t>assertions with
an evidence id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59836" y="1847088"/>
            <a:ext cx="29260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</a:pPr>
            <a:r>
              <a:rPr sz="650" b="1" i="0">
                <a:solidFill>
                  <a:srgbClr val="2E6F95"/>
                </a:solidFill>
                <a:latin typeface="Helvetica Neue"/>
              </a:rPr>
              <a:t>AI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3648456" y="2199132"/>
            <a:ext cx="96012" cy="137160"/>
          </a:xfrm>
          <a:prstGeom prst="rightArrow">
            <a:avLst/>
          </a:prstGeom>
          <a:solidFill>
            <a:srgbClr val="8A99A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767328" y="1755648"/>
            <a:ext cx="1307592" cy="1024128"/>
          </a:xfrm>
          <a:prstGeom prst="rect">
            <a:avLst/>
          </a:prstGeom>
          <a:solidFill>
            <a:srgbClr val="F4F6F8"/>
          </a:solidFill>
          <a:ln w="11430">
            <a:solidFill>
              <a:srgbClr val="D3DBE3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840480" y="1865376"/>
            <a:ext cx="11612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</a:pPr>
            <a:r>
              <a:rPr sz="1050" b="1" i="0">
                <a:solidFill>
                  <a:srgbClr val="10233A"/>
                </a:solidFill>
                <a:latin typeface="Helvetica Neue"/>
              </a:rPr>
              <a:t>requirement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840480" y="2157984"/>
            <a:ext cx="1161288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</a:pPr>
            <a:r>
              <a:rPr sz="780" b="0" i="0">
                <a:solidFill>
                  <a:srgbClr val="1E3652"/>
                </a:solidFill>
                <a:latin typeface="Helvetica Neue"/>
              </a:rPr>
              <a:t>talk length and
audience -&gt; table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09159" y="1847088"/>
            <a:ext cx="29260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</a:pPr>
            <a:r>
              <a:rPr sz="650" b="1" i="0">
                <a:solidFill>
                  <a:srgbClr val="2E6F95"/>
                </a:solidFill>
                <a:latin typeface="Helvetica Neue"/>
              </a:rPr>
              <a:t>AI</a:t>
            </a:r>
          </a:p>
        </p:txBody>
      </p:sp>
      <p:sp>
        <p:nvSpPr>
          <p:cNvPr id="21" name="Right Arrow 20"/>
          <p:cNvSpPr/>
          <p:nvPr/>
        </p:nvSpPr>
        <p:spPr>
          <a:xfrm>
            <a:off x="5097780" y="2199132"/>
            <a:ext cx="96012" cy="137160"/>
          </a:xfrm>
          <a:prstGeom prst="rightArrow">
            <a:avLst/>
          </a:prstGeom>
          <a:solidFill>
            <a:srgbClr val="8A99A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216652" y="1755648"/>
            <a:ext cx="1307592" cy="1024128"/>
          </a:xfrm>
          <a:prstGeom prst="rect">
            <a:avLst/>
          </a:prstGeom>
          <a:solidFill>
            <a:srgbClr val="ECF1F5"/>
          </a:solidFill>
          <a:ln w="11430">
            <a:solidFill>
              <a:srgbClr val="D3DBE3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289804" y="1865376"/>
            <a:ext cx="11612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</a:pPr>
            <a:r>
              <a:rPr sz="1050" b="1" i="0">
                <a:solidFill>
                  <a:srgbClr val="10233A"/>
                </a:solidFill>
                <a:latin typeface="Helvetica Neue"/>
              </a:rPr>
              <a:t>select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89804" y="2157984"/>
            <a:ext cx="1161288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</a:pPr>
            <a:r>
              <a:rPr sz="780" b="0" i="0">
                <a:solidFill>
                  <a:srgbClr val="1E3652"/>
                </a:solidFill>
                <a:latin typeface="Helvetica Neue"/>
              </a:rPr>
              <a:t>keep or drop,
per claim</a:t>
            </a:r>
          </a:p>
        </p:txBody>
      </p:sp>
      <p:sp>
        <p:nvSpPr>
          <p:cNvPr id="25" name="Right Arrow 24"/>
          <p:cNvSpPr/>
          <p:nvPr/>
        </p:nvSpPr>
        <p:spPr>
          <a:xfrm>
            <a:off x="6547104" y="2199132"/>
            <a:ext cx="96012" cy="137160"/>
          </a:xfrm>
          <a:prstGeom prst="rightArrow">
            <a:avLst/>
          </a:prstGeom>
          <a:solidFill>
            <a:srgbClr val="8A99A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665976" y="1755648"/>
            <a:ext cx="1307592" cy="1024128"/>
          </a:xfrm>
          <a:prstGeom prst="rect">
            <a:avLst/>
          </a:prstGeom>
          <a:solidFill>
            <a:srgbClr val="F4F6F8"/>
          </a:solidFill>
          <a:ln w="11430">
            <a:solidFill>
              <a:srgbClr val="D3DBE3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739128" y="1865376"/>
            <a:ext cx="11612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</a:pPr>
            <a:r>
              <a:rPr sz="1050" b="1" i="0">
                <a:solidFill>
                  <a:srgbClr val="10233A"/>
                </a:solidFill>
                <a:latin typeface="Helvetica Neue"/>
              </a:rPr>
              <a:t>outline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739128" y="2157984"/>
            <a:ext cx="1161288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</a:pPr>
            <a:r>
              <a:rPr sz="780" b="0" i="0">
                <a:solidFill>
                  <a:srgbClr val="1E3652"/>
                </a:solidFill>
                <a:latin typeface="Helvetica Neue"/>
              </a:rPr>
              <a:t>re-order into
an argument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607808" y="1847088"/>
            <a:ext cx="29260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</a:pPr>
            <a:r>
              <a:rPr sz="650" b="1" i="0">
                <a:solidFill>
                  <a:srgbClr val="2E6F95"/>
                </a:solidFill>
                <a:latin typeface="Helvetica Neue"/>
              </a:rPr>
              <a:t>AI</a:t>
            </a:r>
          </a:p>
        </p:txBody>
      </p:sp>
      <p:sp>
        <p:nvSpPr>
          <p:cNvPr id="30" name="Right Arrow 29"/>
          <p:cNvSpPr/>
          <p:nvPr/>
        </p:nvSpPr>
        <p:spPr>
          <a:xfrm>
            <a:off x="7996428" y="2199132"/>
            <a:ext cx="96012" cy="137160"/>
          </a:xfrm>
          <a:prstGeom prst="rightArrow">
            <a:avLst/>
          </a:prstGeom>
          <a:solidFill>
            <a:srgbClr val="8A99A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115300" y="1755648"/>
            <a:ext cx="1307592" cy="1024128"/>
          </a:xfrm>
          <a:prstGeom prst="rect">
            <a:avLst/>
          </a:prstGeom>
          <a:solidFill>
            <a:srgbClr val="F4F6F8"/>
          </a:solidFill>
          <a:ln w="11430">
            <a:solidFill>
              <a:srgbClr val="D3DBE3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188452" y="1865376"/>
            <a:ext cx="11612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</a:pPr>
            <a:r>
              <a:rPr sz="1050" b="1" i="0">
                <a:solidFill>
                  <a:srgbClr val="10233A"/>
                </a:solidFill>
                <a:latin typeface="Helvetica Neue"/>
              </a:rPr>
              <a:t>bullets+notes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188452" y="2157984"/>
            <a:ext cx="1161288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</a:pPr>
            <a:r>
              <a:rPr sz="780" b="0" i="0">
                <a:solidFill>
                  <a:srgbClr val="1E3652"/>
                </a:solidFill>
                <a:latin typeface="Helvetica Neue"/>
              </a:rPr>
              <a:t>compress, then
write the talk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057132" y="1847088"/>
            <a:ext cx="29260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</a:pPr>
            <a:r>
              <a:rPr sz="650" b="1" i="0">
                <a:solidFill>
                  <a:srgbClr val="2E6F95"/>
                </a:solidFill>
                <a:latin typeface="Helvetica Neue"/>
              </a:rPr>
              <a:t>AI</a:t>
            </a:r>
          </a:p>
        </p:txBody>
      </p:sp>
      <p:sp>
        <p:nvSpPr>
          <p:cNvPr id="35" name="Right Arrow 34"/>
          <p:cNvSpPr/>
          <p:nvPr/>
        </p:nvSpPr>
        <p:spPr>
          <a:xfrm>
            <a:off x="9445752" y="2199132"/>
            <a:ext cx="96012" cy="137160"/>
          </a:xfrm>
          <a:prstGeom prst="rightArrow">
            <a:avLst/>
          </a:prstGeom>
          <a:solidFill>
            <a:srgbClr val="8A99A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9564624" y="1755648"/>
            <a:ext cx="1307592" cy="1024128"/>
          </a:xfrm>
          <a:prstGeom prst="rect">
            <a:avLst/>
          </a:prstGeom>
          <a:solidFill>
            <a:srgbClr val="ECF1F5"/>
          </a:solidFill>
          <a:ln w="11430">
            <a:solidFill>
              <a:srgbClr val="D3DBE3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637776" y="1865376"/>
            <a:ext cx="11612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</a:pPr>
            <a:r>
              <a:rPr sz="1050" b="1" i="0">
                <a:solidFill>
                  <a:srgbClr val="10233A"/>
                </a:solidFill>
                <a:latin typeface="Helvetica Neue"/>
              </a:rPr>
              <a:t>render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637776" y="2157984"/>
            <a:ext cx="1161288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</a:pPr>
            <a:r>
              <a:rPr sz="780" b="0" i="0">
                <a:solidFill>
                  <a:srgbClr val="1E3652"/>
                </a:solidFill>
                <a:latin typeface="Helvetica Neue"/>
              </a:rPr>
              <a:t>native, editable
.pptx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68680" y="3584448"/>
            <a:ext cx="1280160" cy="640080"/>
          </a:xfrm>
          <a:prstGeom prst="rect">
            <a:avLst/>
          </a:prstGeom>
          <a:solidFill>
            <a:srgbClr val="FFFFFF"/>
          </a:solidFill>
          <a:ln w="11430">
            <a:solidFill>
              <a:srgbClr val="C3CED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14400" y="3803904"/>
            <a:ext cx="118871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</a:pPr>
            <a:r>
              <a:rPr sz="900" b="1" i="0">
                <a:solidFill>
                  <a:srgbClr val="10233A"/>
                </a:solidFill>
                <a:latin typeface="Helvetica Neue"/>
              </a:rPr>
              <a:t>G1 containment</a:t>
            </a:r>
          </a:p>
        </p:txBody>
      </p:sp>
      <p:sp>
        <p:nvSpPr>
          <p:cNvPr id="41" name="Rectangle 40"/>
          <p:cNvSpPr/>
          <p:nvPr/>
        </p:nvSpPr>
        <p:spPr>
          <a:xfrm>
            <a:off x="2258568" y="3584448"/>
            <a:ext cx="1280160" cy="640080"/>
          </a:xfrm>
          <a:prstGeom prst="rect">
            <a:avLst/>
          </a:prstGeom>
          <a:solidFill>
            <a:srgbClr val="FFFFFF"/>
          </a:solidFill>
          <a:ln w="11430">
            <a:solidFill>
              <a:srgbClr val="C3CED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2304287" y="3803904"/>
            <a:ext cx="118871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</a:pPr>
            <a:r>
              <a:rPr sz="900" b="1" i="0">
                <a:solidFill>
                  <a:srgbClr val="10233A"/>
                </a:solidFill>
                <a:latin typeface="Helvetica Neue"/>
              </a:rPr>
              <a:t>G2 overlap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648456" y="3584448"/>
            <a:ext cx="1280160" cy="640080"/>
          </a:xfrm>
          <a:prstGeom prst="rect">
            <a:avLst/>
          </a:prstGeom>
          <a:solidFill>
            <a:srgbClr val="FFFFFF"/>
          </a:solidFill>
          <a:ln w="11430">
            <a:solidFill>
              <a:srgbClr val="C3CED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694176" y="3803904"/>
            <a:ext cx="118871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</a:pPr>
            <a:r>
              <a:rPr sz="900" b="1" i="0">
                <a:solidFill>
                  <a:srgbClr val="10233A"/>
                </a:solidFill>
                <a:latin typeface="Helvetica Neue"/>
              </a:rPr>
              <a:t>G3 font size</a:t>
            </a:r>
          </a:p>
        </p:txBody>
      </p:sp>
      <p:sp>
        <p:nvSpPr>
          <p:cNvPr id="45" name="Rectangle 44"/>
          <p:cNvSpPr/>
          <p:nvPr/>
        </p:nvSpPr>
        <p:spPr>
          <a:xfrm>
            <a:off x="5038344" y="3584448"/>
            <a:ext cx="1280160" cy="640080"/>
          </a:xfrm>
          <a:prstGeom prst="rect">
            <a:avLst/>
          </a:prstGeom>
          <a:solidFill>
            <a:srgbClr val="FFFFFF"/>
          </a:solidFill>
          <a:ln w="11430">
            <a:solidFill>
              <a:srgbClr val="C3CED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084064" y="3803904"/>
            <a:ext cx="118871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</a:pPr>
            <a:r>
              <a:rPr sz="900" b="1" i="0">
                <a:solidFill>
                  <a:srgbClr val="10233A"/>
                </a:solidFill>
                <a:latin typeface="Helvetica Neue"/>
              </a:rPr>
              <a:t>G4 contrast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428231" y="3584448"/>
            <a:ext cx="1280160" cy="640080"/>
          </a:xfrm>
          <a:prstGeom prst="rect">
            <a:avLst/>
          </a:prstGeom>
          <a:solidFill>
            <a:srgbClr val="FFFFFF"/>
          </a:solidFill>
          <a:ln w="11430">
            <a:solidFill>
              <a:srgbClr val="C3CED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473951" y="3803904"/>
            <a:ext cx="118871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</a:pPr>
            <a:r>
              <a:rPr sz="900" b="1" i="0">
                <a:solidFill>
                  <a:srgbClr val="10233A"/>
                </a:solidFill>
                <a:latin typeface="Helvetica Neue"/>
              </a:rPr>
              <a:t>G5 text fit</a:t>
            </a:r>
          </a:p>
        </p:txBody>
      </p:sp>
      <p:sp>
        <p:nvSpPr>
          <p:cNvPr id="49" name="Rectangle 48"/>
          <p:cNvSpPr/>
          <p:nvPr/>
        </p:nvSpPr>
        <p:spPr>
          <a:xfrm>
            <a:off x="7818119" y="3584448"/>
            <a:ext cx="1280160" cy="640080"/>
          </a:xfrm>
          <a:prstGeom prst="rect">
            <a:avLst/>
          </a:prstGeom>
          <a:solidFill>
            <a:srgbClr val="FFFFFF"/>
          </a:solidFill>
          <a:ln w="11430">
            <a:solidFill>
              <a:srgbClr val="C3CED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7863840" y="3803904"/>
            <a:ext cx="118871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</a:pPr>
            <a:r>
              <a:rPr sz="900" b="1" i="0">
                <a:solidFill>
                  <a:srgbClr val="10233A"/>
                </a:solidFill>
                <a:latin typeface="Helvetica Neue"/>
              </a:rPr>
              <a:t>G6 density</a:t>
            </a:r>
          </a:p>
        </p:txBody>
      </p:sp>
      <p:sp>
        <p:nvSpPr>
          <p:cNvPr id="51" name="Rectangle 50"/>
          <p:cNvSpPr/>
          <p:nvPr/>
        </p:nvSpPr>
        <p:spPr>
          <a:xfrm>
            <a:off x="9253728" y="3584448"/>
            <a:ext cx="914400" cy="640080"/>
          </a:xfrm>
          <a:prstGeom prst="rect">
            <a:avLst/>
          </a:prstGeom>
          <a:solidFill>
            <a:srgbClr val="ECF1F5"/>
          </a:solidFill>
          <a:ln w="11430">
            <a:solidFill>
              <a:srgbClr val="C08A2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9299448" y="3794760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</a:pPr>
            <a:r>
              <a:rPr sz="1100" b="1" i="0">
                <a:solidFill>
                  <a:srgbClr val="10233A"/>
                </a:solidFill>
                <a:latin typeface="Helvetica Neue"/>
              </a:rPr>
              <a:t>SRR</a:t>
            </a:r>
          </a:p>
        </p:txBody>
      </p:sp>
      <p:sp>
        <p:nvSpPr>
          <p:cNvPr id="53" name="Rectangle 52"/>
          <p:cNvSpPr/>
          <p:nvPr/>
        </p:nvSpPr>
        <p:spPr>
          <a:xfrm>
            <a:off x="10314432" y="3584448"/>
            <a:ext cx="960120" cy="640080"/>
          </a:xfrm>
          <a:prstGeom prst="rect">
            <a:avLst/>
          </a:prstGeom>
          <a:solidFill>
            <a:srgbClr val="ECF1F5"/>
          </a:solidFill>
          <a:ln w="11430">
            <a:solidFill>
              <a:srgbClr val="C08A2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10360152" y="3794760"/>
            <a:ext cx="868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</a:pPr>
            <a:r>
              <a:rPr sz="950" b="1" i="0">
                <a:solidFill>
                  <a:srgbClr val="10233A"/>
                </a:solidFill>
                <a:latin typeface="Helvetica Neue"/>
              </a:rPr>
              <a:t>ready?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68680" y="1481328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950" b="1" i="0">
                <a:solidFill>
                  <a:srgbClr val="5A6B7C"/>
                </a:solidFill>
                <a:latin typeface="Helvetica Neue"/>
              </a:rPr>
              <a:t>A  generation - text layer, frozen once written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68680" y="3218688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950" b="1" i="0">
                <a:solidFill>
                  <a:srgbClr val="5A6B7C"/>
                </a:solidFill>
                <a:latin typeface="Helvetica Neue"/>
              </a:rPr>
              <a:t>B  measurement - six gates on the .pptx object model, no rendering</a:t>
            </a:r>
          </a:p>
        </p:txBody>
      </p:sp>
      <p:sp>
        <p:nvSpPr>
          <p:cNvPr id="57" name="Rectangle 56"/>
          <p:cNvSpPr/>
          <p:nvPr/>
        </p:nvSpPr>
        <p:spPr>
          <a:xfrm>
            <a:off x="868680" y="4526280"/>
            <a:ext cx="324612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5A6B7C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1005839" y="4654296"/>
            <a:ext cx="29718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050" b="1" i="0">
                <a:solidFill>
                  <a:srgbClr val="10233A"/>
                </a:solidFill>
                <a:latin typeface="Helvetica Neue"/>
              </a:rPr>
              <a:t>1  measure</a:t>
            </a:r>
          </a:p>
          <a:p>
            <a:pPr algn="l">
              <a:lnSpc>
                <a:spcPct val="115000"/>
              </a:lnSpc>
              <a:spcBef>
                <a:spcPts val="200"/>
              </a:spcBef>
            </a:pPr>
            <a:r>
              <a:rPr sz="800" b="0" i="0">
                <a:solidFill>
                  <a:srgbClr val="1E3652"/>
                </a:solidFill>
                <a:latin typeface="Helvetica Neue"/>
              </a:rPr>
              <a:t>worst violation first</a:t>
            </a:r>
          </a:p>
        </p:txBody>
      </p:sp>
      <p:sp>
        <p:nvSpPr>
          <p:cNvPr id="59" name="Rectangle 58"/>
          <p:cNvSpPr/>
          <p:nvPr/>
        </p:nvSpPr>
        <p:spPr>
          <a:xfrm>
            <a:off x="4434840" y="4526280"/>
            <a:ext cx="324612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5A6B7C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4572000" y="4654296"/>
            <a:ext cx="29718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050" b="1" i="0">
                <a:solidFill>
                  <a:srgbClr val="10233A"/>
                </a:solidFill>
                <a:latin typeface="Helvetica Neue"/>
              </a:rPr>
              <a:t>2  repair</a:t>
            </a:r>
          </a:p>
          <a:p>
            <a:pPr algn="l">
              <a:lnSpc>
                <a:spcPct val="115000"/>
              </a:lnSpc>
              <a:spcBef>
                <a:spcPts val="200"/>
              </a:spcBef>
            </a:pPr>
            <a:r>
              <a:rPr sz="800" b="0" i="0">
                <a:solidFill>
                  <a:srgbClr val="1E3652"/>
                </a:solidFill>
                <a:latin typeface="Helvetica Neue"/>
              </a:rPr>
              <a:t>cheapest reversible action</a:t>
            </a:r>
          </a:p>
        </p:txBody>
      </p:sp>
      <p:sp>
        <p:nvSpPr>
          <p:cNvPr id="61" name="Rectangle 60"/>
          <p:cNvSpPr/>
          <p:nvPr/>
        </p:nvSpPr>
        <p:spPr>
          <a:xfrm>
            <a:off x="8001000" y="4526280"/>
            <a:ext cx="324612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5A6B7C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8138160" y="4654296"/>
            <a:ext cx="29718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050" b="1" i="0">
                <a:solidFill>
                  <a:srgbClr val="10233A"/>
                </a:solidFill>
                <a:latin typeface="Helvetica Neue"/>
              </a:rPr>
              <a:t>3  re-measure</a:t>
            </a:r>
          </a:p>
          <a:p>
            <a:pPr algn="l">
              <a:lnSpc>
                <a:spcPct val="115000"/>
              </a:lnSpc>
              <a:spcBef>
                <a:spcPts val="200"/>
              </a:spcBef>
            </a:pPr>
            <a:r>
              <a:rPr sz="800" b="0" i="0">
                <a:solidFill>
                  <a:srgbClr val="1E3652"/>
                </a:solidFill>
                <a:latin typeface="Helvetica Neue"/>
              </a:rPr>
              <a:t>gain per second and per dollar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68680" y="5376672"/>
            <a:ext cx="1088136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</a:pPr>
            <a:r>
              <a:rPr sz="1100" b="0" i="0">
                <a:solidFill>
                  <a:srgbClr val="1E3652"/>
                </a:solidFill>
                <a:latin typeface="Helvetica Neue"/>
              </a:rPr>
              <a:t>Only the text layer is allowed to change the words. Repair may move, resize or recolour; it may never add content or change a number. That is what keeps “the loop improved the deck” from being confounded with “the loop rewrote the deck”.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37744" cy="6858000"/>
          </a:xfrm>
          <a:prstGeom prst="rect">
            <a:avLst/>
          </a:prstGeom>
          <a:solidFill>
            <a:srgbClr val="10233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37744" y="0"/>
            <a:ext cx="45720" cy="6858000"/>
          </a:xfrm>
          <a:prstGeom prst="rect">
            <a:avLst/>
          </a:prstGeom>
          <a:solidFill>
            <a:srgbClr val="C08A2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384048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950" b="1" i="0">
                <a:solidFill>
                  <a:srgbClr val="C08A2E"/>
                </a:solidFill>
                <a:latin typeface="Helvetica Neue"/>
              </a:rPr>
              <a:t>PART 1  ·  READING THE PAPER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640080"/>
            <a:ext cx="1088136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2500" b="1" i="0">
                <a:solidFill>
                  <a:srgbClr val="10233A"/>
                </a:solidFill>
                <a:latin typeface="Helvetica Neue"/>
              </a:rPr>
              <a:t>Captions are re-rendered, not extracted</a:t>
            </a:r>
          </a:p>
        </p:txBody>
      </p:sp>
      <p:sp>
        <p:nvSpPr>
          <p:cNvPr id="6" name="Rectangle 5"/>
          <p:cNvSpPr/>
          <p:nvPr/>
        </p:nvSpPr>
        <p:spPr>
          <a:xfrm>
            <a:off x="868680" y="1389888"/>
            <a:ext cx="10881360" cy="12801"/>
          </a:xfrm>
          <a:prstGeom prst="rect">
            <a:avLst/>
          </a:prstGeom>
          <a:solidFill>
            <a:srgbClr val="DDE2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55680" y="635508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</a:pPr>
            <a:r>
              <a:rPr sz="900" b="0" i="0">
                <a:solidFill>
                  <a:srgbClr val="8A99A8"/>
                </a:solidFill>
                <a:latin typeface="Helvetica Neue"/>
              </a:rPr>
              <a:t>06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1691640"/>
            <a:ext cx="5760720" cy="3840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2000"/>
              </a:lnSpc>
              <a:spcBef>
                <a:spcPts val="0"/>
              </a:spcBef>
            </a:pPr>
            <a:r>
              <a:rPr sz="1200" b="1">
                <a:solidFill>
                  <a:srgbClr val="C08A2E"/>
                </a:solidFill>
                <a:latin typeface="Helvetica Neue"/>
              </a:rPr>
              <a:t>-  </a:t>
            </a:r>
            <a:r>
              <a:rPr sz="1200" b="1">
                <a:solidFill>
                  <a:srgbClr val="10233A"/>
                </a:solidFill>
                <a:latin typeface="Helvetica Neue"/>
              </a:rPr>
              <a:t>Headings </a:t>
            </a:r>
            <a:r>
              <a:rPr sz="1200">
                <a:solidFill>
                  <a:srgbClr val="10233A"/>
                </a:solidFill>
                <a:latin typeface="Helvetica Neue"/>
              </a:rPr>
              <a:t>are found by font size and weight, not by a fixed list.</a:t>
            </a:r>
          </a:p>
          <a:p>
            <a:pPr>
              <a:lnSpc>
                <a:spcPct val="122000"/>
              </a:lnSpc>
              <a:spcBef>
                <a:spcPts val="1000"/>
              </a:spcBef>
            </a:pPr>
            <a:r>
              <a:rPr sz="1200" b="1">
                <a:solidFill>
                  <a:srgbClr val="C08A2E"/>
                </a:solidFill>
                <a:latin typeface="Helvetica Neue"/>
              </a:rPr>
              <a:t>-  </a:t>
            </a:r>
            <a:r>
              <a:rPr sz="1200" b="1">
                <a:solidFill>
                  <a:srgbClr val="10233A"/>
                </a:solidFill>
                <a:latin typeface="Helvetica Neue"/>
              </a:rPr>
              <a:t>Figures </a:t>
            </a:r>
            <a:r>
              <a:rPr sz="1200">
                <a:solidFill>
                  <a:srgbClr val="10233A"/>
                </a:solidFill>
                <a:latin typeface="Helvetica Neue"/>
              </a:rPr>
              <a:t>are vector art in this literature: pulling embedded images returns 32x32 icons. So each caption's region is clipped and rasterised at 200 dpi.</a:t>
            </a:r>
          </a:p>
          <a:p>
            <a:pPr>
              <a:lnSpc>
                <a:spcPct val="122000"/>
              </a:lnSpc>
              <a:spcBef>
                <a:spcPts val="1000"/>
              </a:spcBef>
            </a:pPr>
            <a:r>
              <a:rPr sz="1200" b="1">
                <a:solidFill>
                  <a:srgbClr val="C08A2E"/>
                </a:solidFill>
                <a:latin typeface="Helvetica Neue"/>
              </a:rPr>
              <a:t>-  </a:t>
            </a:r>
            <a:r>
              <a:rPr sz="1200" b="1">
                <a:solidFill>
                  <a:srgbClr val="10233A"/>
                </a:solidFill>
                <a:latin typeface="Helvetica Neue"/>
              </a:rPr>
              <a:t>The band stops at the nearest paragraph</a:t>
            </a:r>
            <a:r>
              <a:rPr sz="1200">
                <a:solidFill>
                  <a:srgbClr val="10233A"/>
                </a:solidFill>
                <a:latin typeface="Helvetica Neue"/>
              </a:rPr>
              <a:t>, not at any text block - a figure carries its own labels, and stopping at those cut the figure in half.</a:t>
            </a:r>
          </a:p>
        </p:txBody>
      </p:sp>
      <p:pic>
        <p:nvPicPr>
          <p:cNvPr id="9" name="Picture 8" descr="p02_01_fig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03720" y="1783080"/>
            <a:ext cx="4434840" cy="2236521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903720" y="3977639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850" b="0" i="1">
                <a:solidFill>
                  <a:srgbClr val="5A6B7C"/>
                </a:solidFill>
                <a:latin typeface="Helvetica Neue"/>
              </a:rPr>
              <a:t>Figure 2 of PPTAgent, clipped from the PDF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5138928"/>
            <a:ext cx="1088136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</a:pPr>
            <a:r>
              <a:rPr sz="1050" b="0" i="0">
                <a:solidFill>
                  <a:srgbClr val="5A6B7C"/>
                </a:solidFill>
                <a:latin typeface="Helvetica Neue"/>
              </a:rPr>
              <a:t>12 of 32 captions in this paper produced a usable crop. The failures are tables whose caption sits above the table, and figures that span both columns. Both are fixable; the rule that produced the 12 is already the one the evaluation will use.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37744" cy="6858000"/>
          </a:xfrm>
          <a:prstGeom prst="rect">
            <a:avLst/>
          </a:prstGeom>
          <a:solidFill>
            <a:srgbClr val="10233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37744" y="0"/>
            <a:ext cx="45720" cy="6858000"/>
          </a:xfrm>
          <a:prstGeom prst="rect">
            <a:avLst/>
          </a:prstGeom>
          <a:solidFill>
            <a:srgbClr val="C08A2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384048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950" b="1" i="0">
                <a:solidFill>
                  <a:srgbClr val="C08A2E"/>
                </a:solidFill>
                <a:latin typeface="Helvetica Neue"/>
              </a:rPr>
              <a:t>PART 2  ·  DECIDING WHAT TO SAY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640080"/>
            <a:ext cx="1088136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2500" b="1" i="0">
                <a:solidFill>
                  <a:srgbClr val="10233A"/>
                </a:solidFill>
                <a:latin typeface="Helvetica Neue"/>
              </a:rPr>
              <a:t>Selection is a table, not a judgement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868680" y="1389888"/>
            <a:ext cx="10881360" cy="12801"/>
          </a:xfrm>
          <a:prstGeom prst="rect">
            <a:avLst/>
          </a:prstGeom>
          <a:solidFill>
            <a:srgbClr val="DDE2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55680" y="635508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</a:pPr>
            <a:r>
              <a:rPr sz="900" b="0" i="0">
                <a:solidFill>
                  <a:srgbClr val="8A99A8"/>
                </a:solidFill>
                <a:latin typeface="Helvetica Neue"/>
              </a:rPr>
              <a:t>07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868680" y="1691640"/>
          <a:ext cx="10881360" cy="13167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3931920"/>
                <a:gridCol w="2651760"/>
                <a:gridCol w="2103120"/>
              </a:tblGrid>
              <a:tr h="310896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</a:pPr>
                      <a:r>
                        <a:rPr sz="1000" b="1" i="0">
                          <a:solidFill>
                            <a:srgbClr val="10233A"/>
                          </a:solidFill>
                          <a:latin typeface="Helvetica Neue"/>
                        </a:rPr>
                        <a:t>request</a:t>
                      </a:r>
                    </a:p>
                  </a:txBody>
                  <a:tcPr marL="73152" marT="36576" marB="36576">
                    <a:solidFill>
                      <a:srgbClr val="ECF1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</a:pPr>
                      <a:r>
                        <a:rPr sz="1000" b="1" i="0">
                          <a:solidFill>
                            <a:srgbClr val="10233A"/>
                          </a:solidFill>
                          <a:latin typeface="Helvetica Neue"/>
                        </a:rPr>
                        <a:t>always kept</a:t>
                      </a:r>
                    </a:p>
                  </a:txBody>
                  <a:tcPr marL="73152" marT="36576" marB="36576">
                    <a:solidFill>
                      <a:srgbClr val="ECF1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</a:pPr>
                      <a:r>
                        <a:rPr sz="1000" b="1" i="0">
                          <a:solidFill>
                            <a:srgbClr val="10233A"/>
                          </a:solidFill>
                          <a:latin typeface="Helvetica Neue"/>
                        </a:rPr>
                        <a:t>kept if room</a:t>
                      </a:r>
                    </a:p>
                  </a:txBody>
                  <a:tcPr marL="73152" marT="36576" marB="36576">
                    <a:solidFill>
                      <a:srgbClr val="ECF1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</a:pPr>
                      <a:r>
                        <a:rPr sz="1000" b="1" i="0">
                          <a:solidFill>
                            <a:srgbClr val="10233A"/>
                          </a:solidFill>
                          <a:latin typeface="Helvetica Neue"/>
                        </a:rPr>
                        <a:t>dropped</a:t>
                      </a:r>
                    </a:p>
                  </a:txBody>
                  <a:tcPr marL="73152" marT="36576" marB="36576">
                    <a:solidFill>
                      <a:srgbClr val="ECF1F5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1000" b="1" i="0">
                          <a:solidFill>
                            <a:srgbClr val="10233A"/>
                          </a:solidFill>
                          <a:latin typeface="Helvetica Neue"/>
                        </a:rPr>
                        <a:t>5 min, general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1000" b="0" i="0">
                          <a:solidFill>
                            <a:srgbClr val="1E3652"/>
                          </a:solidFill>
                          <a:latin typeface="Helvetica Neue"/>
                        </a:rPr>
                        <a:t>results, conclusion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1000" b="0" i="0">
                          <a:solidFill>
                            <a:srgbClr val="1E3652"/>
                          </a:solidFill>
                          <a:latin typeface="Helvetica Neue"/>
                        </a:rPr>
                        <a:t>method (core only)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1000" b="0" i="0">
                          <a:solidFill>
                            <a:srgbClr val="1E3652"/>
                          </a:solidFill>
                          <a:latin typeface="Helvetica Neue"/>
                        </a:rPr>
                        <a:t>analysis, limitations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1000" b="1" i="0">
                          <a:solidFill>
                            <a:srgbClr val="10233A"/>
                          </a:solidFill>
                          <a:latin typeface="Helvetica Neue"/>
                        </a:rPr>
                        <a:t>12 min, expert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1000" b="0" i="0">
                          <a:solidFill>
                            <a:srgbClr val="1E3652"/>
                          </a:solidFill>
                          <a:latin typeface="Helvetica Neue"/>
                        </a:rPr>
                        <a:t>results, conclusion, method,
motivation, background, analysis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1000" b="0" i="0">
                          <a:solidFill>
                            <a:srgbClr val="1E3652"/>
                          </a:solidFill>
                          <a:latin typeface="Helvetica Neue"/>
                        </a:rPr>
                        <a:t>related work, setup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1000" b="0" i="0">
                          <a:solidFill>
                            <a:srgbClr val="1E3652"/>
                          </a:solidFill>
                          <a:latin typeface="Helvetica Neue"/>
                        </a:rPr>
                        <a:t>-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868680" y="3246120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150" b="1" i="0">
                <a:solidFill>
                  <a:srgbClr val="10233A"/>
                </a:solidFill>
                <a:latin typeface="Helvetica Neue"/>
              </a:rPr>
              <a:t>Every kept or dropped claim carries the id of the rule that decided it: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868680" y="3703320"/>
          <a:ext cx="10881360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0"/>
                <a:gridCol w="1371600"/>
                <a:gridCol w="731520"/>
                <a:gridCol w="1188720"/>
                <a:gridCol w="2286000"/>
                <a:gridCol w="4389120"/>
              </a:tblGrid>
              <a:tr h="310896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</a:pPr>
                      <a:r>
                        <a:rPr sz="950" b="1" i="0">
                          <a:solidFill>
                            <a:srgbClr val="10233A"/>
                          </a:solidFill>
                          <a:latin typeface="Helvetica Neue"/>
                        </a:rPr>
                        <a:t>claim</a:t>
                      </a:r>
                    </a:p>
                  </a:txBody>
                  <a:tcPr marL="73152" marT="36576" marB="36576">
                    <a:solidFill>
                      <a:srgbClr val="ECF1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</a:pPr>
                      <a:r>
                        <a:rPr sz="950" b="1" i="0">
                          <a:solidFill>
                            <a:srgbClr val="10233A"/>
                          </a:solidFill>
                          <a:latin typeface="Helvetica Neue"/>
                        </a:rPr>
                        <a:t>section</a:t>
                      </a:r>
                    </a:p>
                  </a:txBody>
                  <a:tcPr marL="73152" marT="36576" marB="36576">
                    <a:solidFill>
                      <a:srgbClr val="ECF1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</a:pPr>
                      <a:r>
                        <a:rPr sz="950" b="1" i="0">
                          <a:solidFill>
                            <a:srgbClr val="10233A"/>
                          </a:solidFill>
                          <a:latin typeface="Helvetica Neue"/>
                        </a:rPr>
                        <a:t>imp.</a:t>
                      </a:r>
                    </a:p>
                  </a:txBody>
                  <a:tcPr marL="73152" marT="36576" marB="36576">
                    <a:solidFill>
                      <a:srgbClr val="ECF1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</a:pPr>
                      <a:r>
                        <a:rPr sz="950" b="1" i="0">
                          <a:solidFill>
                            <a:srgbClr val="10233A"/>
                          </a:solidFill>
                          <a:latin typeface="Helvetica Neue"/>
                        </a:rPr>
                        <a:t>decision</a:t>
                      </a:r>
                    </a:p>
                  </a:txBody>
                  <a:tcPr marL="73152" marT="36576" marB="36576">
                    <a:solidFill>
                      <a:srgbClr val="ECF1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</a:pPr>
                      <a:r>
                        <a:rPr sz="950" b="1" i="0">
                          <a:solidFill>
                            <a:srgbClr val="10233A"/>
                          </a:solidFill>
                          <a:latin typeface="Helvetica Neue"/>
                        </a:rPr>
                        <a:t>rule id</a:t>
                      </a:r>
                    </a:p>
                  </a:txBody>
                  <a:tcPr marL="73152" marT="36576" marB="36576">
                    <a:solidFill>
                      <a:srgbClr val="ECF1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</a:pPr>
                      <a:r>
                        <a:rPr sz="950" b="1" i="0">
                          <a:solidFill>
                            <a:srgbClr val="10233A"/>
                          </a:solidFill>
                          <a:latin typeface="Helvetica Neue"/>
                        </a:rPr>
                        <a:t>why</a:t>
                      </a:r>
                    </a:p>
                  </a:txBody>
                  <a:tcPr marL="73152" marT="36576" marB="36576">
                    <a:solidFill>
                      <a:srgbClr val="ECF1F5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950" b="1" i="0">
                          <a:solidFill>
                            <a:srgbClr val="10233A"/>
                          </a:solidFill>
                          <a:latin typeface="Helvetica Neue"/>
                        </a:rPr>
                        <a:t>c3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950" b="0" i="0">
                          <a:solidFill>
                            <a:srgbClr val="1E3652"/>
                          </a:solidFill>
                          <a:latin typeface="Helvetica Neue"/>
                        </a:rPr>
                        <a:t>results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950" b="0" i="0">
                          <a:solidFill>
                            <a:srgbClr val="1E3652"/>
                          </a:solidFill>
                          <a:latin typeface="Helvetica Neue"/>
                        </a:rPr>
                        <a:t>3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950" b="0" i="0">
                          <a:solidFill>
                            <a:srgbClr val="1E3652"/>
                          </a:solidFill>
                          <a:latin typeface="Helvetica Neue"/>
                        </a:rPr>
                        <a:t>kept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950" b="0" i="0">
                          <a:solidFill>
                            <a:srgbClr val="1E3652"/>
                          </a:solidFill>
                          <a:latin typeface="Helvetica Neue"/>
                        </a:rPr>
                        <a:t>hard:results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950" b="0" i="0">
                          <a:solidFill>
                            <a:srgbClr val="1E3652"/>
                          </a:solidFill>
                          <a:latin typeface="Helvetica Neue"/>
                        </a:rPr>
                        <a:t>results are never dropped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950" b="1" i="0">
                          <a:solidFill>
                            <a:srgbClr val="10233A"/>
                          </a:solidFill>
                          <a:latin typeface="Helvetica Neue"/>
                        </a:rPr>
                        <a:t>c7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950" b="0" i="0">
                          <a:solidFill>
                            <a:srgbClr val="1E3652"/>
                          </a:solidFill>
                          <a:latin typeface="Helvetica Neue"/>
                        </a:rPr>
                        <a:t>setup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950" b="0" i="0">
                          <a:solidFill>
                            <a:srgbClr val="1E3652"/>
                          </a:solidFill>
                          <a:latin typeface="Helvetica Neue"/>
                        </a:rPr>
                        <a:t>2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950" b="0" i="0">
                          <a:solidFill>
                            <a:srgbClr val="1E3652"/>
                          </a:solidFill>
                          <a:latin typeface="Helvetica Neue"/>
                        </a:rPr>
                        <a:t>dropped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950" b="0" i="0">
                          <a:solidFill>
                            <a:srgbClr val="1E3652"/>
                          </a:solidFill>
                          <a:latin typeface="Helvetica Neue"/>
                        </a:rPr>
                        <a:t>table:12:setup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950" b="0" i="0">
                          <a:solidFill>
                            <a:srgbClr val="1E3652"/>
                          </a:solidFill>
                          <a:latin typeface="Helvetica Neue"/>
                        </a:rPr>
                        <a:t>not kept in a 12-minute talk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950" b="1" i="0">
                          <a:solidFill>
                            <a:srgbClr val="10233A"/>
                          </a:solidFill>
                          <a:latin typeface="Helvetica Neue"/>
                        </a:rPr>
                        <a:t>c9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950" b="0" i="0">
                          <a:solidFill>
                            <a:srgbClr val="1E3652"/>
                          </a:solidFill>
                          <a:latin typeface="Helvetica Neue"/>
                        </a:rPr>
                        <a:t>analysis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950" b="0" i="0">
                          <a:solidFill>
                            <a:srgbClr val="1E3652"/>
                          </a:solidFill>
                          <a:latin typeface="Helvetica Neue"/>
                        </a:rPr>
                        <a:t>1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950" b="0" i="0">
                          <a:solidFill>
                            <a:srgbClr val="1E3652"/>
                          </a:solidFill>
                          <a:latin typeface="Helvetica Neue"/>
                        </a:rPr>
                        <a:t>dropped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950" b="0" i="0">
                          <a:solidFill>
                            <a:srgbClr val="1E3652"/>
                          </a:solidFill>
                          <a:latin typeface="Helvetica Neue"/>
                        </a:rPr>
                        <a:t>importance:cut2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950" b="0" i="0">
                          <a:solidFill>
                            <a:srgbClr val="1E3652"/>
                          </a:solidFill>
                          <a:latin typeface="Helvetica Neue"/>
                        </a:rPr>
                        <a:t>importance 1 &lt; cutoff 2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868680" y="544068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</a:pPr>
            <a:r>
              <a:rPr sz="1050" b="0" i="0">
                <a:solidFill>
                  <a:srgbClr val="5A6B7C"/>
                </a:solidFill>
                <a:latin typeface="Helvetica Neue"/>
              </a:rPr>
              <a:t>The model appears at two boundaries only: it converts a free-text request into that table, and it extracts claims. The keep/drop decision in between is a lookup, so a second person can re-run it.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37744" cy="6858000"/>
          </a:xfrm>
          <a:prstGeom prst="rect">
            <a:avLst/>
          </a:prstGeom>
          <a:solidFill>
            <a:srgbClr val="10233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37744" y="0"/>
            <a:ext cx="45720" cy="6858000"/>
          </a:xfrm>
          <a:prstGeom prst="rect">
            <a:avLst/>
          </a:prstGeom>
          <a:solidFill>
            <a:srgbClr val="C08A2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384048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950" b="1" i="0">
                <a:solidFill>
                  <a:srgbClr val="C08A2E"/>
                </a:solidFill>
                <a:latin typeface="Helvetica Neue"/>
              </a:rPr>
              <a:t>PART 3  ·  MEASURING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640080"/>
            <a:ext cx="1088136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2500" b="1" i="0">
                <a:solidFill>
                  <a:srgbClr val="10233A"/>
                </a:solidFill>
                <a:latin typeface="Helvetica Neue"/>
              </a:rPr>
              <a:t>Four of six gates exist; two are next</a:t>
            </a:r>
          </a:p>
        </p:txBody>
      </p:sp>
      <p:sp>
        <p:nvSpPr>
          <p:cNvPr id="6" name="Rectangle 5"/>
          <p:cNvSpPr/>
          <p:nvPr/>
        </p:nvSpPr>
        <p:spPr>
          <a:xfrm>
            <a:off x="868680" y="1389888"/>
            <a:ext cx="10881360" cy="12801"/>
          </a:xfrm>
          <a:prstGeom prst="rect">
            <a:avLst/>
          </a:prstGeom>
          <a:solidFill>
            <a:srgbClr val="DDE2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55680" y="635508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</a:pPr>
            <a:r>
              <a:rPr sz="900" b="0" i="0">
                <a:solidFill>
                  <a:srgbClr val="8A99A8"/>
                </a:solidFill>
                <a:latin typeface="Helvetica Neue"/>
              </a:rPr>
              <a:t>08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868680" y="1691640"/>
          <a:ext cx="6949440" cy="26151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"/>
                <a:gridCol w="3017520"/>
                <a:gridCol w="1097280"/>
                <a:gridCol w="1097280"/>
              </a:tblGrid>
              <a:tr h="310896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</a:pPr>
                      <a:r>
                        <a:rPr sz="1000" b="1" i="0">
                          <a:solidFill>
                            <a:srgbClr val="10233A"/>
                          </a:solidFill>
                          <a:latin typeface="Helvetica Neue"/>
                        </a:rPr>
                        <a:t>gate</a:t>
                      </a:r>
                    </a:p>
                  </a:txBody>
                  <a:tcPr marL="73152" marT="36576" marB="36576">
                    <a:solidFill>
                      <a:srgbClr val="ECF1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</a:pPr>
                      <a:r>
                        <a:rPr sz="1000" b="1" i="0">
                          <a:solidFill>
                            <a:srgbClr val="10233A"/>
                          </a:solidFill>
                          <a:latin typeface="Helvetica Neue"/>
                        </a:rPr>
                        <a:t>rule</a:t>
                      </a:r>
                    </a:p>
                  </a:txBody>
                  <a:tcPr marL="73152" marT="36576" marB="36576">
                    <a:solidFill>
                      <a:srgbClr val="ECF1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</a:pPr>
                      <a:r>
                        <a:rPr sz="1000" b="1" i="0">
                          <a:solidFill>
                            <a:srgbClr val="10233A"/>
                          </a:solidFill>
                          <a:latin typeface="Helvetica Neue"/>
                        </a:rPr>
                        <a:t>threshold</a:t>
                      </a:r>
                    </a:p>
                  </a:txBody>
                  <a:tcPr marL="73152" marT="36576" marB="36576">
                    <a:solidFill>
                      <a:srgbClr val="ECF1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</a:pPr>
                      <a:r>
                        <a:rPr sz="1000" b="1" i="0">
                          <a:solidFill>
                            <a:srgbClr val="10233A"/>
                          </a:solidFill>
                          <a:latin typeface="Helvetica Neue"/>
                        </a:rPr>
                        <a:t>state</a:t>
                      </a:r>
                    </a:p>
                  </a:txBody>
                  <a:tcPr marL="73152" marT="36576" marB="36576">
                    <a:solidFill>
                      <a:srgbClr val="ECF1F5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1000" b="1" i="0">
                          <a:solidFill>
                            <a:srgbClr val="10233A"/>
                          </a:solidFill>
                          <a:latin typeface="Helvetica Neue"/>
                        </a:rPr>
                        <a:t>G1 containment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1000" b="0" i="0">
                          <a:solidFill>
                            <a:srgbClr val="1E3652"/>
                          </a:solidFill>
                          <a:latin typeface="Helvetica Neue"/>
                        </a:rPr>
                        <a:t>every shape inside the slide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1000" b="0" i="0">
                          <a:solidFill>
                            <a:srgbClr val="1E3652"/>
                          </a:solidFill>
                          <a:latin typeface="Helvetica Neue"/>
                        </a:rPr>
                        <a:t>0 pt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</a:pPr>
                      <a:r>
                        <a:rPr sz="1000" b="1" i="0">
                          <a:solidFill>
                            <a:srgbClr val="2F7D5D"/>
                          </a:solidFill>
                          <a:latin typeface="Helvetica Neue"/>
                        </a:rPr>
                        <a:t>built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1000" b="1" i="0">
                          <a:solidFill>
                            <a:srgbClr val="10233A"/>
                          </a:solidFill>
                          <a:latin typeface="Helvetica Neue"/>
                        </a:rPr>
                        <a:t>G2 overlap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1000" b="0" i="0">
                          <a:solidFill>
                            <a:srgbClr val="1E3652"/>
                          </a:solidFill>
                          <a:latin typeface="Helvetica Neue"/>
                        </a:rPr>
                        <a:t>text intersection over the smaller box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1000" b="0" i="0">
                          <a:solidFill>
                            <a:srgbClr val="1E3652"/>
                          </a:solidFill>
                          <a:latin typeface="Helvetica Neue"/>
                        </a:rPr>
                        <a:t>&gt; 5 %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</a:pPr>
                      <a:r>
                        <a:rPr sz="1000" b="1" i="0">
                          <a:solidFill>
                            <a:srgbClr val="2F7D5D"/>
                          </a:solidFill>
                          <a:latin typeface="Helvetica Neue"/>
                        </a:rPr>
                        <a:t>built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1000" b="1" i="0">
                          <a:solidFill>
                            <a:srgbClr val="10233A"/>
                          </a:solidFill>
                          <a:latin typeface="Helvetica Neue"/>
                        </a:rPr>
                        <a:t>G3 font size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1000" b="0" i="0">
                          <a:solidFill>
                            <a:srgbClr val="1E3652"/>
                          </a:solidFill>
                          <a:latin typeface="Helvetica Neue"/>
                        </a:rPr>
                        <a:t>body and title, by slide role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1000" b="0" i="0">
                          <a:solidFill>
                            <a:srgbClr val="1E3652"/>
                          </a:solidFill>
                          <a:latin typeface="Helvetica Neue"/>
                        </a:rPr>
                        <a:t>role min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</a:pPr>
                      <a:r>
                        <a:rPr sz="1000" b="1" i="0">
                          <a:solidFill>
                            <a:srgbClr val="B07A1E"/>
                          </a:solidFill>
                          <a:latin typeface="Helvetica Neue"/>
                        </a:rPr>
                        <a:t>built (global)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1000" b="1" i="0">
                          <a:solidFill>
                            <a:srgbClr val="10233A"/>
                          </a:solidFill>
                          <a:latin typeface="Helvetica Neue"/>
                        </a:rPr>
                        <a:t>G6 density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1000" b="0" i="0">
                          <a:solidFill>
                            <a:srgbClr val="1E3652"/>
                          </a:solidFill>
                          <a:latin typeface="Helvetica Neue"/>
                        </a:rPr>
                        <a:t>characters and bullets, by role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1000" b="0" i="0">
                          <a:solidFill>
                            <a:srgbClr val="1E3652"/>
                          </a:solidFill>
                          <a:latin typeface="Helvetica Neue"/>
                        </a:rPr>
                        <a:t>role max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</a:pPr>
                      <a:r>
                        <a:rPr sz="1000" b="1" i="0">
                          <a:solidFill>
                            <a:srgbClr val="B07A1E"/>
                          </a:solidFill>
                          <a:latin typeface="Helvetica Neue"/>
                        </a:rPr>
                        <a:t>built (global)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1000" b="1" i="0">
                          <a:solidFill>
                            <a:srgbClr val="10233A"/>
                          </a:solidFill>
                          <a:latin typeface="Helvetica Neue"/>
                        </a:rPr>
                        <a:t>G4 contrast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1000" b="0" i="0">
                          <a:solidFill>
                            <a:srgbClr val="1E3652"/>
                          </a:solidFill>
                          <a:latin typeface="Helvetica Neue"/>
                        </a:rPr>
                        <a:t>WCAG 2.2 AA, fill against background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1000" b="0" i="0">
                          <a:solidFill>
                            <a:srgbClr val="1E3652"/>
                          </a:solidFill>
                          <a:latin typeface="Helvetica Neue"/>
                        </a:rPr>
                        <a:t>4.5 : 1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</a:pPr>
                      <a:r>
                        <a:rPr sz="1000" b="1" i="0">
                          <a:solidFill>
                            <a:srgbClr val="A83542"/>
                          </a:solidFill>
                          <a:latin typeface="Helvetica Neue"/>
                        </a:rPr>
                        <a:t>next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1000" b="1" i="0">
                          <a:solidFill>
                            <a:srgbClr val="10233A"/>
                          </a:solidFill>
                          <a:latin typeface="Helvetica Neue"/>
                        </a:rPr>
                        <a:t>G5 text fit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1000" b="0" i="0">
                          <a:solidFill>
                            <a:srgbClr val="1E3652"/>
                          </a:solidFill>
                          <a:latin typeface="Helvetica Neue"/>
                        </a:rPr>
                        <a:t>rendered height over box height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1000" b="0" i="0">
                          <a:solidFill>
                            <a:srgbClr val="1E3652"/>
                          </a:solidFill>
                          <a:latin typeface="Helvetica Neue"/>
                        </a:rPr>
                        <a:t>&lt;= 0.95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</a:pPr>
                      <a:r>
                        <a:rPr sz="1000" b="1" i="0">
                          <a:solidFill>
                            <a:srgbClr val="A83542"/>
                          </a:solidFill>
                          <a:latin typeface="Helvetica Neue"/>
                        </a:rPr>
                        <a:t>next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8092440" y="1691640"/>
            <a:ext cx="3611880" cy="141732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21040" y="1847088"/>
            <a:ext cx="32004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600" b="1" i="0">
                <a:solidFill>
                  <a:srgbClr val="10233A"/>
                </a:solidFill>
                <a:latin typeface="Helvetica Neue"/>
              </a:rPr>
              <a:t>SRR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000" b="0" i="0">
                <a:solidFill>
                  <a:srgbClr val="1E3652"/>
                </a:solidFill>
                <a:latin typeface="Helvetica Neue"/>
              </a:rPr>
              <a:t>Equal-weight pass rate over decidable checks. No gate weight is fitted; unknown checks leave the average but block deck-ready.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092440" y="3291840"/>
            <a:ext cx="3611880" cy="141732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21040" y="3447288"/>
            <a:ext cx="32004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300" b="1" i="0">
                <a:solidFill>
                  <a:srgbClr val="10233A"/>
                </a:solidFill>
                <a:latin typeface="Helvetica Neue"/>
              </a:rPr>
              <a:t>Why no weights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000" b="0" i="0">
                <a:solidFill>
                  <a:srgbClr val="1E3652"/>
                </a:solidFill>
                <a:latin typeface="Helvetica Neue"/>
              </a:rPr>
              <a:t>A weight would be a number with no evidence behind it - the same objection the report makes to the 24-point rule.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4892040"/>
            <a:ext cx="108813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</a:pPr>
            <a:r>
              <a:rPr sz="1050" b="0" i="0">
                <a:solidFill>
                  <a:srgbClr val="5A6B7C"/>
                </a:solidFill>
                <a:latin typeface="Helvetica Neue"/>
              </a:rPr>
              <a:t>G4 and G5 are the two that need real resolution: colour has to be resolved through the theme and z-order, and text height has to be estimated from font metrics. Both are scheduled before the loop is built, because a metric that cannot be trusted cannot be the signal.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37744" cy="6858000"/>
          </a:xfrm>
          <a:prstGeom prst="rect">
            <a:avLst/>
          </a:prstGeom>
          <a:solidFill>
            <a:srgbClr val="10233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37744" y="0"/>
            <a:ext cx="45720" cy="6858000"/>
          </a:xfrm>
          <a:prstGeom prst="rect">
            <a:avLst/>
          </a:prstGeom>
          <a:solidFill>
            <a:srgbClr val="C08A2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384048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950" b="1" i="0">
                <a:solidFill>
                  <a:srgbClr val="C08A2E"/>
                </a:solidFill>
                <a:latin typeface="Helvetica Neue"/>
              </a:rPr>
              <a:t>RESULTS SO FAR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640080"/>
            <a:ext cx="1088136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2500" b="1" i="0">
                <a:solidFill>
                  <a:srgbClr val="10233A"/>
                </a:solidFill>
                <a:latin typeface="Helvetica Neue"/>
              </a:rPr>
              <a:t>Every generated slide fails at least one gate</a:t>
            </a:r>
          </a:p>
        </p:txBody>
      </p:sp>
      <p:sp>
        <p:nvSpPr>
          <p:cNvPr id="6" name="Rectangle 5"/>
          <p:cNvSpPr/>
          <p:nvPr/>
        </p:nvSpPr>
        <p:spPr>
          <a:xfrm>
            <a:off x="868680" y="1389888"/>
            <a:ext cx="10881360" cy="12801"/>
          </a:xfrm>
          <a:prstGeom prst="rect">
            <a:avLst/>
          </a:prstGeom>
          <a:solidFill>
            <a:srgbClr val="DDE2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55680" y="635508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</a:pPr>
            <a:r>
              <a:rPr sz="900" b="0" i="0">
                <a:solidFill>
                  <a:srgbClr val="8A99A8"/>
                </a:solidFill>
                <a:latin typeface="Helvetica Neue"/>
              </a:rPr>
              <a:t>09</a:t>
            </a:r>
          </a:p>
        </p:txBody>
      </p:sp>
      <p:pic>
        <p:nvPicPr>
          <p:cNvPr id="8" name="Picture 7" descr="slide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1645920"/>
            <a:ext cx="6263640" cy="352329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868680" y="5257800"/>
            <a:ext cx="6263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850" b="0" i="1">
                <a:solidFill>
                  <a:srgbClr val="5A6B7C"/>
                </a:solidFill>
                <a:latin typeface="Helvetica Neue"/>
              </a:rPr>
              <a:t>Slide 2 of the generated deck: figure placed, caption under it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7452360" y="1664208"/>
          <a:ext cx="4160519" cy="212140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74519"/>
                <a:gridCol w="1143000"/>
                <a:gridCol w="1143000"/>
              </a:tblGrid>
              <a:tr h="310896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</a:pPr>
                      <a:r>
                        <a:rPr sz="950" b="1" i="0">
                          <a:solidFill>
                            <a:srgbClr val="10233A"/>
                          </a:solidFill>
                          <a:latin typeface="Helvetica Neue"/>
                        </a:rPr>
                        <a:t/>
                      </a:r>
                    </a:p>
                  </a:txBody>
                  <a:tcPr marL="73152" marT="36576" marB="36576">
                    <a:solidFill>
                      <a:srgbClr val="ECF1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</a:pPr>
                      <a:r>
                        <a:rPr sz="950" b="1" i="0">
                          <a:solidFill>
                            <a:srgbClr val="10233A"/>
                          </a:solidFill>
                          <a:latin typeface="Helvetica Neue"/>
                        </a:rPr>
                        <a:t>PPTAgent</a:t>
                      </a:r>
                    </a:p>
                  </a:txBody>
                  <a:tcPr marL="73152" marT="36576" marB="36576">
                    <a:solidFill>
                      <a:srgbClr val="ECF1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</a:pPr>
                      <a:r>
                        <a:rPr sz="950" b="1" i="0">
                          <a:solidFill>
                            <a:srgbClr val="10233A"/>
                          </a:solidFill>
                          <a:latin typeface="Helvetica Neue"/>
                        </a:rPr>
                        <a:t>DOC2PPT</a:t>
                      </a:r>
                    </a:p>
                  </a:txBody>
                  <a:tcPr marL="73152" marT="36576" marB="36576">
                    <a:solidFill>
                      <a:srgbClr val="ECF1F5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1000" b="1" i="0">
                          <a:solidFill>
                            <a:srgbClr val="10233A"/>
                          </a:solidFill>
                          <a:latin typeface="Helvetica Neue"/>
                        </a:rPr>
                        <a:t>slides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1000" b="0" i="0">
                          <a:solidFill>
                            <a:srgbClr val="1E3652"/>
                          </a:solidFill>
                          <a:latin typeface="Helvetica Neue"/>
                        </a:rPr>
                        <a:t>9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1000" b="0" i="0">
                          <a:solidFill>
                            <a:srgbClr val="1E3652"/>
                          </a:solidFill>
                          <a:latin typeface="Helvetica Neue"/>
                        </a:rPr>
                        <a:t>9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1000" b="1" i="0">
                          <a:solidFill>
                            <a:srgbClr val="10233A"/>
                          </a:solidFill>
                          <a:latin typeface="Helvetica Neue"/>
                        </a:rPr>
                        <a:t>clean slides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1000" b="0" i="0">
                          <a:solidFill>
                            <a:srgbClr val="1E3652"/>
                          </a:solidFill>
                          <a:latin typeface="Helvetica Neue"/>
                        </a:rPr>
                        <a:t>0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1000" b="0" i="0">
                          <a:solidFill>
                            <a:srgbClr val="1E3652"/>
                          </a:solidFill>
                          <a:latin typeface="Helvetica Neue"/>
                        </a:rPr>
                        <a:t>0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1000" b="1" i="0">
                          <a:solidFill>
                            <a:srgbClr val="10233A"/>
                          </a:solidFill>
                          <a:latin typeface="Helvetica Neue"/>
                        </a:rPr>
                        <a:t>SRR (slide-level)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1000" b="0" i="0">
                          <a:solidFill>
                            <a:srgbClr val="1E3652"/>
                          </a:solidFill>
                          <a:latin typeface="Helvetica Neue"/>
                        </a:rPr>
                        <a:t>0.00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1000" b="0" i="0">
                          <a:solidFill>
                            <a:srgbClr val="1E3652"/>
                          </a:solidFill>
                          <a:latin typeface="Helvetica Neue"/>
                        </a:rPr>
                        <a:t>0.00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1000" b="1" i="0">
                          <a:solidFill>
                            <a:srgbClr val="10233A"/>
                          </a:solidFill>
                          <a:latin typeface="Helvetica Neue"/>
                        </a:rPr>
                        <a:t>violations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1000" b="0" i="0">
                          <a:solidFill>
                            <a:srgbClr val="1E3652"/>
                          </a:solidFill>
                          <a:latin typeface="Helvetica Neue"/>
                        </a:rPr>
                        <a:t>33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1000" b="0" i="0">
                          <a:solidFill>
                            <a:srgbClr val="1E3652"/>
                          </a:solidFill>
                          <a:latin typeface="Helvetica Neue"/>
                        </a:rPr>
                        <a:t>32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1000" b="1" i="0">
                          <a:solidFill>
                            <a:srgbClr val="10233A"/>
                          </a:solidFill>
                          <a:latin typeface="Helvetica Neue"/>
                        </a:rPr>
                        <a:t>slides failing G3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1000" b="0" i="0">
                          <a:solidFill>
                            <a:srgbClr val="1E3652"/>
                          </a:solidFill>
                          <a:latin typeface="Helvetica Neue"/>
                        </a:rPr>
                        <a:t>9 / 9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1000" b="0" i="0">
                          <a:solidFill>
                            <a:srgbClr val="1E3652"/>
                          </a:solidFill>
                          <a:latin typeface="Helvetica Neue"/>
                        </a:rPr>
                        <a:t>9 / 9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1000" b="1" i="0">
                          <a:solidFill>
                            <a:srgbClr val="10233A"/>
                          </a:solidFill>
                          <a:latin typeface="Helvetica Neue"/>
                        </a:rPr>
                        <a:t>slides failing G6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1000" b="0" i="0">
                          <a:solidFill>
                            <a:srgbClr val="1E3652"/>
                          </a:solidFill>
                          <a:latin typeface="Helvetica Neue"/>
                        </a:rPr>
                        <a:t>8 / 9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1000" b="0" i="0">
                          <a:solidFill>
                            <a:srgbClr val="1E3652"/>
                          </a:solidFill>
                          <a:latin typeface="Helvetica Neue"/>
                        </a:rPr>
                        <a:t>8 / 9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7452360" y="4224528"/>
            <a:ext cx="420624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</a:pPr>
            <a:r>
              <a:rPr sz="1000" b="0" i="0">
                <a:solidFill>
                  <a:srgbClr val="1E3652"/>
                </a:solidFill>
                <a:latin typeface="Helvetica Neue"/>
              </a:rPr>
              <a:t>This is the expected result, not a defect: the baseline generator ignores every gate. What matters is that the number is reproducible and the violations are named.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37744" cy="6858000"/>
          </a:xfrm>
          <a:prstGeom prst="rect">
            <a:avLst/>
          </a:prstGeom>
          <a:solidFill>
            <a:srgbClr val="10233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37744" y="0"/>
            <a:ext cx="45720" cy="6858000"/>
          </a:xfrm>
          <a:prstGeom prst="rect">
            <a:avLst/>
          </a:prstGeom>
          <a:solidFill>
            <a:srgbClr val="C08A2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384048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950" b="1" i="0">
                <a:solidFill>
                  <a:srgbClr val="C08A2E"/>
                </a:solidFill>
                <a:latin typeface="Helvetica Neue"/>
              </a:rPr>
              <a:t>STATUS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640080"/>
            <a:ext cx="1088136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2500" b="1" i="0">
                <a:solidFill>
                  <a:srgbClr val="10233A"/>
                </a:solidFill>
                <a:latin typeface="Helvetica Neue"/>
              </a:rPr>
              <a:t>What is built, what is next</a:t>
            </a:r>
          </a:p>
        </p:txBody>
      </p:sp>
      <p:sp>
        <p:nvSpPr>
          <p:cNvPr id="6" name="Rectangle 5"/>
          <p:cNvSpPr/>
          <p:nvPr/>
        </p:nvSpPr>
        <p:spPr>
          <a:xfrm>
            <a:off x="868680" y="1389888"/>
            <a:ext cx="10881360" cy="12801"/>
          </a:xfrm>
          <a:prstGeom prst="rect">
            <a:avLst/>
          </a:prstGeom>
          <a:solidFill>
            <a:srgbClr val="DDE2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55680" y="635508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</a:pPr>
            <a:r>
              <a:rPr sz="900" b="0" i="0">
                <a:solidFill>
                  <a:srgbClr val="8A99A8"/>
                </a:solidFill>
                <a:latin typeface="Helvetica Neue"/>
              </a:rPr>
              <a:t>10</a:t>
            </a:r>
          </a:p>
        </p:txBody>
      </p:sp>
      <p:sp>
        <p:nvSpPr>
          <p:cNvPr id="8" name="Rectangle 7"/>
          <p:cNvSpPr/>
          <p:nvPr/>
        </p:nvSpPr>
        <p:spPr>
          <a:xfrm>
            <a:off x="868680" y="1691640"/>
            <a:ext cx="3520440" cy="292608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68680" y="1691640"/>
            <a:ext cx="3520440" cy="50292"/>
          </a:xfrm>
          <a:prstGeom prst="rect">
            <a:avLst/>
          </a:prstGeom>
          <a:solidFill>
            <a:srgbClr val="2F7D5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97280" y="1874519"/>
            <a:ext cx="3108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250" b="1" i="0">
                <a:solidFill>
                  <a:srgbClr val="10233A"/>
                </a:solidFill>
                <a:latin typeface="Helvetica Neue"/>
              </a:rPr>
              <a:t>Built and tested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2331720"/>
            <a:ext cx="3154680" cy="2834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</a:pPr>
            <a:r>
              <a:rPr sz="950" b="0" i="0">
                <a:solidFill>
                  <a:srgbClr val="1E3652"/>
                </a:solidFill>
                <a:latin typeface="Helvetica Neue"/>
              </a:rPr>
              <a:t>-  parse: sections, figures, captions</a:t>
            </a:r>
          </a:p>
          <a:p>
            <a:pPr algn="l">
              <a:lnSpc>
                <a:spcPct val="125000"/>
              </a:lnSpc>
              <a:spcBef>
                <a:spcPts val="700"/>
              </a:spcBef>
            </a:pPr>
            <a:r>
              <a:rPr sz="950" b="0" i="0">
                <a:solidFill>
                  <a:srgbClr val="1E3652"/>
                </a:solidFill>
                <a:latin typeface="Helvetica Neue"/>
              </a:rPr>
              <a:t>-  figure clipping, 12/32 on the sample</a:t>
            </a:r>
          </a:p>
          <a:p>
            <a:pPr algn="l">
              <a:lnSpc>
                <a:spcPct val="125000"/>
              </a:lnSpc>
              <a:spcBef>
                <a:spcPts val="700"/>
              </a:spcBef>
            </a:pPr>
            <a:r>
              <a:rPr sz="950" b="0" i="0">
                <a:solidFill>
                  <a:srgbClr val="1E3652"/>
                </a:solidFill>
                <a:latin typeface="Helvetica Neue"/>
              </a:rPr>
              <a:t>-  render: native .pptx with speaker notes</a:t>
            </a:r>
          </a:p>
          <a:p>
            <a:pPr algn="l">
              <a:lnSpc>
                <a:spcPct val="125000"/>
              </a:lnSpc>
              <a:spcBef>
                <a:spcPts val="700"/>
              </a:spcBef>
            </a:pPr>
            <a:r>
              <a:rPr sz="950" b="0" i="0">
                <a:solidFill>
                  <a:srgbClr val="1E3652"/>
                </a:solidFill>
                <a:latin typeface="Helvetica Neue"/>
              </a:rPr>
              <a:t>-  G1, G2, G3, G6 + SRR</a:t>
            </a:r>
          </a:p>
          <a:p>
            <a:pPr algn="l">
              <a:lnSpc>
                <a:spcPct val="125000"/>
              </a:lnSpc>
              <a:spcBef>
                <a:spcPts val="700"/>
              </a:spcBef>
            </a:pPr>
            <a:r>
              <a:rPr sz="950" b="0" i="0">
                <a:solidFill>
                  <a:srgbClr val="1E3652"/>
                </a:solidFill>
                <a:latin typeface="Helvetica Neue"/>
              </a:rPr>
              <a:t>-  selection rule table, 55 test functions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53712" y="1691640"/>
            <a:ext cx="3520440" cy="292608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553712" y="1691640"/>
            <a:ext cx="3520440" cy="50292"/>
          </a:xfrm>
          <a:prstGeom prst="rect">
            <a:avLst/>
          </a:prstGeom>
          <a:solidFill>
            <a:srgbClr val="B07A1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782312" y="1874519"/>
            <a:ext cx="3108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250" b="1" i="0">
                <a:solidFill>
                  <a:srgbClr val="10233A"/>
                </a:solidFill>
                <a:latin typeface="Helvetica Neue"/>
              </a:rPr>
              <a:t>Partially built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82312" y="2331720"/>
            <a:ext cx="3154680" cy="2834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</a:pPr>
            <a:r>
              <a:rPr sz="950" b="0" i="0">
                <a:solidFill>
                  <a:srgbClr val="1E3652"/>
                </a:solidFill>
                <a:latin typeface="Helvetica Neue"/>
              </a:rPr>
              <a:t>-  G3 / G6 still use one global threshold</a:t>
            </a:r>
          </a:p>
          <a:p>
            <a:pPr algn="l">
              <a:lnSpc>
                <a:spcPct val="125000"/>
              </a:lnSpc>
              <a:spcBef>
                <a:spcPts val="700"/>
              </a:spcBef>
            </a:pPr>
            <a:r>
              <a:rPr sz="950" b="0" i="0">
                <a:solidFill>
                  <a:srgbClr val="1E3652"/>
                </a:solidFill>
                <a:latin typeface="Helvetica Neue"/>
              </a:rPr>
              <a:t>-  figure captions need a word-boundary trim</a:t>
            </a:r>
          </a:p>
          <a:p>
            <a:pPr algn="l">
              <a:lnSpc>
                <a:spcPct val="125000"/>
              </a:lnSpc>
              <a:spcBef>
                <a:spcPts val="700"/>
              </a:spcBef>
            </a:pPr>
            <a:r>
              <a:rPr sz="950" b="0" i="0">
                <a:solidFill>
                  <a:srgbClr val="1E3652"/>
                </a:solidFill>
                <a:latin typeface="Helvetica Neue"/>
              </a:rPr>
              <a:t>-  claims are still extracted by heuristic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38744" y="1691640"/>
            <a:ext cx="3520440" cy="292608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238744" y="1691640"/>
            <a:ext cx="3520440" cy="50292"/>
          </a:xfrm>
          <a:prstGeom prst="rect">
            <a:avLst/>
          </a:prstGeom>
          <a:solidFill>
            <a:srgbClr val="5A6B7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67344" y="1874519"/>
            <a:ext cx="3108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250" b="1" i="0">
                <a:solidFill>
                  <a:srgbClr val="10233A"/>
                </a:solidFill>
                <a:latin typeface="Helvetica Neue"/>
              </a:rPr>
              <a:t>Not started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67344" y="2331720"/>
            <a:ext cx="3154680" cy="2834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</a:pPr>
            <a:r>
              <a:rPr sz="950" b="0" i="0">
                <a:solidFill>
                  <a:srgbClr val="1E3652"/>
                </a:solidFill>
                <a:latin typeface="Helvetica Neue"/>
              </a:rPr>
              <a:t>-  G4 contrast, G5 text fit</a:t>
            </a:r>
          </a:p>
          <a:p>
            <a:pPr algn="l">
              <a:lnSpc>
                <a:spcPct val="125000"/>
              </a:lnSpc>
              <a:spcBef>
                <a:spcPts val="700"/>
              </a:spcBef>
            </a:pPr>
            <a:r>
              <a:rPr sz="950" b="0" i="0">
                <a:solidFill>
                  <a:srgbClr val="1E3652"/>
                </a:solidFill>
                <a:latin typeface="Helvetica Neue"/>
              </a:rPr>
              <a:t>-  repair actions and the loop</a:t>
            </a:r>
          </a:p>
          <a:p>
            <a:pPr algn="l">
              <a:lnSpc>
                <a:spcPct val="125000"/>
              </a:lnSpc>
              <a:spcBef>
                <a:spcPts val="700"/>
              </a:spcBef>
            </a:pPr>
            <a:r>
              <a:rPr sz="950" b="0" i="0">
                <a:solidFill>
                  <a:srgbClr val="1E3652"/>
                </a:solidFill>
                <a:latin typeface="Helvetica Neue"/>
              </a:rPr>
              <a:t>-  110-slide test set and its labels</a:t>
            </a:r>
          </a:p>
          <a:p>
            <a:pPr algn="l">
              <a:lnSpc>
                <a:spcPct val="125000"/>
              </a:lnSpc>
              <a:spcBef>
                <a:spcPts val="700"/>
              </a:spcBef>
            </a:pPr>
            <a:r>
              <a:rPr sz="950" b="0" i="0">
                <a:solidFill>
                  <a:srgbClr val="1E3652"/>
                </a:solidFill>
                <a:latin typeface="Helvetica Neue"/>
              </a:rPr>
              <a:t>-  human decks, baselines, the 2x2 experiment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" y="4937760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050" b="0" i="1">
                <a:solidFill>
                  <a:srgbClr val="5A6B7C"/>
                </a:solidFill>
                <a:latin typeface="Helvetica Neue"/>
              </a:rPr>
              <a:t>76 test cases pass. The deck above was produced by this pipeline end to end.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37744" cy="6858000"/>
          </a:xfrm>
          <a:prstGeom prst="rect">
            <a:avLst/>
          </a:prstGeom>
          <a:solidFill>
            <a:srgbClr val="10233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37744" y="0"/>
            <a:ext cx="45720" cy="6858000"/>
          </a:xfrm>
          <a:prstGeom prst="rect">
            <a:avLst/>
          </a:prstGeom>
          <a:solidFill>
            <a:srgbClr val="C08A2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384048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950" b="1" i="0">
                <a:solidFill>
                  <a:srgbClr val="C08A2E"/>
                </a:solidFill>
                <a:latin typeface="Helvetica Neue"/>
              </a:rPr>
              <a:t>PLAN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640080"/>
            <a:ext cx="1088136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2500" b="1" i="0">
                <a:solidFill>
                  <a:srgbClr val="10233A"/>
                </a:solidFill>
                <a:latin typeface="Helvetica Neue"/>
              </a:rPr>
              <a:t>The experiment, and the calendar</a:t>
            </a:r>
          </a:p>
        </p:txBody>
      </p:sp>
      <p:sp>
        <p:nvSpPr>
          <p:cNvPr id="6" name="Rectangle 5"/>
          <p:cNvSpPr/>
          <p:nvPr/>
        </p:nvSpPr>
        <p:spPr>
          <a:xfrm>
            <a:off x="868680" y="1389888"/>
            <a:ext cx="10881360" cy="12801"/>
          </a:xfrm>
          <a:prstGeom prst="rect">
            <a:avLst/>
          </a:prstGeom>
          <a:solidFill>
            <a:srgbClr val="DDE2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55680" y="635508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</a:pPr>
            <a:r>
              <a:rPr sz="900" b="0" i="0">
                <a:solidFill>
                  <a:srgbClr val="8A99A8"/>
                </a:solidFill>
                <a:latin typeface="Helvetica Neue"/>
              </a:rPr>
              <a:t>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1645920"/>
            <a:ext cx="5120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250" b="1" i="0">
                <a:solidFill>
                  <a:srgbClr val="10233A"/>
                </a:solidFill>
                <a:latin typeface="Helvetica Neue"/>
              </a:rPr>
              <a:t>The design: a 2 x 2 factor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868680" y="2011680"/>
          <a:ext cx="4937760" cy="11338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"/>
                <a:gridCol w="1600200"/>
                <a:gridCol w="1600200"/>
              </a:tblGrid>
              <a:tr h="310896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</a:pPr>
                      <a:r>
                        <a:rPr sz="950" b="1" i="0">
                          <a:solidFill>
                            <a:srgbClr val="10233A"/>
                          </a:solidFill>
                          <a:latin typeface="Helvetica Neue"/>
                        </a:rPr>
                        <a:t/>
                      </a:r>
                    </a:p>
                  </a:txBody>
                  <a:tcPr marL="73152" marT="36576" marB="36576">
                    <a:solidFill>
                      <a:srgbClr val="ECF1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</a:pPr>
                      <a:r>
                        <a:rPr sz="950" b="1" i="0">
                          <a:solidFill>
                            <a:srgbClr val="10233A"/>
                          </a:solidFill>
                          <a:latin typeface="Helvetica Neue"/>
                        </a:rPr>
                        <a:t>no inspection</a:t>
                      </a:r>
                    </a:p>
                  </a:txBody>
                  <a:tcPr marL="73152" marT="36576" marB="36576">
                    <a:solidFill>
                      <a:srgbClr val="ECF1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</a:pPr>
                      <a:r>
                        <a:rPr sz="950" b="1" i="0">
                          <a:solidFill>
                            <a:srgbClr val="10233A"/>
                          </a:solidFill>
                          <a:latin typeface="Helvetica Neue"/>
                        </a:rPr>
                        <a:t>inspection on</a:t>
                      </a:r>
                    </a:p>
                  </a:txBody>
                  <a:tcPr marL="73152" marT="36576" marB="36576">
                    <a:solidFill>
                      <a:srgbClr val="ECF1F5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1100" b="1" i="0">
                          <a:solidFill>
                            <a:srgbClr val="10233A"/>
                          </a:solidFill>
                          <a:latin typeface="Helvetica Neue"/>
                        </a:rPr>
                        <a:t>base model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1100" b="0" i="0">
                          <a:solidFill>
                            <a:srgbClr val="1E3652"/>
                          </a:solidFill>
                          <a:latin typeface="Helvetica Neue"/>
                        </a:rPr>
                        <a:t>A1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1100" b="0" i="0">
                          <a:solidFill>
                            <a:srgbClr val="1E3652"/>
                          </a:solidFill>
                          <a:latin typeface="Helvetica Neue"/>
                        </a:rPr>
                        <a:t>A2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1100" b="1" i="0">
                          <a:solidFill>
                            <a:srgbClr val="10233A"/>
                          </a:solidFill>
                          <a:latin typeface="Helvetica Neue"/>
                        </a:rPr>
                        <a:t>fine-tuned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1100" b="0" i="0">
                          <a:solidFill>
                            <a:srgbClr val="1E3652"/>
                          </a:solidFill>
                          <a:latin typeface="Helvetica Neue"/>
                        </a:rPr>
                        <a:t>A1'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1100" b="0" i="0">
                          <a:solidFill>
                            <a:srgbClr val="1E3652"/>
                          </a:solidFill>
                          <a:latin typeface="Helvetica Neue"/>
                        </a:rPr>
                        <a:t>A2'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868680" y="3154680"/>
            <a:ext cx="5029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</a:pPr>
            <a:r>
              <a:rPr sz="1050" b="0" i="0">
                <a:solidFill>
                  <a:srgbClr val="1E3652"/>
                </a:solidFill>
                <a:latin typeface="Helvetica Neue"/>
              </a:rPr>
              <a:t>A2 - A1 isolates what inspection adds. The fine-tuned row tests whether that gain survives a better generator.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000" b="0" i="1">
                <a:solidFill>
                  <a:srgbClr val="5A6B7C"/>
                </a:solidFill>
                <a:latin typeface="Helvetica Neue"/>
              </a:rPr>
              <a:t>The fine-tuned arm is conditional: it runs only if the main result is in and four weeks of buffer remain.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6263640" y="2011680"/>
          <a:ext cx="5486400" cy="21396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51560"/>
                <a:gridCol w="2743200"/>
                <a:gridCol w="1691640"/>
              </a:tblGrid>
              <a:tr h="310896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</a:pPr>
                      <a:r>
                        <a:rPr sz="950" b="1" i="0">
                          <a:solidFill>
                            <a:srgbClr val="10233A"/>
                          </a:solidFill>
                          <a:latin typeface="Helvetica Neue"/>
                        </a:rPr>
                        <a:t>weeks</a:t>
                      </a:r>
                    </a:p>
                  </a:txBody>
                  <a:tcPr marL="73152" marT="36576" marB="36576">
                    <a:solidFill>
                      <a:srgbClr val="ECF1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</a:pPr>
                      <a:r>
                        <a:rPr sz="950" b="1" i="0">
                          <a:solidFill>
                            <a:srgbClr val="10233A"/>
                          </a:solidFill>
                          <a:latin typeface="Helvetica Neue"/>
                        </a:rPr>
                        <a:t>work</a:t>
                      </a:r>
                    </a:p>
                  </a:txBody>
                  <a:tcPr marL="73152" marT="36576" marB="36576">
                    <a:solidFill>
                      <a:srgbClr val="ECF1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</a:pPr>
                      <a:r>
                        <a:rPr sz="950" b="1" i="0">
                          <a:solidFill>
                            <a:srgbClr val="10233A"/>
                          </a:solidFill>
                          <a:latin typeface="Helvetica Neue"/>
                        </a:rPr>
                        <a:t>milestone</a:t>
                      </a:r>
                    </a:p>
                  </a:txBody>
                  <a:tcPr marL="73152" marT="36576" marB="36576">
                    <a:solidFill>
                      <a:srgbClr val="ECF1F5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950" b="1" i="0">
                          <a:solidFill>
                            <a:srgbClr val="10233A"/>
                          </a:solidFill>
                          <a:latin typeface="Helvetica Neue"/>
                        </a:rPr>
                        <a:t>W1-2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950" b="0" i="0">
                          <a:solidFill>
                            <a:srgbClr val="1E3652"/>
                          </a:solidFill>
                          <a:latin typeface="Helvetica Neue"/>
                        </a:rPr>
                        <a:t>scope and literature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950" b="0" i="0">
                          <a:solidFill>
                            <a:srgbClr val="1E3652"/>
                          </a:solidFill>
                          <a:latin typeface="Helvetica Neue"/>
                        </a:rPr>
                        <a:t>proposal, 5 Nov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950" b="1" i="0">
                          <a:solidFill>
                            <a:srgbClr val="10233A"/>
                          </a:solidFill>
                          <a:latin typeface="Helvetica Neue"/>
                        </a:rPr>
                        <a:t>W3-7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950" b="0" i="0">
                          <a:solidFill>
                            <a:srgbClr val="1E3652"/>
                          </a:solidFill>
                          <a:latin typeface="Helvetica Neue"/>
                        </a:rPr>
                        <a:t>rulebook, six gates, calibration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950" b="0" i="0">
                          <a:solidFill>
                            <a:srgbClr val="1E3652"/>
                          </a:solidFill>
                          <a:latin typeface="Helvetica Neue"/>
                        </a:rPr>
                        <a:t>validity check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950" b="1" i="0">
                          <a:solidFill>
                            <a:srgbClr val="10233A"/>
                          </a:solidFill>
                          <a:latin typeface="Helvetica Neue"/>
                        </a:rPr>
                        <a:t>W8-11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950" b="0" i="0">
                          <a:solidFill>
                            <a:srgbClr val="1E3652"/>
                          </a:solidFill>
                          <a:latin typeface="Helvetica Neue"/>
                        </a:rPr>
                        <a:t>repair actions, 110-slide test set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950" b="0" i="0">
                          <a:solidFill>
                            <a:srgbClr val="1E3652"/>
                          </a:solidFill>
                          <a:latin typeface="Helvetica Neue"/>
                        </a:rPr>
                        <a:t>interim report, 7 Jan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950" b="1" i="0">
                          <a:solidFill>
                            <a:srgbClr val="10233A"/>
                          </a:solidFill>
                          <a:latin typeface="Helvetica Neue"/>
                        </a:rPr>
                        <a:t>W12-18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950" b="0" i="0">
                          <a:solidFill>
                            <a:srgbClr val="1E3652"/>
                          </a:solidFill>
                          <a:latin typeface="Helvetica Neue"/>
                        </a:rPr>
                        <a:t>loop, ablation, 20-person study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950" b="0" i="0">
                          <a:solidFill>
                            <a:srgbClr val="1E3652"/>
                          </a:solidFill>
                          <a:latin typeface="Helvetica Neue"/>
                        </a:rPr>
                        <a:t>preference correlation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950" b="1" i="0">
                          <a:solidFill>
                            <a:srgbClr val="10233A"/>
                          </a:solidFill>
                          <a:latin typeface="Helvetica Neue"/>
                        </a:rPr>
                        <a:t>W19-23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950" b="0" i="0">
                          <a:solidFill>
                            <a:srgbClr val="1E3652"/>
                          </a:solidFill>
                          <a:latin typeface="Helvetica Neue"/>
                        </a:rPr>
                        <a:t>report, demo, presentation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950" b="0" i="0">
                          <a:solidFill>
                            <a:srgbClr val="1E3652"/>
                          </a:solidFill>
                          <a:latin typeface="Helvetica Neue"/>
                        </a:rPr>
                        <a:t>final, 8 Apr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6263640" y="4617720"/>
            <a:ext cx="548640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</a:pPr>
            <a:r>
              <a:rPr sz="1000" b="0" i="0">
                <a:solidFill>
                  <a:srgbClr val="5A6B7C"/>
                </a:solidFill>
                <a:latin typeface="Helvetica Neue"/>
              </a:rPr>
              <a:t>Two validity checks run before the study: decks must rank human &gt; PPTAgent &gt; naive, and SRR must track preference. The correlation is pre-registered and reported whatever it shows.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37744" cy="6858000"/>
          </a:xfrm>
          <a:prstGeom prst="rect">
            <a:avLst/>
          </a:prstGeom>
          <a:solidFill>
            <a:srgbClr val="10233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37744" y="0"/>
            <a:ext cx="45720" cy="6858000"/>
          </a:xfrm>
          <a:prstGeom prst="rect">
            <a:avLst/>
          </a:prstGeom>
          <a:solidFill>
            <a:srgbClr val="C08A2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384048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950" b="1" i="0">
                <a:solidFill>
                  <a:srgbClr val="C08A2E"/>
                </a:solidFill>
                <a:latin typeface="Helvetica Neue"/>
              </a:rPr>
              <a:t>WHAT I NEED FROM YOU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640080"/>
            <a:ext cx="1088136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2500" b="1" i="0">
                <a:solidFill>
                  <a:srgbClr val="10233A"/>
                </a:solidFill>
                <a:latin typeface="Helvetica Neue"/>
              </a:rPr>
              <a:t>Three decisions and one question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868680" y="1389888"/>
            <a:ext cx="10881360" cy="12801"/>
          </a:xfrm>
          <a:prstGeom prst="rect">
            <a:avLst/>
          </a:prstGeom>
          <a:solidFill>
            <a:srgbClr val="DDE2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55680" y="635508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</a:pPr>
            <a:r>
              <a:rPr sz="900" b="0" i="0">
                <a:solidFill>
                  <a:srgbClr val="8A99A8"/>
                </a:solidFill>
                <a:latin typeface="Helvetica Neue"/>
              </a:rPr>
              <a:t>12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68680" y="1737360"/>
            <a:ext cx="50292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240">
            <a:solidFill>
              <a:srgbClr val="C08A2E"/>
            </a:solidFill>
          </a:ln>
          <a:effectLst/>
        </p:spPr>
        <p:txBody>
          <a:bodyPr rtlCol="0" anchor="ctr" wrap="square" tIns="0" bIns="0"/>
          <a:lstStyle/>
          <a:p>
            <a:pPr algn="ctr">
              <a:lnSpc>
                <a:spcPct val="115000"/>
              </a:lnSpc>
              <a:spcBef>
                <a:spcPts val="0"/>
              </a:spcBef>
            </a:pPr>
            <a:r>
              <a:rPr sz="1200" b="1" i="0">
                <a:solidFill>
                  <a:srgbClr val="C08A2E"/>
                </a:solidFill>
                <a:latin typeface="Helvetica Neue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00200" y="1691640"/>
            <a:ext cx="996696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250" b="1" i="0">
                <a:solidFill>
                  <a:srgbClr val="10233A"/>
                </a:solidFill>
                <a:latin typeface="Helvetica Neue"/>
              </a:rPr>
              <a:t>Human decks</a:t>
            </a:r>
          </a:p>
          <a:p>
            <a:pPr algn="l">
              <a:lnSpc>
                <a:spcPct val="130000"/>
              </a:lnSpc>
              <a:spcBef>
                <a:spcPts val="300"/>
              </a:spcBef>
            </a:pPr>
            <a:r>
              <a:rPr sz="1050" b="0" i="0">
                <a:solidFill>
                  <a:srgbClr val="1E3652"/>
                </a:solidFill>
                <a:latin typeface="Helvetica Neue"/>
              </a:rPr>
              <a:t>Where can I get decks an author actually presented? They are the upper bound in the validity check, and I have none.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68680" y="2971800"/>
            <a:ext cx="50292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240">
            <a:solidFill>
              <a:srgbClr val="C08A2E"/>
            </a:solidFill>
          </a:ln>
          <a:effectLst/>
        </p:spPr>
        <p:txBody>
          <a:bodyPr rtlCol="0" anchor="ctr" wrap="square" tIns="0" bIns="0"/>
          <a:lstStyle/>
          <a:p>
            <a:pPr algn="ctr">
              <a:lnSpc>
                <a:spcPct val="115000"/>
              </a:lnSpc>
              <a:spcBef>
                <a:spcPts val="0"/>
              </a:spcBef>
            </a:pPr>
            <a:r>
              <a:rPr sz="1200" b="1" i="0">
                <a:solidFill>
                  <a:srgbClr val="C08A2E"/>
                </a:solidFill>
                <a:latin typeface="Helvetica Neue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00200" y="2926080"/>
            <a:ext cx="996696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250" b="1" i="0">
                <a:solidFill>
                  <a:srgbClr val="10233A"/>
                </a:solidFill>
                <a:latin typeface="Helvetica Neue"/>
              </a:rPr>
              <a:t>Scope</a:t>
            </a:r>
          </a:p>
          <a:p>
            <a:pPr algn="l">
              <a:lnSpc>
                <a:spcPct val="130000"/>
              </a:lnSpc>
              <a:spcBef>
                <a:spcPts val="300"/>
              </a:spcBef>
            </a:pPr>
            <a:r>
              <a:rPr sz="1050" b="0" i="0">
                <a:solidFill>
                  <a:srgbClr val="1E3652"/>
                </a:solidFill>
                <a:latin typeface="Helvetica Neue"/>
              </a:rPr>
              <a:t>Single-column English papers, 10-12 slides, 8 held-out papers - is that narrow enough to finish, or too narrow to generalise?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68680" y="4206240"/>
            <a:ext cx="50292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240">
            <a:solidFill>
              <a:srgbClr val="C08A2E"/>
            </a:solidFill>
          </a:ln>
          <a:effectLst/>
        </p:spPr>
        <p:txBody>
          <a:bodyPr rtlCol="0" anchor="ctr" wrap="square" tIns="0" bIns="0"/>
          <a:lstStyle/>
          <a:p>
            <a:pPr algn="ctr">
              <a:lnSpc>
                <a:spcPct val="115000"/>
              </a:lnSpc>
              <a:spcBef>
                <a:spcPts val="0"/>
              </a:spcBef>
            </a:pPr>
            <a:r>
              <a:rPr sz="1200" b="1" i="0">
                <a:solidFill>
                  <a:srgbClr val="C08A2E"/>
                </a:solidFill>
                <a:latin typeface="Helvetica Neue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00200" y="4160520"/>
            <a:ext cx="996696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250" b="1" i="0">
                <a:solidFill>
                  <a:srgbClr val="10233A"/>
                </a:solidFill>
                <a:latin typeface="Helvetica Neue"/>
              </a:rPr>
              <a:t>Gate set</a:t>
            </a:r>
          </a:p>
          <a:p>
            <a:pPr algn="l">
              <a:lnSpc>
                <a:spcPct val="130000"/>
              </a:lnSpc>
              <a:spcBef>
                <a:spcPts val="300"/>
              </a:spcBef>
            </a:pPr>
            <a:r>
              <a:rPr sz="1050" b="0" i="0">
                <a:solidFill>
                  <a:srgbClr val="1E3652"/>
                </a:solidFill>
                <a:latin typeface="Helvetica Neue"/>
              </a:rPr>
              <a:t>Six mechanical gates, with density and font size swept rather than fitted. Is that defensible, or should one be dropped?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68680" y="5440680"/>
            <a:ext cx="10881360" cy="777240"/>
          </a:xfrm>
          <a:prstGeom prst="rect">
            <a:avLst/>
          </a:prstGeom>
          <a:solidFill>
            <a:srgbClr val="ECF1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97280" y="5559552"/>
            <a:ext cx="103327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</a:pPr>
            <a:r>
              <a:rPr sz="1100" b="0" i="0">
                <a:solidFill>
                  <a:srgbClr val="10233A"/>
                </a:solidFill>
                <a:latin typeface="Helvetica Neue"/>
              </a:rPr>
              <a:t>And one question I would like your view on: is a deterministic detector seen as a strength here, or as a gap in the AI content of the project?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