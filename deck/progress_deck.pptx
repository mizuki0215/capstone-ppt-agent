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Helvetica Neue"/>
              </a:rPr>
              <a:t>DSAI4901  ·  CAPSTONE PROGRESS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Helvetica Neue"/>
              </a:rPr>
              <a:t>From generating
to verifying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Helvetica Neue"/>
              </a:rPr>
              <a:t>A reference-free measure of deck usability, used as a control signal in paper-to-slide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Helvetica Neue"/>
              </a:rPr>
              <a:t>Supervisor: Dr. Jibin Wu   ·   29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WHERE THE FIELD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Two families, one missing instrument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provides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What it leaves open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PPTAgent, SlideGen,
SlideLab, 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Strong generators;
narrative planning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Whether any given deck is usable;
local, mechanical failures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ReDeck, PPTPilot,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loops that read
rendered feedback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Which class of defect responded
to repair, and by how much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SlideAudit, DECKBench,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Flaw taxonomy; deck-level
scoring against a reference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Helvetica Neue"/>
                        </a:rPr>
                        <a:t>Arrives after generation; needs a
target deck or labels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Helvetica Neue"/>
              </a:rPr>
              <a:t>Read together, the field is good at producing decks and good at scoring them afterwards, but it has not closed the loop in between.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Helvetica Neue"/>
              </a:rPr>
              <a:t>The instrument arrives too late to steer generation, and it is not decomposable when it does arrive.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Helvetica Neue"/>
              </a:rPr>
              <a:t>The gap: no instrument runs inside the loop, and none of them decomposes the score. A deck-level number cannot tell you which defect to 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WHY THIS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things the literature does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Attribution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ReDeck and PPTPilot both repair, but a deck-level gain of ten points does not say which defect class responded.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Measurement is post-hoc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SlideAudit and DECKBench score finished decks. A score that arrives after generation cannot steer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Helvetica Neue"/>
              </a:rPr>
              <a:t>Instruments need 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 target deck, or human labels on images. Neither can run on an arbitrary .pptx at generation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Helvetica Neue"/>
              </a:rPr>
              <a:t>So the contribution is not another generator, and not a new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It is a measurement layer </a:t>
            </a:r>
            <a:r>
              <a:rPr sz="1250">
                <a:solidFill>
                  <a:srgbClr val="10233A"/>
                </a:solidFill>
                <a:latin typeface="Helvetica Neue"/>
              </a:rPr>
              <a:t>that is reference-free, computed on the object model, and cheap enough to run inside the loop.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50" b="1">
                <a:solidFill>
                  <a:srgbClr val="10233A"/>
                </a:solidFill>
                <a:latin typeface="Helvetica Neue"/>
              </a:rPr>
              <a:t>And a study of what that measurement is worth</a:t>
            </a:r>
            <a:r>
              <a:rPr sz="1250">
                <a:solidFill>
                  <a:srgbClr val="10233A"/>
                </a:solidFill>
                <a:latin typeface="Helvetica Neue"/>
              </a:rPr>
              <a:t> - per violation class, against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One gap, two 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Helvetica Neue"/>
              </a:rPr>
              <a:t>“Slide quality can now be measured after the fact. What these instruments cannot answer is whether measurement can drive generation.”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Can a small set of mechanical gates replace a reference deck or human labels, and still rank decks in the order a person would?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Helvetica Neue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Helvetica Neue"/>
              </a:rPr>
              <a:t>What does using that signal inside the loop actually add - per violation class, and at what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Helvetica Neue"/>
              </a:rPr>
              <a:t>Both are answered by the same artefact: a deck, a score, and a repair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Seven parts, four of which call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PDF -&gt; sections,
figures, captions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assertions with
an 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talk length and
audience -&gt;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keep or drop,
per claim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re-order into
an argument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compress, then
write the talk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Helvetica Neue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Helvetica Neue"/>
              </a:rPr>
              <a:t>native, editable
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G1 containment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G2 overlap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G3 font size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G4 contrast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G5 text fit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Helvetica Neue"/>
              </a:rPr>
              <a:t>G6 density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Helvetica Neue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Helvetica Neue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A  generation - text layer, frozen once written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Helvetica Neue"/>
              </a:rPr>
              <a:t>B  measurement - six gates on the .pptx object model, no rendering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1  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worst violation first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2  repair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cheapest reversible action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Helvetica Neue"/>
              </a:rPr>
              <a:t>3  re-measure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Helvetica Neue"/>
              </a:rPr>
              <a:t>gain per second and per dollar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Helvetica Neue"/>
              </a:rPr>
              <a:t>Only the text layer is allowed to change the words. Repair may move, resize or recolour; it may never add content or change a number. That is what keeps “the loop improved the deck” from being confounded with “the loop rewrote the deck”.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1  ·  READING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Captions are re-rendered, not extracted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Headings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found by font size and weight, not by a fixed list.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Figures </a:t>
            </a:r>
            <a:r>
              <a:rPr sz="1200">
                <a:solidFill>
                  <a:srgbClr val="10233A"/>
                </a:solidFill>
                <a:latin typeface="Helvetica Neue"/>
              </a:rPr>
              <a:t>are vector art in this literature: pulling embedded images returns 32x32 icons. So each caption's region is clipped and rasterised at 200 dpi.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200" b="1">
                <a:solidFill>
                  <a:srgbClr val="10233A"/>
                </a:solidFill>
                <a:latin typeface="Helvetica Neue"/>
              </a:rPr>
              <a:t>The band stops at the nearest paragraph</a:t>
            </a:r>
            <a:r>
              <a:rPr sz="1200">
                <a:solidFill>
                  <a:srgbClr val="10233A"/>
                </a:solidFill>
                <a:latin typeface="Helvetica Neue"/>
              </a:rPr>
              <a:t>, not at any text block - a figure carries its own labels, and stopping at those cut the figure in half.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Figure 2 of PPTAgent, clipped from the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12 of 32 captions in this paper produced a usable crop. The failures are tables whose caption sits above the table, and figures that span both columns. Both are fixable; the rule that produced the 12 is already the one the evaluation will 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2  ·  DECIDING WHAT TO 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Selection is a table, not a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request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always kept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kept if room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5 min, general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12 min, expert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results, conclusion, method,
motivation, background, 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related work, 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-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Helvetica Neue"/>
              </a:rPr>
              <a:t>Every kept or dropped claim carries the id of the rule that decided it: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section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imp.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decision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 id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kept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results are never 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not kept in a 12-minute talk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dropped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importance 1 &lt; cutoff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The model appears at two boundaries only: it converts a free-text request into that table, and it extracts claims. The keep/drop decision in between is a lookup, so a second person can re-run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PART 3  ·  MEASURING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Four of six gates exist; two are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94944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threshold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G1 containment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every shape inside the slide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built</a:t>
                      </a: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G2 overlap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text intersection over the smaller box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built</a:t>
                      </a:r>
                      <a:r>
                        <a:rPr sz="1000" b="1" i="0">
                          <a:solidFill>
                            <a:srgbClr val="2F7D5D"/>
                          </a:solidFill>
                          <a:latin typeface="Helvetica Neue"/>
                        </a:rPr>
                        <a:t>built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G3 font size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body and title, by slide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min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built (global)</a:t>
                      </a: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G6 density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characters and bullets, by role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role max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built (global)</a:t>
                      </a:r>
                      <a:r>
                        <a:rPr sz="1000" b="1" i="0">
                          <a:solidFill>
                            <a:srgbClr val="B07A1E"/>
                          </a:solidFill>
                          <a:latin typeface="Helvetica Neue"/>
                        </a:rPr>
                        <a:t>built (global)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G4 contrast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WCAG 2.2 AA, fill against background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next</a:t>
                      </a: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G5 text fit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rendered height over box height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&lt;=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next</a:t>
                      </a:r>
                      <a:r>
                        <a:rPr sz="1000" b="1" i="0">
                          <a:solidFill>
                            <a:srgbClr val="A83542"/>
                          </a:solidFill>
                          <a:latin typeface="Helvetica Neue"/>
                        </a:rPr>
                        <a:t>next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92440" y="16916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470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1" i="0">
                <a:solidFill>
                  <a:srgbClr val="10233A"/>
                </a:solidFill>
                <a:latin typeface="Helvetica Neue"/>
              </a:rPr>
              <a:t>SRR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Equal-weight pass rate over decidable checks. No gate weight is fitted; unknown checks leave the average but block deck-ready.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32918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4472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 i="0">
                <a:solidFill>
                  <a:srgbClr val="10233A"/>
                </a:solidFill>
                <a:latin typeface="Helvetica Neue"/>
              </a:rPr>
              <a:t>Why no weights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A weight would be a number with no evidence behind it - the same objection the report makes to the 24-point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Helvetica Neue"/>
              </a:rPr>
              <a:t>G4 and G5 are the two that need real resolution: colour has to be resolved through the theme and z-order, and text height has to be estimated from font metrics. Both are scheduled before the loop is built, because a metric that cannot be trusted cannot be the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RESULTS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Every generated slide fails at least one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09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Helvetica Neue"/>
              </a:rPr>
              <a:t>Slide 2 of the generated deck: figure placed, caption under it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clean slides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SRR (slide-level)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violations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Helvetica Neue"/>
                        </a:rPr>
                        <a:t>slides failing G6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Helvetica Neue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Helvetica Neue"/>
              </a:rPr>
              <a:t>This is the expected result, not a defect: the baseline generator ignores every gate. What matters is that the number is reproducible and the violations are named.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What is built, 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3703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Built and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parse: sections, figures, captions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clipping, 12/32 on the sample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render: native .pptx with speaker notes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G1, G2, G3, 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selection rule table, 55 test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3703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Partially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G3 / G6 still use one global threshold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figure captions need a word-boundary trim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claims are still extracted by heuristic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3703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Not started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G4 contrast, G5 text fit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repair actions and the loop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110-slide test set and its labels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Helvetica Neue"/>
              </a:rPr>
              <a:t>-  human decks, baselines, the 2x2 experiment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Helvetica Neue"/>
              </a:rPr>
              <a:t>76 test cases pass. The deck above was produced by this pipeline end to 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The experiment, and the calendar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The design: a 2 x 2 factor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no inspection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inspection on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base model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Helvetica Neue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Helvetica Neue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A2 - A1 isolates what inspection adds. The fine-tuned row tests whether that gain survives a better generator.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Helvetica Neue"/>
              </a:rPr>
              <a:t>The fine-tuned arm is conditional: it runs only if the main result is in and four weeks of buffer remain.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weeks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milestone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scope and literature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proposal, 5 Nov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rulebook, six gates, calibration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validity check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repair actions, 110-slide test set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interim report, 7 Jan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loop, ablation, 20-person study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preference correlation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Helvetica Neue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report, demo, presentation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Helvetica Neue"/>
                        </a:rPr>
                        <a:t>final, 8 Apr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Helvetica Neue"/>
              </a:rPr>
              <a:t>Two validity checks run before the study: decks must rank human &gt; PPTAgent &gt; naive, and SRR must track preference. The correlation is pre-registered and reported whatever it shows.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Helvetica Neue"/>
              </a:rPr>
              <a:t>WHAT I NEED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Helvetica Neue"/>
              </a:rPr>
              <a:t>Three decisions and one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Helvetica Neue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Human decks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Where can I get decks an author actually presented? They are the upper bound in the validity check, and I have none.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Scope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Single-column English papers, 10-12 slides, 8 held-out papers - is that narrow enough to finish, or too narrow to generalise?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Helvetica Neue"/>
              </a:rPr>
              <a:t>Gate set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Helvetica Neue"/>
              </a:rPr>
              <a:t>Six mechanical gates, with density and font size swept rather than fitted. Is that defensible, or should one be dropped?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Helvetica Neue"/>
              </a:rPr>
              <a:t>And one question I would like your view on: is a deterministic detector seen as a strength here, or as a gap in the AI content of the project?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