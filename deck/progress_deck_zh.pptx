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0"/>
            <a:ext cx="64008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00" b="1" i="0">
                <a:solidFill>
                  <a:srgbClr val="C08A2E"/>
                </a:solidFill>
                <a:latin typeface="PingFang HK"/>
              </a:rPr>
              <a:t>DSAI4901  ·  CAPSTONE 進度簡報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9966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4600" b="1" i="0">
                <a:solidFill>
                  <a:srgbClr val="10233A"/>
                </a:solidFill>
                <a:latin typeface="PingFang HK"/>
              </a:rPr>
              <a:t>由生成，
到可驗證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9509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50" b="0" i="0">
                <a:solidFill>
                  <a:srgbClr val="5A6B7C"/>
                </a:solidFill>
                <a:latin typeface="PingFang HK"/>
              </a:rPr>
              <a:t>以可量度的版面可用性，作為論文轉簡報的控制訊號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892040"/>
            <a:ext cx="3108960" cy="18288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074920"/>
            <a:ext cx="9509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0233A"/>
                </a:solidFill>
                <a:latin typeface="PingFang HK"/>
              </a:rPr>
              <a:t>CHAN Yee Tung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100" b="0" i="0">
                <a:solidFill>
                  <a:srgbClr val="5A6B7C"/>
                </a:solidFill>
                <a:latin typeface="PingFang HK"/>
              </a:rPr>
              <a:t>指導老師：Dr. Jibin Wu   ·   2026 年 10 月 29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文獻現況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PingFang HK"/>
              </a:rPr>
              <a:t>兩大家族，缺一件工具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PingFang HK"/>
              </a:rP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664208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91840"/>
                <a:gridCol w="438912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1" i="0">
                          <a:solidFill>
                            <a:srgbClr val="10233A"/>
                          </a:solidFill>
                          <a:latin typeface="PingFang HK"/>
                        </a:rPr>
                        <a:t>工作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1" i="0">
                          <a:solidFill>
                            <a:srgbClr val="10233A"/>
                          </a:solidFill>
                          <a:latin typeface="PingFang HK"/>
                        </a:rPr>
                        <a:t>提供什麼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50" b="1" i="0">
                          <a:solidFill>
                            <a:srgbClr val="10233A"/>
                          </a:solidFill>
                          <a:latin typeface="PingFang HK"/>
                        </a:rPr>
                        <a:t>仍留下什麼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50" b="1" i="0">
                          <a:solidFill>
                            <a:srgbClr val="10233A"/>
                          </a:solidFill>
                          <a:latin typeface="PingFang HK"/>
                        </a:rPr>
                        <a:t>PPTAgent、SlideGen、
SlideLab、ArcDeck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50" b="0" i="0">
                          <a:solidFill>
                            <a:srgbClr val="1E3652"/>
                          </a:solidFill>
                          <a:latin typeface="PingFang HK"/>
                        </a:rPr>
                        <a:t>強生成器；敘事規劃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50" b="0" i="0">
                          <a:solidFill>
                            <a:srgbClr val="1E3652"/>
                          </a:solidFill>
                          <a:latin typeface="PingFang HK"/>
                        </a:rPr>
                        <a:t>這份 deck 到底能不能用；
局部、機械性的失敗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50" b="1" i="0">
                          <a:solidFill>
                            <a:srgbClr val="10233A"/>
                          </a:solidFill>
                          <a:latin typeface="PingFang HK"/>
                        </a:rPr>
                        <a:t>ReDeck、PPTPilot、
SLIDEFORGE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50" b="0" i="0">
                          <a:solidFill>
                            <a:srgbClr val="1E3652"/>
                          </a:solidFill>
                          <a:latin typeface="PingFang HK"/>
                        </a:rPr>
                        <a:t>會讀渲染回饋的
修復迴圈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50" b="0" i="0">
                          <a:solidFill>
                            <a:srgbClr val="1E3652"/>
                          </a:solidFill>
                          <a:latin typeface="PingFang HK"/>
                        </a:rPr>
                        <a:t>哪一類缺陷對修復有反應，
反應幾大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50" b="1" i="0">
                          <a:solidFill>
                            <a:srgbClr val="10233A"/>
                          </a:solidFill>
                          <a:latin typeface="PingFang HK"/>
                        </a:rPr>
                        <a:t>SlideAudit、DECKBench、
PresentBench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50" b="0" i="0">
                          <a:solidFill>
                            <a:srgbClr val="1E3652"/>
                          </a:solidFill>
                          <a:latin typeface="PingFang HK"/>
                        </a:rPr>
                        <a:t>缺陷分類法；對照參考 deck
評分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50" b="0" i="0">
                          <a:solidFill>
                            <a:srgbClr val="1E3652"/>
                          </a:solidFill>
                          <a:latin typeface="PingFang HK"/>
                        </a:rPr>
                        <a:t>生成之後才到；需要目標 deck
或標註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393192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500" b="0" i="0">
                <a:solidFill>
                  <a:srgbClr val="10233A"/>
                </a:solidFill>
                <a:latin typeface="PingFang HK"/>
              </a:rPr>
              <a:t>合起來看，這個領域很會做 deck，也很會在事後打分，但中間那一段沒有接上。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250" b="0" i="0">
                <a:solidFill>
                  <a:srgbClr val="5A6B7C"/>
                </a:solidFill>
                <a:latin typeface="PingFang HK"/>
              </a:rPr>
              <a:t>工具來得太遲，指揮不到生成；真的用得著的時候，又不可分解。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074920"/>
            <a:ext cx="10881360" cy="96012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5074920"/>
            <a:ext cx="64008" cy="9601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5230368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 i="0">
                <a:solidFill>
                  <a:srgbClr val="10233A"/>
                </a:solidFill>
                <a:latin typeface="PingFang HK"/>
              </a:rPr>
              <a:t>缺口：冇一件工具跑在迴圈裡面，冇一件把分數拆得開。一個 deck 層面的數字，講不出應該修哪一類缺陷。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為什麼做這個方向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PingFang HK"/>
              </a:rPr>
              <a:t>文獻沒有做的三件事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PingFang HK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719072"/>
            <a:ext cx="3401568" cy="1965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737360"/>
            <a:ext cx="3401568" cy="54864"/>
          </a:xfrm>
          <a:prstGeom prst="rect">
            <a:avLst/>
          </a:prstGeom>
          <a:solidFill>
            <a:srgbClr val="B07A1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190195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50" b="1" i="0">
                <a:solidFill>
                  <a:srgbClr val="10233A"/>
                </a:solidFill>
                <a:latin typeface="PingFang HK"/>
              </a:rPr>
              <a:t>歸因缺失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450592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 i="0">
                <a:solidFill>
                  <a:srgbClr val="1E3652"/>
                </a:solidFill>
                <a:latin typeface="PingFang HK"/>
              </a:rPr>
              <a:t>ReDeck 與 PPTPilot 都會修，但 deck 升十分，講不出是哪一類缺陷對修復有反應。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9704" y="1719072"/>
            <a:ext cx="3401568" cy="1965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4" y="1737360"/>
            <a:ext cx="3401568" cy="54864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190195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50" b="1" i="0">
                <a:solidFill>
                  <a:srgbClr val="10233A"/>
                </a:solidFill>
                <a:latin typeface="PingFang HK"/>
              </a:rPr>
              <a:t>量度是事後的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450592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 i="0">
                <a:solidFill>
                  <a:srgbClr val="1E3652"/>
                </a:solidFill>
                <a:latin typeface="PingFang HK"/>
              </a:rPr>
              <a:t>SlideAudit 與 DECKBench 評的是成品。生成之後才到的分數，指揮不到生成。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1719072"/>
            <a:ext cx="3401568" cy="19659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737360"/>
            <a:ext cx="3401568" cy="54864"/>
          </a:xfrm>
          <a:prstGeom prst="rect">
            <a:avLst/>
          </a:prstGeom>
          <a:solidFill>
            <a:srgbClr val="A8354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901952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50" b="1" i="0">
                <a:solidFill>
                  <a:srgbClr val="10233A"/>
                </a:solidFill>
                <a:latin typeface="PingFang HK"/>
              </a:rPr>
              <a:t>工具需要參考或標註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450592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 i="0">
                <a:solidFill>
                  <a:srgbClr val="1E3652"/>
                </a:solidFill>
                <a:latin typeface="PingFang HK"/>
              </a:rPr>
              <a:t>要一個目標 deck，或者人手標註圖像。兩者在生成時都對任意 .pptx 算不到。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0690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500" b="1" i="0">
                <a:solidFill>
                  <a:srgbClr val="10233A"/>
                </a:solidFill>
                <a:latin typeface="PingFang HK"/>
              </a:rPr>
              <a:t>所以貢獻不是又一個生成器，也不是一套新分類法。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63440"/>
            <a:ext cx="106070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50" b="1">
                <a:solidFill>
                  <a:srgbClr val="C08A2E"/>
                </a:solidFill>
                <a:latin typeface="PingFang HK"/>
              </a:rPr>
              <a:t>-  </a:t>
            </a:r>
            <a:r>
              <a:rPr sz="1250" b="1">
                <a:solidFill>
                  <a:srgbClr val="10233A"/>
                </a:solidFill>
                <a:latin typeface="PingFang HK"/>
              </a:rPr>
              <a:t>而是一層量度</a:t>
            </a:r>
            <a:r>
              <a:rPr sz="1250">
                <a:solidFill>
                  <a:srgbClr val="10233A"/>
                </a:solidFill>
                <a:latin typeface="PingFang HK"/>
              </a:rPr>
              <a:t>：無需參考、在物件模型上計算、便宜到可以跑在迴圈裡面。</a:t>
            </a:r>
          </a:p>
          <a:p>
            <a:pPr>
              <a:lnSpc>
                <a:spcPct val="122000"/>
              </a:lnSpc>
              <a:spcBef>
                <a:spcPts val="600"/>
              </a:spcBef>
            </a:pPr>
            <a:r>
              <a:rPr sz="1250" b="1">
                <a:solidFill>
                  <a:srgbClr val="C08A2E"/>
                </a:solidFill>
                <a:latin typeface="PingFang HK"/>
              </a:rPr>
              <a:t>-  </a:t>
            </a:r>
            <a:r>
              <a:rPr sz="1250" b="1">
                <a:solidFill>
                  <a:srgbClr val="10233A"/>
                </a:solidFill>
                <a:latin typeface="PingFang HK"/>
              </a:rPr>
              <a:t>以及研究這個量度值多少</a:t>
            </a:r>
            <a:r>
              <a:rPr sz="1250">
                <a:solidFill>
                  <a:srgbClr val="10233A"/>
                </a:solidFill>
                <a:latin typeface="PingFang HK"/>
              </a:rPr>
              <a:t> —— 按違規類別計，對照成本。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PingFang HK"/>
              </a:rPr>
              <a:t>一個缺口，兩條研究問題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PingFang HK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10881360" cy="141732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91640"/>
            <a:ext cx="64008" cy="141732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1847088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50" b="0" i="1">
                <a:solidFill>
                  <a:srgbClr val="10233A"/>
                </a:solidFill>
                <a:latin typeface="PingFang HK"/>
              </a:rPr>
              <a:t>「簡報品質現在可以事後量度。這些工具答不到的是：量度本身能不能驅動生成。」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43814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1" i="0">
                <a:solidFill>
                  <a:srgbClr val="C08A2E"/>
                </a:solidFill>
                <a:latin typeface="PingFang HK"/>
              </a:rPr>
              <a:t>RQ1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0512" y="3401568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 i="0">
                <a:solidFill>
                  <a:srgbClr val="1E3652"/>
                </a:solidFill>
                <a:latin typeface="PingFang HK"/>
              </a:rPr>
              <a:t>一組機械性的 gate，能不能取代參考 deck 或人手標註，而仍然按人會給的次序排列 deck？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39826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00" b="1" i="0">
                <a:solidFill>
                  <a:srgbClr val="C08A2E"/>
                </a:solidFill>
                <a:latin typeface="PingFang HK"/>
              </a:rPr>
              <a:t>RQ2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0512" y="4361688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300" b="0" i="0">
                <a:solidFill>
                  <a:srgbClr val="1E3652"/>
                </a:solidFill>
                <a:latin typeface="PingFang HK"/>
              </a:rPr>
              <a:t>把這個訊號放進迴圈裡，實際加了多少？按違規類別計，成本又是幾多？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0" i="1">
                <a:solidFill>
                  <a:srgbClr val="5A6B7C"/>
                </a:solidFill>
                <a:latin typeface="PingFang HK"/>
              </a:rPr>
              <a:t>兩條問題由同一件東西回答：一份 deck、一個分數、一份修復記錄。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PingFang HK"/>
              </a:rPr>
              <a:t>七個零件，其中四個用到模型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PingFang HK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755648"/>
            <a:ext cx="1307592" cy="1024128"/>
          </a:xfrm>
          <a:prstGeom prst="rect">
            <a:avLst/>
          </a:prstGeom>
          <a:solidFill>
            <a:srgbClr val="ECF1F5"/>
          </a:solidFill>
          <a:ln w="11430">
            <a:solidFill>
              <a:srgbClr val="D3DBE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865376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PingFang HK"/>
              </a:rPr>
              <a:t>parse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57984"/>
            <a:ext cx="1161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80" b="0" i="0">
                <a:solidFill>
                  <a:srgbClr val="1E3652"/>
                </a:solidFill>
                <a:latin typeface="PingFang HK"/>
              </a:rPr>
              <a:t>PDF → 章節、圖、圖說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99132" y="2199132"/>
            <a:ext cx="96012" cy="137160"/>
          </a:xfrm>
          <a:prstGeom prst="rightArrow">
            <a:avLst/>
          </a:prstGeom>
          <a:solidFill>
            <a:srgbClr val="8A99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8004" y="1755648"/>
            <a:ext cx="1307592" cy="1024128"/>
          </a:xfrm>
          <a:prstGeom prst="rect">
            <a:avLst/>
          </a:prstGeom>
          <a:solidFill>
            <a:srgbClr val="F4F6F8"/>
          </a:solidFill>
          <a:ln w="11430">
            <a:solidFill>
              <a:srgbClr val="D3DBE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1156" y="1865376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PingFang HK"/>
              </a:rPr>
              <a:t>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1156" y="2157984"/>
            <a:ext cx="1161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80" b="0" i="0">
                <a:solidFill>
                  <a:srgbClr val="1E3652"/>
                </a:solidFill>
                <a:latin typeface="PingFang HK"/>
              </a:rPr>
              <a:t>斷言，附上
evidence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9836" y="1847088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650" b="1" i="0">
                <a:solidFill>
                  <a:srgbClr val="2E6F95"/>
                </a:solidFill>
                <a:latin typeface="PingFang HK"/>
              </a:rPr>
              <a:t>AI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48456" y="2199132"/>
            <a:ext cx="96012" cy="137160"/>
          </a:xfrm>
          <a:prstGeom prst="rightArrow">
            <a:avLst/>
          </a:prstGeom>
          <a:solidFill>
            <a:srgbClr val="8A99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7328" y="1755648"/>
            <a:ext cx="1307592" cy="1024128"/>
          </a:xfrm>
          <a:prstGeom prst="rect">
            <a:avLst/>
          </a:prstGeom>
          <a:solidFill>
            <a:srgbClr val="F4F6F8"/>
          </a:solidFill>
          <a:ln w="11430">
            <a:solidFill>
              <a:srgbClr val="D3DBE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1865376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PingFang HK"/>
              </a:rPr>
              <a:t>requirement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157984"/>
            <a:ext cx="1161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80" b="0" i="0">
                <a:solidFill>
                  <a:srgbClr val="1E3652"/>
                </a:solidFill>
                <a:latin typeface="PingFang HK"/>
              </a:rPr>
              <a:t>幾分鐘、聽眾是誰
→ 一張表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1847088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650" b="1" i="0">
                <a:solidFill>
                  <a:srgbClr val="2E6F95"/>
                </a:solidFill>
                <a:latin typeface="PingFang HK"/>
              </a:rPr>
              <a:t>AI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097780" y="2199132"/>
            <a:ext cx="96012" cy="137160"/>
          </a:xfrm>
          <a:prstGeom prst="rightArrow">
            <a:avLst/>
          </a:prstGeom>
          <a:solidFill>
            <a:srgbClr val="8A99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652" y="1755648"/>
            <a:ext cx="1307592" cy="1024128"/>
          </a:xfrm>
          <a:prstGeom prst="rect">
            <a:avLst/>
          </a:prstGeom>
          <a:solidFill>
            <a:srgbClr val="ECF1F5"/>
          </a:solidFill>
          <a:ln w="11430">
            <a:solidFill>
              <a:srgbClr val="D3DBE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9804" y="1865376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PingFang HK"/>
              </a:rPr>
              <a:t>select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9804" y="2157984"/>
            <a:ext cx="1161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80" b="0" i="0">
                <a:solidFill>
                  <a:srgbClr val="1E3652"/>
                </a:solidFill>
                <a:latin typeface="PingFang HK"/>
              </a:rPr>
              <a:t>逐條 claim
決定要或不要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547104" y="2199132"/>
            <a:ext cx="96012" cy="137160"/>
          </a:xfrm>
          <a:prstGeom prst="rightArrow">
            <a:avLst/>
          </a:prstGeom>
          <a:solidFill>
            <a:srgbClr val="8A99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65976" y="1755648"/>
            <a:ext cx="1307592" cy="1024128"/>
          </a:xfrm>
          <a:prstGeom prst="rect">
            <a:avLst/>
          </a:prstGeom>
          <a:solidFill>
            <a:srgbClr val="F4F6F8"/>
          </a:solidFill>
          <a:ln w="11430">
            <a:solidFill>
              <a:srgbClr val="D3DBE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39128" y="1865376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PingFang HK"/>
              </a:rPr>
              <a:t>outline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2157984"/>
            <a:ext cx="1161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80" b="0" i="0">
                <a:solidFill>
                  <a:srgbClr val="1E3652"/>
                </a:solidFill>
                <a:latin typeface="PingFang HK"/>
              </a:rPr>
              <a:t>重排成一條
論證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1847088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650" b="1" i="0">
                <a:solidFill>
                  <a:srgbClr val="2E6F95"/>
                </a:solidFill>
                <a:latin typeface="PingFang HK"/>
              </a:rPr>
              <a:t>AI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996428" y="2199132"/>
            <a:ext cx="96012" cy="137160"/>
          </a:xfrm>
          <a:prstGeom prst="rightArrow">
            <a:avLst/>
          </a:prstGeom>
          <a:solidFill>
            <a:srgbClr val="8A99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15300" y="1755648"/>
            <a:ext cx="1307592" cy="1024128"/>
          </a:xfrm>
          <a:prstGeom prst="rect">
            <a:avLst/>
          </a:prstGeom>
          <a:solidFill>
            <a:srgbClr val="F4F6F8"/>
          </a:solidFill>
          <a:ln w="11430">
            <a:solidFill>
              <a:srgbClr val="D3DBE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8452" y="1865376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PingFang HK"/>
              </a:rPr>
              <a:t>bullets+notes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8452" y="2157984"/>
            <a:ext cx="1161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80" b="0" i="0">
                <a:solidFill>
                  <a:srgbClr val="1E3652"/>
                </a:solidFill>
                <a:latin typeface="PingFang HK"/>
              </a:rPr>
              <a:t>壓縮，再寫成
講稿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7132" y="1847088"/>
            <a:ext cx="2926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650" b="1" i="0">
                <a:solidFill>
                  <a:srgbClr val="2E6F95"/>
                </a:solidFill>
                <a:latin typeface="PingFang HK"/>
              </a:rPr>
              <a:t>AI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445752" y="2199132"/>
            <a:ext cx="96012" cy="137160"/>
          </a:xfrm>
          <a:prstGeom prst="rightArrow">
            <a:avLst/>
          </a:prstGeom>
          <a:solidFill>
            <a:srgbClr val="8A99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64624" y="1755648"/>
            <a:ext cx="1307592" cy="1024128"/>
          </a:xfrm>
          <a:prstGeom prst="rect">
            <a:avLst/>
          </a:prstGeom>
          <a:solidFill>
            <a:srgbClr val="ECF1F5"/>
          </a:solidFill>
          <a:ln w="11430">
            <a:solidFill>
              <a:srgbClr val="D3DBE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37776" y="1865376"/>
            <a:ext cx="11612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PingFang HK"/>
              </a:rPr>
              <a:t>render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157984"/>
            <a:ext cx="11612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780" b="0" i="0">
                <a:solidFill>
                  <a:srgbClr val="1E3652"/>
                </a:solidFill>
                <a:latin typeface="PingFang HK"/>
              </a:rPr>
              <a:t>原生、可再編輯
的 .pptx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" y="3584448"/>
            <a:ext cx="128016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C3CE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3803904"/>
            <a:ext cx="1188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900" b="1" i="0">
                <a:solidFill>
                  <a:srgbClr val="10233A"/>
                </a:solidFill>
                <a:latin typeface="PingFang HK"/>
              </a:rPr>
              <a:t>G1 出界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58568" y="3584448"/>
            <a:ext cx="128016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C3CE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04287" y="3803904"/>
            <a:ext cx="1188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900" b="1" i="0">
                <a:solidFill>
                  <a:srgbClr val="10233A"/>
                </a:solidFill>
                <a:latin typeface="PingFang HK"/>
              </a:rPr>
              <a:t>G2 重疊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48456" y="3584448"/>
            <a:ext cx="128016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C3CE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94176" y="3803904"/>
            <a:ext cx="1188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900" b="1" i="0">
                <a:solidFill>
                  <a:srgbClr val="10233A"/>
                </a:solidFill>
                <a:latin typeface="PingFang HK"/>
              </a:rPr>
              <a:t>G3 字級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38344" y="3584448"/>
            <a:ext cx="128016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C3CE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84064" y="3803904"/>
            <a:ext cx="1188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900" b="1" i="0">
                <a:solidFill>
                  <a:srgbClr val="10233A"/>
                </a:solidFill>
                <a:latin typeface="PingFang HK"/>
              </a:rPr>
              <a:t>G4 對比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28231" y="3584448"/>
            <a:ext cx="128016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C3CE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3951" y="3803904"/>
            <a:ext cx="1188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900" b="1" i="0">
                <a:solidFill>
                  <a:srgbClr val="10233A"/>
                </a:solidFill>
                <a:latin typeface="PingFang HK"/>
              </a:rPr>
              <a:t>G5 文字溢出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8119" y="3584448"/>
            <a:ext cx="1280160" cy="640080"/>
          </a:xfrm>
          <a:prstGeom prst="rect">
            <a:avLst/>
          </a:prstGeom>
          <a:solidFill>
            <a:srgbClr val="FFFFFF"/>
          </a:solidFill>
          <a:ln w="11430">
            <a:solidFill>
              <a:srgbClr val="C3CED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0" y="3803904"/>
            <a:ext cx="1188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900" b="1" i="0">
                <a:solidFill>
                  <a:srgbClr val="10233A"/>
                </a:solidFill>
                <a:latin typeface="PingFang HK"/>
              </a:rPr>
              <a:t>G6 密度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53728" y="3584448"/>
            <a:ext cx="914400" cy="640080"/>
          </a:xfrm>
          <a:prstGeom prst="rect">
            <a:avLst/>
          </a:prstGeom>
          <a:solidFill>
            <a:srgbClr val="ECF1F5"/>
          </a:solidFill>
          <a:ln w="1143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99448" y="379476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100" b="1" i="0">
                <a:solidFill>
                  <a:srgbClr val="10233A"/>
                </a:solidFill>
                <a:latin typeface="PingFang HK"/>
              </a:rPr>
              <a:t>SRR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314432" y="3584448"/>
            <a:ext cx="960120" cy="640080"/>
          </a:xfrm>
          <a:prstGeom prst="rect">
            <a:avLst/>
          </a:prstGeom>
          <a:solidFill>
            <a:srgbClr val="ECF1F5"/>
          </a:solidFill>
          <a:ln w="11430">
            <a:solidFill>
              <a:srgbClr val="C08A2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60152" y="3794760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10233A"/>
                </a:solidFill>
                <a:latin typeface="PingFang HK"/>
              </a:rPr>
              <a:t>ready?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" y="148132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5A6B7C"/>
                </a:solidFill>
                <a:latin typeface="PingFang HK"/>
              </a:rPr>
              <a:t>A  生成 —— 文字層，寫定即凍結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32186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5A6B7C"/>
                </a:solidFill>
                <a:latin typeface="PingFang HK"/>
              </a:rPr>
              <a:t>B  量度 —— 六個 gate，直接在 .pptx 物件模型上，不渲染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4526280"/>
            <a:ext cx="3246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5839" y="4654296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PingFang HK"/>
              </a:rPr>
              <a:t>1  量度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800" b="0" i="0">
                <a:solidFill>
                  <a:srgbClr val="1E3652"/>
                </a:solidFill>
                <a:latin typeface="PingFang HK"/>
              </a:rPr>
              <a:t>先找最嚴重那一項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34840" y="4526280"/>
            <a:ext cx="3246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0" y="4654296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PingFang HK"/>
              </a:rPr>
              <a:t>2  修復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800" b="0" i="0">
                <a:solidFill>
                  <a:srgbClr val="1E3652"/>
                </a:solidFill>
                <a:latin typeface="PingFang HK"/>
              </a:rPr>
              <a:t>最便宜、可還原的動作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01000" y="4526280"/>
            <a:ext cx="3246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A6B7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38160" y="4654296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1" i="0">
                <a:solidFill>
                  <a:srgbClr val="10233A"/>
                </a:solidFill>
                <a:latin typeface="PingFang HK"/>
              </a:rPr>
              <a:t>3  再量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800" b="0" i="0">
                <a:solidFill>
                  <a:srgbClr val="1E3652"/>
                </a:solidFill>
                <a:latin typeface="PingFang HK"/>
              </a:rPr>
              <a:t>每秒、每元的改善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5376672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00" b="0" i="0">
                <a:solidFill>
                  <a:srgbClr val="1E3652"/>
                </a:solidFill>
                <a:latin typeface="PingFang HK"/>
              </a:rPr>
              <a:t>只有文字層可以改字。修復可以移、可以縮、可以換色，但永遠不可以加內容或改數字。這樣「迴圈令 deck 變好」才不會同「迴圈改寫了 deck」混在一起。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零件一 · 讀論文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PingFang HK"/>
              </a:rPr>
              <a:t>圖說是裁出來的，不是抽出來的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PingFang HK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57607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200" b="1">
                <a:solidFill>
                  <a:srgbClr val="C08A2E"/>
                </a:solidFill>
                <a:latin typeface="PingFang HK"/>
              </a:rPr>
              <a:t>-  </a:t>
            </a:r>
            <a:r>
              <a:rPr sz="1200" b="1">
                <a:solidFill>
                  <a:srgbClr val="10233A"/>
                </a:solidFill>
                <a:latin typeface="PingFang HK"/>
              </a:rPr>
              <a:t>章節標題</a:t>
            </a:r>
            <a:r>
              <a:rPr sz="1200">
                <a:solidFill>
                  <a:srgbClr val="10233A"/>
                </a:solidFill>
                <a:latin typeface="PingFang HK"/>
              </a:rPr>
              <a:t>靠字級與粗體判斷，不靠固定清單。</a:t>
            </a:r>
          </a:p>
          <a:p>
            <a:pPr>
              <a:lnSpc>
                <a:spcPct val="122000"/>
              </a:lnSpc>
              <a:spcBef>
                <a:spcPts val="1000"/>
              </a:spcBef>
            </a:pPr>
            <a:r>
              <a:rPr sz="1200" b="1">
                <a:solidFill>
                  <a:srgbClr val="C08A2E"/>
                </a:solidFill>
                <a:latin typeface="PingFang HK"/>
              </a:rPr>
              <a:t>-  </a:t>
            </a:r>
            <a:r>
              <a:rPr sz="1200" b="1">
                <a:solidFill>
                  <a:srgbClr val="10233A"/>
                </a:solidFill>
                <a:latin typeface="PingFang HK"/>
              </a:rPr>
              <a:t>圖</a:t>
            </a:r>
            <a:r>
              <a:rPr sz="1200">
                <a:solidFill>
                  <a:srgbClr val="10233A"/>
                </a:solidFill>
                <a:latin typeface="PingFang HK"/>
              </a:rPr>
              <a:t>在這個領域多數是向量圖：抽內嵌圖片只會抽到 32×32 的 icon。所以按圖說的位置裁出區域，再以 200 dpi 光柵化。</a:t>
            </a:r>
          </a:p>
          <a:p>
            <a:pPr>
              <a:lnSpc>
                <a:spcPct val="122000"/>
              </a:lnSpc>
              <a:spcBef>
                <a:spcPts val="1000"/>
              </a:spcBef>
            </a:pPr>
            <a:r>
              <a:rPr sz="1200" b="1">
                <a:solidFill>
                  <a:srgbClr val="C08A2E"/>
                </a:solidFill>
                <a:latin typeface="PingFang HK"/>
              </a:rPr>
              <a:t>-  </a:t>
            </a:r>
            <a:r>
              <a:rPr sz="1200" b="1">
                <a:solidFill>
                  <a:srgbClr val="10233A"/>
                </a:solidFill>
                <a:latin typeface="PingFang HK"/>
              </a:rPr>
              <a:t>裁切的界線停在最近的段落</a:t>
            </a:r>
            <a:r>
              <a:rPr sz="1200">
                <a:solidFill>
                  <a:srgbClr val="10233A"/>
                </a:solidFill>
                <a:latin typeface="PingFang HK"/>
              </a:rPr>
              <a:t>，不是停在任何文字方塊 —— 圖裡面本身有標籤，停在標籤就會把圖切一半。</a:t>
            </a:r>
          </a:p>
        </p:txBody>
      </p:sp>
      <p:pic>
        <p:nvPicPr>
          <p:cNvPr id="9" name="Picture 8" descr="p02_01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783080"/>
            <a:ext cx="4434840" cy="22365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03720" y="3977639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0" i="1">
                <a:solidFill>
                  <a:srgbClr val="5A6B7C"/>
                </a:solidFill>
                <a:latin typeface="PingFang HK"/>
              </a:rPr>
              <a:t>PPTAgent 的 Figure 2，直接由 PDF 裁出來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38928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b="0" i="0">
                <a:solidFill>
                  <a:srgbClr val="5A6B7C"/>
                </a:solidFill>
                <a:latin typeface="PingFang HK"/>
              </a:rPr>
              <a:t>這篇論文 32 個圖說之中，12 個裁出可用的圖。失敗的是「圖說在表格上方」與「跨兩欄的圖」。兩者都可以修；而產生這 12 張的規則，就是評估時會用的同一條。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零件二 · 決定講什麼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PingFang HK"/>
              </a:rPr>
              <a:t>選段是一張表，不是一個判斷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PingFang HK"/>
              </a:rP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691640"/>
          <a:ext cx="108813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931920"/>
                <a:gridCol w="2651760"/>
                <a:gridCol w="210312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要求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一定保留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有空間才保留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丟掉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5 分鐘、一般聽眾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results、conclusion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method (core only)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analysis, limitations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12 分鐘、專家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results、conclusion、method、
motivation、background、analysis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related work、setup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—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32461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150" b="1" i="0">
                <a:solidFill>
                  <a:srgbClr val="10233A"/>
                </a:solidFill>
                <a:latin typeface="PingFang HK"/>
              </a:rPr>
              <a:t>每一條被保留或被丟掉的 claim，都帶著決定它的規則編號：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68680" y="3703320"/>
          <a:ext cx="108813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731520"/>
                <a:gridCol w="1188720"/>
                <a:gridCol w="2286000"/>
                <a:gridCol w="438912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claim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章節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重要度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決定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規則編號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原因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c3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results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3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保留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hard:results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results 永遠保留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c7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setup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2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丟掉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table:12:setup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12 分鐘的 talk 不講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c9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analysis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1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丟掉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importance:cut2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重要度 1 低於門檻 2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68680" y="5440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b="0" i="0">
                <a:solidFill>
                  <a:srgbClr val="5A6B7C"/>
                </a:solidFill>
                <a:latin typeface="PingFang HK"/>
              </a:rPr>
              <a:t>模型只出現在兩個邊界：把自由文字的要求轉成那張表，以及抽取 claim。中間的取捨是查表，所以第二個人可以重跑一次。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零件三 · 量度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PingFang HK"/>
              </a:rPr>
              <a:t>六個 gate 做了四個，兩個是下一步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PingFang HK"/>
              </a:rPr>
              <a:t>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691640"/>
          <a:ext cx="6949440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017520"/>
                <a:gridCol w="1097280"/>
                <a:gridCol w="109728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gate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規則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門檻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狀態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G1 出界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所有形狀在版面內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0 pt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2F7D5D"/>
                          </a:solidFill>
                          <a:latin typeface="PingFang HK"/>
                        </a:rPr>
                        <a:t>已做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G2 重疊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文字交集 ÷ 較小框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&gt; 5 %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2F7D5D"/>
                          </a:solidFill>
                          <a:latin typeface="PingFang HK"/>
                        </a:rPr>
                        <a:t>已做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G3 字級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內文與標題，按角色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角色下限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B07A1E"/>
                          </a:solidFill>
                          <a:latin typeface="PingFang HK"/>
                        </a:rPr>
                        <a:t>已做·全局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G6 密度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字數與 bullet，按角色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角色上限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B07A1E"/>
                          </a:solidFill>
                          <a:latin typeface="PingFang HK"/>
                        </a:rPr>
                        <a:t>已做·全局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G4 對比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WCAG 2.2 AA，字對背景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4.5 : 1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A83542"/>
                          </a:solidFill>
                          <a:latin typeface="PingFang HK"/>
                        </a:rPr>
                        <a:t>下一步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G5 文字溢出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渲染高度 ÷ 框高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≤ 0.95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A83542"/>
                          </a:solidFill>
                          <a:latin typeface="PingFang HK"/>
                        </a:rPr>
                        <a:t>下一步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092440" y="1691640"/>
            <a:ext cx="3611880" cy="14173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47088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1" i="0">
                <a:solidFill>
                  <a:srgbClr val="10233A"/>
                </a:solidFill>
                <a:latin typeface="PingFang HK"/>
              </a:rPr>
              <a:t>SRR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00" b="0" i="0">
                <a:solidFill>
                  <a:srgbClr val="1E3652"/>
                </a:solidFill>
                <a:latin typeface="PingFang HK"/>
              </a:rPr>
              <a:t>可判斷的檢查之中，通過的比例。權重全部相等，沒有 fit 出來的數；判斷不到的檢查不計入平均，但會令 deck-ready 不成立。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3291840"/>
            <a:ext cx="3611880" cy="14173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447288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300" b="1" i="0">
                <a:solidFill>
                  <a:srgbClr val="10233A"/>
                </a:solidFill>
                <a:latin typeface="PingFang HK"/>
              </a:rPr>
              <a:t>為什麼不用權重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00" b="0" i="0">
                <a:solidFill>
                  <a:srgbClr val="1E3652"/>
                </a:solidFill>
                <a:latin typeface="PingFang HK"/>
              </a:rPr>
              <a:t>任何權重都是一個沒有證據的數 —— 同報告反對「24 點字」的理由一樣。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920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b="0" i="0">
                <a:solidFill>
                  <a:srgbClr val="5A6B7C"/>
                </a:solidFill>
                <a:latin typeface="PingFang HK"/>
              </a:rPr>
              <a:t>G4 與 G5 是兩個真正需要解析度的：顏色要穿過主題與 z-order 解析，文字高度要用字體度量估算。兩者都排在迴圈之前，因為一個不能信的指標，不能當訊號。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目前結果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PingFang HK"/>
              </a:rPr>
              <a:t>每一張生成出來的 slide 都至少違反一個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PingFang HK"/>
              </a:rPr>
              <a:t>09</a:t>
            </a:r>
          </a:p>
        </p:txBody>
      </p:sp>
      <p:pic>
        <p:nvPicPr>
          <p:cNvPr id="8" name="Picture 7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6263640" cy="35232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257800"/>
            <a:ext cx="6263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50" b="0" i="1">
                <a:solidFill>
                  <a:srgbClr val="5A6B7C"/>
                </a:solidFill>
                <a:latin typeface="PingFang HK"/>
              </a:rPr>
              <a:t>生成的 deck 第 2 頁：圖已放入，圖說在下面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52360" y="1664208"/>
          <a:ext cx="4160519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143000"/>
                <a:gridCol w="114300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/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PPTAgent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DOC2PPT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頁數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9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9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合格頁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0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0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SRR（頁面級）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0.00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0.00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違規數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33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32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G3 違規頁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9 / 9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9 / 9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1" i="0">
                          <a:solidFill>
                            <a:srgbClr val="10233A"/>
                          </a:solidFill>
                          <a:latin typeface="PingFang HK"/>
                        </a:rPr>
                        <a:t>G6 違規頁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8 / 9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000" b="0" i="0">
                          <a:solidFill>
                            <a:srgbClr val="1E3652"/>
                          </a:solidFill>
                          <a:latin typeface="PingFang HK"/>
                        </a:rPr>
                        <a:t>8 / 9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452360" y="4224528"/>
            <a:ext cx="4206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00" b="0" i="0">
                <a:solidFill>
                  <a:srgbClr val="1E3652"/>
                </a:solidFill>
                <a:latin typeface="PingFang HK"/>
              </a:rPr>
              <a:t>這是預期結果，不是缺陷：baseline 生成器完全不理會這些 gate。重點是這個數字可以重跑，而違規是逐項命名的。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實際執行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PingFang HK"/>
              </a:rPr>
              <a:t>整條 pipeline 跑得完，而且會老實地報錯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PingFang HK"/>
              </a:rPr>
              <a:t>10</a:t>
            </a:r>
          </a:p>
        </p:txBody>
      </p:sp>
      <p:pic>
        <p:nvPicPr>
          <p:cNvPr id="8" name="Picture 7" descr="console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7589520" cy="48278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455664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800" b="0" i="1">
                <a:solidFill>
                  <a:srgbClr val="5A6B7C"/>
                </a:solidFill>
                <a:latin typeface="PingFang HK"/>
              </a:rPr>
              <a:t>真實終端輸出；中間幾行省略。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737360"/>
            <a:ext cx="29260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 i="0">
                <a:solidFill>
                  <a:srgbClr val="C08A2E"/>
                </a:solidFill>
                <a:latin typeface="PingFang HK"/>
              </a:rPr>
              <a:t>parse</a:t>
            </a:r>
          </a:p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sz="900" b="0" i="0">
                <a:solidFill>
                  <a:srgbClr val="1E3652"/>
                </a:solidFill>
                <a:latin typeface="PingFang HK"/>
              </a:rPr>
              <a:t>8 個章節、24 個圖說、裁出 11 張圖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578608"/>
            <a:ext cx="29260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 i="0">
                <a:solidFill>
                  <a:srgbClr val="C08A2E"/>
                </a:solidFill>
                <a:latin typeface="PingFang HK"/>
              </a:rPr>
              <a:t>compose</a:t>
            </a:r>
          </a:p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sz="900" b="0" i="0">
                <a:solidFill>
                  <a:srgbClr val="1E3652"/>
                </a:solidFill>
                <a:latin typeface="PingFang HK"/>
              </a:rPr>
              <a:t>8 張 slide，每張 90 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3419856"/>
            <a:ext cx="29260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 i="0">
                <a:solidFill>
                  <a:srgbClr val="C08A2E"/>
                </a:solidFill>
                <a:latin typeface="PingFang HK"/>
              </a:rPr>
              <a:t>render</a:t>
            </a:r>
          </a:p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sz="900" b="0" i="0">
                <a:solidFill>
                  <a:srgbClr val="1E3652"/>
                </a:solidFill>
                <a:latin typeface="PingFang HK"/>
              </a:rPr>
              <a:t>9 頁 deck，原生可編輯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4261104"/>
            <a:ext cx="29260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 i="0">
                <a:solidFill>
                  <a:srgbClr val="C08A2E"/>
                </a:solidFill>
                <a:latin typeface="PingFang HK"/>
              </a:rPr>
              <a:t>detect</a:t>
            </a:r>
          </a:p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sz="900" b="0" i="0">
                <a:solidFill>
                  <a:srgbClr val="1E3652"/>
                </a:solidFill>
                <a:latin typeface="PingFang HK"/>
              </a:rPr>
              <a:t>32 個違規，SRR 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5102352"/>
            <a:ext cx="29260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1" i="0">
                <a:solidFill>
                  <a:srgbClr val="C08A2E"/>
                </a:solidFill>
                <a:latin typeface="PingFang HK"/>
              </a:rPr>
              <a:t>pytest</a:t>
            </a:r>
          </a:p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sz="900" b="0" i="0">
                <a:solidFill>
                  <a:srgbClr val="1E3652"/>
                </a:solidFill>
                <a:latin typeface="PingFang HK"/>
              </a:rPr>
              <a:t>76 個測試全綠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狀態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PingFang HK"/>
              </a:rPr>
              <a:t>做好了什麼，下一步是什麼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PingFang HK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91640"/>
            <a:ext cx="3520440" cy="2926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91640"/>
            <a:ext cx="3520440" cy="50292"/>
          </a:xfrm>
          <a:prstGeom prst="rect">
            <a:avLst/>
          </a:prstGeom>
          <a:solidFill>
            <a:srgbClr val="2F7D5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74519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0233A"/>
                </a:solidFill>
                <a:latin typeface="PingFang HK"/>
              </a:rPr>
              <a:t>已做好並有測試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31720"/>
            <a:ext cx="31546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 i="0">
                <a:solidFill>
                  <a:srgbClr val="1E3652"/>
                </a:solidFill>
                <a:latin typeface="PingFang HK"/>
              </a:rPr>
              <a:t>-  parse：章節、圖、圖說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950" b="0" i="0">
                <a:solidFill>
                  <a:srgbClr val="1E3652"/>
                </a:solidFill>
                <a:latin typeface="PingFang HK"/>
              </a:rPr>
              <a:t>-  裁圖：樣本上 32 個圖說成功 12 個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950" b="0" i="0">
                <a:solidFill>
                  <a:srgbClr val="1E3652"/>
                </a:solidFill>
                <a:latin typeface="PingFang HK"/>
              </a:rPr>
              <a:t>-  render：原生 .pptx 連講稿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950" b="0" i="0">
                <a:solidFill>
                  <a:srgbClr val="1E3652"/>
                </a:solidFill>
                <a:latin typeface="PingFang HK"/>
              </a:rPr>
              <a:t>-  G1、G2、G3、G6 + SRR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950" b="0" i="0">
                <a:solidFill>
                  <a:srgbClr val="1E3652"/>
                </a:solidFill>
                <a:latin typeface="PingFang HK"/>
              </a:rPr>
              <a:t>-  選段規則表，55 個測試函數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3712" y="1691640"/>
            <a:ext cx="3520440" cy="2926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1691640"/>
            <a:ext cx="3520440" cy="50292"/>
          </a:xfrm>
          <a:prstGeom prst="rect">
            <a:avLst/>
          </a:prstGeom>
          <a:solidFill>
            <a:srgbClr val="B07A1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1874519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0233A"/>
                </a:solidFill>
                <a:latin typeface="PingFang HK"/>
              </a:rPr>
              <a:t>部分完成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331720"/>
            <a:ext cx="31546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 i="0">
                <a:solidFill>
                  <a:srgbClr val="1E3652"/>
                </a:solidFill>
                <a:latin typeface="PingFang HK"/>
              </a:rPr>
              <a:t>-  G3 / G6 仍然用一個全局門檻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950" b="0" i="0">
                <a:solidFill>
                  <a:srgbClr val="1E3652"/>
                </a:solidFill>
                <a:latin typeface="PingFang HK"/>
              </a:rPr>
              <a:t>-  圖說截斷要改成詞語邊界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950" b="0" i="0">
                <a:solidFill>
                  <a:srgbClr val="1E3652"/>
                </a:solidFill>
                <a:latin typeface="PingFang HK"/>
              </a:rPr>
              <a:t>-  claim 仍然由 heuristic 抽取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91640"/>
            <a:ext cx="3520440" cy="2926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38744" y="1691640"/>
            <a:ext cx="3520440" cy="50292"/>
          </a:xfrm>
          <a:prstGeom prst="rect">
            <a:avLst/>
          </a:prstGeom>
          <a:solidFill>
            <a:srgbClr val="5A6B7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874519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0233A"/>
                </a:solidFill>
                <a:latin typeface="PingFang HK"/>
              </a:rPr>
              <a:t>未開始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331720"/>
            <a:ext cx="31546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950" b="0" i="0">
                <a:solidFill>
                  <a:srgbClr val="1E3652"/>
                </a:solidFill>
                <a:latin typeface="PingFang HK"/>
              </a:rPr>
              <a:t>-  G4 對比、G5 文字溢出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950" b="0" i="0">
                <a:solidFill>
                  <a:srgbClr val="1E3652"/>
                </a:solidFill>
                <a:latin typeface="PingFang HK"/>
              </a:rPr>
              <a:t>-  修復動作與迴圈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950" b="0" i="0">
                <a:solidFill>
                  <a:srgbClr val="1E3652"/>
                </a:solidFill>
                <a:latin typeface="PingFang HK"/>
              </a:rPr>
              <a:t>-  110 張測試集與標註</a:t>
            </a:r>
          </a:p>
          <a:p>
            <a:pPr algn="l">
              <a:lnSpc>
                <a:spcPct val="125000"/>
              </a:lnSpc>
              <a:spcBef>
                <a:spcPts val="700"/>
              </a:spcBef>
            </a:pPr>
            <a:r>
              <a:rPr sz="950" b="0" i="0">
                <a:solidFill>
                  <a:srgbClr val="1E3652"/>
                </a:solidFill>
                <a:latin typeface="PingFang HK"/>
              </a:rPr>
              <a:t>-  人手 deck、baseline、2×2 實驗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377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50" b="0" i="1">
                <a:solidFill>
                  <a:srgbClr val="5A6B7C"/>
                </a:solidFill>
                <a:latin typeface="PingFang HK"/>
              </a:rPr>
              <a:t>76 個測試全綠。上面那份 deck 就是這條 pipeline 由頭到尾跑出來的。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計劃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PingFang HK"/>
              </a:rPr>
              <a:t>實驗設計，與時間表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PingFang HK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0233A"/>
                </a:solidFill>
                <a:latin typeface="PingFang HK"/>
              </a:rPr>
              <a:t>設計：2 × 2 因子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68680" y="2011680"/>
          <a:ext cx="4937760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600200"/>
                <a:gridCol w="160020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/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不檢查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開檢查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100" b="1" i="0">
                          <a:solidFill>
                            <a:srgbClr val="10233A"/>
                          </a:solidFill>
                          <a:latin typeface="PingFang HK"/>
                        </a:rPr>
                        <a:t>基礎模型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100" b="0" i="0">
                          <a:solidFill>
                            <a:srgbClr val="1E3652"/>
                          </a:solidFill>
                          <a:latin typeface="PingFang HK"/>
                        </a:rPr>
                        <a:t>A1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100" b="0" i="0">
                          <a:solidFill>
                            <a:srgbClr val="1E3652"/>
                          </a:solidFill>
                          <a:latin typeface="PingFang HK"/>
                        </a:rPr>
                        <a:t>A2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100" b="1" i="0">
                          <a:solidFill>
                            <a:srgbClr val="10233A"/>
                          </a:solidFill>
                          <a:latin typeface="PingFang HK"/>
                        </a:rPr>
                        <a:t>fine-tuned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100" b="0" i="0">
                          <a:solidFill>
                            <a:srgbClr val="1E3652"/>
                          </a:solidFill>
                          <a:latin typeface="PingFang HK"/>
                        </a:rPr>
                        <a:t>A1'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1100" b="0" i="0">
                          <a:solidFill>
                            <a:srgbClr val="1E3652"/>
                          </a:solidFill>
                          <a:latin typeface="PingFang HK"/>
                        </a:rPr>
                        <a:t>A2'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8680" y="315468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50" b="0" i="0">
                <a:solidFill>
                  <a:srgbClr val="1E3652"/>
                </a:solidFill>
                <a:latin typeface="PingFang HK"/>
              </a:rPr>
              <a:t>A2 − A1 隔離出檢查帶來的增益。fine-tune 那一行測試這個增益在更強生成器下是否仍然存在。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00" b="0" i="1">
                <a:solidFill>
                  <a:srgbClr val="5A6B7C"/>
                </a:solidFill>
                <a:latin typeface="PingFang HK"/>
              </a:rPr>
              <a:t>fine-tune 那一臂是條件性的：只有主結果出來、而且剩下四週 buffer 才會跑。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2011680"/>
          <a:ext cx="5486400" cy="213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743200"/>
                <a:gridCol w="169164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週次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工作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里程碑</a:t>
                      </a:r>
                    </a:p>
                  </a:txBody>
                  <a:tcPr marL="73152" marT="36576" marB="36576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W1-2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範圍與文獻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提案 11/5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W3-7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rulebook、六個 gate、校準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效度檢查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W8-11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修復動作、110 張測試集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中期報告 1/7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W12-18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迴圈、消融、20 人研究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偏好相關性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1" i="0">
                          <a:solidFill>
                            <a:srgbClr val="10233A"/>
                          </a:solidFill>
                          <a:latin typeface="PingFang HK"/>
                        </a:rPr>
                        <a:t>W19-23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報告、demo、簡報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</a:pPr>
                      <a:r>
                        <a:rPr sz="950" b="0" i="0">
                          <a:solidFill>
                            <a:srgbClr val="1E3652"/>
                          </a:solidFill>
                          <a:latin typeface="PingFang HK"/>
                        </a:rPr>
                        <a:t>最終 4/8</a:t>
                      </a:r>
                    </a:p>
                  </a:txBody>
                  <a:tcPr marL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63640" y="461772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000" b="0" i="0">
                <a:solidFill>
                  <a:srgbClr val="5A6B7C"/>
                </a:solidFill>
                <a:latin typeface="PingFang HK"/>
              </a:rPr>
              <a:t>兩個效度檢查在主要研究之前跑：deck 要排成 人手 &gt; PPTAgent &gt; naive；SRR 要跟隨人類偏好。相關係數會預先註冊，無論結果如何都報。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233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404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50" b="1" i="0">
                <a:solidFill>
                  <a:srgbClr val="C08A2E"/>
                </a:solidFill>
                <a:latin typeface="PingFang HK"/>
              </a:rPr>
              <a:t>需要你的意見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10233A"/>
                </a:solidFill>
                <a:latin typeface="PingFang HK"/>
              </a:rPr>
              <a:t>三個決定，一個問題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389888"/>
            <a:ext cx="10881360" cy="12801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35508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</a:pPr>
            <a:r>
              <a:rPr sz="900" b="0" i="0">
                <a:solidFill>
                  <a:srgbClr val="8A99A8"/>
                </a:solidFill>
                <a:latin typeface="PingFang HK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3736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 i="0">
                <a:solidFill>
                  <a:srgbClr val="C08A2E"/>
                </a:solidFill>
                <a:latin typeface="PingFang H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91640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0233A"/>
                </a:solidFill>
                <a:latin typeface="PingFang HK"/>
              </a:rPr>
              <a:t>人手 deck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050" b="0" i="0">
                <a:solidFill>
                  <a:srgbClr val="1E3652"/>
                </a:solidFill>
                <a:latin typeface="PingFang HK"/>
              </a:rPr>
              <a:t>哪裡可以拿到作者真正上台用的 deck？它是效度檢查的上界，而我手上完全沒有。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97180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 i="0">
                <a:solidFill>
                  <a:srgbClr val="C08A2E"/>
                </a:solidFill>
                <a:latin typeface="PingFang H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926080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0233A"/>
                </a:solidFill>
                <a:latin typeface="PingFang HK"/>
              </a:rPr>
              <a:t>範圍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050" b="0" i="0">
                <a:solidFill>
                  <a:srgbClr val="1E3652"/>
                </a:solidFill>
                <a:latin typeface="PingFang HK"/>
              </a:rPr>
              <a:t>單欄英文論文、10–12 張、8 篇 held-out —— 這樣窄到做得完，還是窄到不能推廣？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20624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C08A2E"/>
            </a:solidFill>
          </a:ln>
          <a:effectLst/>
        </p:spPr>
        <p:txBody>
          <a:bodyPr rtlCol="0" anchor="ctr" wrap="square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00" b="1" i="0">
                <a:solidFill>
                  <a:srgbClr val="C08A2E"/>
                </a:solidFill>
                <a:latin typeface="PingFang H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160520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250" b="1" i="0">
                <a:solidFill>
                  <a:srgbClr val="10233A"/>
                </a:solidFill>
                <a:latin typeface="PingFang HK"/>
              </a:rPr>
              <a:t>Gate 集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050" b="0" i="0">
                <a:solidFill>
                  <a:srgbClr val="1E3652"/>
                </a:solidFill>
                <a:latin typeface="PingFang HK"/>
              </a:rPr>
              <a:t>六個機械性 gate，密度與字級用掃描而不是擬合。這樣站得住腳，還是應該減一個？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440680"/>
            <a:ext cx="10881360" cy="777240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55955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00" b="0" i="0">
                <a:solidFill>
                  <a:srgbClr val="10233A"/>
                </a:solidFill>
                <a:latin typeface="PingFang HK"/>
              </a:rPr>
              <a:t>另外想聽你的看法：一個確定性的 detector，在這裡會被視為優點，還是被視為 AI 成分不足？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