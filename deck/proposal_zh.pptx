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DSAI4901  ·  CAPSTONE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7680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700" b="1">
                <a:solidFill>
                  <a:srgbClr val="10233A"/>
                </a:solidFill>
                <a:latin typeface="PingFang HK"/>
              </a:rPr>
              <a:t>論文整理型 PPT Agent</a:t>
            </a:r>
          </a:p>
          <a:p>
            <a:pPr algn="l">
              <a:lnSpc>
                <a:spcPct val="118000"/>
              </a:lnSpc>
              <a:spcBef>
                <a:spcPts val="1200"/>
              </a:spcBef>
            </a:pPr>
            <a:r>
              <a:rPr sz="2300" b="0">
                <a:solidFill>
                  <a:srgbClr val="2E6F95"/>
                </a:solidFill>
                <a:latin typeface="PingFang HK"/>
              </a:rPr>
              <a:t>從生成，到可驗證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75887"/>
            <a:ext cx="1371600" cy="4114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95344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5A6B7C"/>
                </a:solidFill>
                <a:latin typeface="PingFang HK"/>
              </a:rPr>
              <a:t>以「可量度的版面可用性」為核心的
簡報生成系統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PingFang HK"/>
              </a:rPr>
              <a:t>CHAN Yee Tung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5A6B7C"/>
                </a:solidFill>
                <a:latin typeface="PingFang HK"/>
              </a:rPr>
              <a:t>指導老師：Dr. Jibin Wu</a:t>
            </a:r>
          </a:p>
          <a:p>
            <a:pPr algn="l">
              <a:lnSpc>
                <a:spcPct val="118000"/>
              </a:lnSpc>
              <a:spcBef>
                <a:spcPts val="100"/>
              </a:spcBef>
            </a:pPr>
            <a:r>
              <a:rPr sz="1050" b="0">
                <a:solidFill>
                  <a:srgbClr val="5A6B7C"/>
                </a:solidFill>
                <a:latin typeface="PingFang HK"/>
              </a:rPr>
              <a:t>2026 年 10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7830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400" b="1">
                <a:solidFill>
                  <a:srgbClr val="C08A2E"/>
                </a:solidFill>
                <a:latin typeface="PingFang HK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423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PingFang HK"/>
              </a:rPr>
              <a:t>篇核心文獻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3063239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15400" y="326440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400" b="1">
                <a:solidFill>
                  <a:srgbClr val="C08A2E"/>
                </a:solidFill>
                <a:latin typeface="PingFang H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9044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PingFang HK"/>
              </a:rPr>
              <a:t>個功能缺口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4544568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15400" y="4745736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400" b="1">
                <a:solidFill>
                  <a:srgbClr val="C08A2E"/>
                </a:solidFill>
                <a:latin typeface="PingFang HK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3858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PingFang HK"/>
              </a:rPr>
              <a:t>條研究路線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01 · 研究基礎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文獻研究：由 367 篇收窄到 38 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920240"/>
            <a:ext cx="78638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391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10233A"/>
                </a:solidFill>
                <a:latin typeface="PingFang HK"/>
              </a:rPr>
              <a:t>367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6629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5A6B7C"/>
                </a:solidFill>
                <a:latin typeface="PingFang HK"/>
              </a:rPr>
              <a:t>arXiv 候選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16352"/>
            <a:ext cx="51206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93522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10233A"/>
                </a:solidFill>
                <a:latin typeface="PingFang HK"/>
              </a:rPr>
              <a:t>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99232"/>
            <a:ext cx="3886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5A6B7C"/>
                </a:solidFill>
                <a:latin typeface="PingFang HK"/>
              </a:rPr>
              <a:t>相關度篩選後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12464"/>
            <a:ext cx="402336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831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10233A"/>
                </a:solidFill>
                <a:latin typeface="PingFang HK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95344"/>
            <a:ext cx="2788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5A6B7C"/>
                </a:solidFill>
                <a:latin typeface="PingFang HK"/>
              </a:rPr>
              <a:t>精讀（33 Agent + 5 教育）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08576"/>
            <a:ext cx="3291840" cy="676656"/>
          </a:xfrm>
          <a:prstGeom prst="roundRect">
            <a:avLst>
              <a:gd name="adj" fmla="val 35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7274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PingFang HK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91456"/>
            <a:ext cx="2057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FFFFFF"/>
                </a:solidFill>
                <a:latin typeface="PingFang HK"/>
              </a:rPr>
              <a:t>作者公開原始碼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920240"/>
            <a:ext cx="2834640" cy="306324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066543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C08A2E"/>
                </a:solidFill>
                <a:latin typeface="PingFang HK"/>
              </a:rPr>
              <a:t>我實際做了什麼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59152"/>
            <a:ext cx="239572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8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12 組 arXiv 查詢（slide / PPT / poster / deck）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以功能相關度篩選，排除無關領域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38 篇全文關鍵詞掃描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逐篇由 PDF 抽取 GitHub 連結並 HTTP 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0">
                <a:solidFill>
                  <a:srgbClr val="8A99A8"/>
                </a:solidFill>
                <a:latin typeface="PingFang HK"/>
              </a:rPr>
              <a:t>18/38 有作者公開原始碼（已逐一 HTTP 驗證）；其餘為論文描述或匿名投稿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01 · 研究基礎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佢哋做得好嘅四件事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先確認已解決了什麼——這決定我不應該重做什麼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PingFang H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PingFang HK"/>
              </a:rPr>
              <a:t>生成品質與版面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PingFang HK"/>
              </a:rPr>
              <a:t>已做到「看起來像真」：版面穩定、風格一致。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PingFang HK"/>
              </a:rPr>
              <a:t>Zheng et al. (2025); Vats et al. (2026)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3592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PingFang H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PingFang HK"/>
              </a:rPr>
              <a:t>原生可編輯輸出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PingFang HK"/>
              </a:rPr>
              <a:t>開始在 .pptx 物件層操作，保留可編輯性。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PingFang HK"/>
              </a:rPr>
              <a:t>Jung et al. (2025); Zheng et al. (2026b)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9944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PingFang H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PingFang HK"/>
              </a:rPr>
              <a:t>評測方法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PingFang HK"/>
              </a:rPr>
              <a:t>從主觀打分走向任務化測試與 rubric gate。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PingFang HK"/>
              </a:rPr>
              <a:t>Zhang et al. (2025); Jang et al. (2026)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PingFang H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PingFang HK"/>
              </a:rPr>
              <a:t>多模態與敘事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PingFang HK"/>
              </a:rPr>
              <a:t>圖表進入版面；開始顯式建模故事線。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PingFang HK"/>
              </a:rPr>
              <a:t>Liang et al. (2025); Ozden et al. (2026a)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389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A83542"/>
                </a:solidFill>
                <a:latin typeface="PingFang HK"/>
              </a:rPr>
              <a:t>結論：生成能力已商品化，再做一個生成器不是貢獻。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01 · 研究基礎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把 PPT Agent 拆成 8 個功能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缺口要講得具體，先要有一張功能地圖——之後四頁逐個對照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解析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04288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8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內容選取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9936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敘事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15584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版面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71232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9832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2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2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輸出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548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檢查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79476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8862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C08A2E"/>
                </a:solidFill>
                <a:latin typeface="PingFang HK"/>
              </a:rP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8953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講稿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9776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PingFang HK"/>
              </a:rPr>
              <a:t>跨階段：把內容轉成可講的節奏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75488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46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C08A2E"/>
                </a:solidFill>
                <a:latin typeface="PingFang HK"/>
              </a:rPr>
              <a:t>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85546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PingFang HK"/>
              </a:rPr>
              <a:t>引用與可追溯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937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PingFang HK"/>
              </a:rPr>
              <a:t>跨階段：每一句都要有出處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8A99A8"/>
                </a:solidFill>
                <a:latin typeface="PingFang HK"/>
              </a:rPr>
              <a:t>接下來四頁：每頁兩個缺口——症狀 · 證據 · 後果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缺口 1 ｜ 解析與內容選取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① 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圖文分離，輸入即失真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figure 與 caption 被拆散，圖文對不上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雙欄論文閱讀順序錯亂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表格被壓成文字牆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解析被當作前處理，未處理圖文對齊（Pang et al., 2025; Fu et al., 2021）。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錯的輸入被下游全部繼承，而且錯誤在成品上不可見。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② 內容選取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平均分配，沒有輕重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每節平均一頁，與重要性無關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最關鍵結果被省略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method 細節塞進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多數方法集中文字選取，忽略篇幅與重要性的對應（Liang et al., 2025; Chen et al., 2026）。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deck 完整但沒有重點，觀眾只記得標題。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缺口 2 ｜ 敘事與版面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③ 敘事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目錄式摘要，不是演講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逐段摘要＝論文目錄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十頁 background、兩頁 result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沒有動機→問題→洞見→證據的弧線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原文直接摘要成 slide（Ozden et al., 2026a）；顯式敘事規劃仍屬少數（Vats et al., 2026）。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講者朗讀目錄，聽眾建立不到因果理解。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④ 版面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出界、重疊、被裁切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文字出界、元素重疊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字級過小、對比不足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圖被裁切，每頁都是 bullet 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局部錯誤包括 overflow、overlap、clipping、off-canvas（Tian et al., 2026）；模型讀得懂卻排不好（Huang et al., 2025）。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投影時文字被切、圖被遮，觀眾即時失去信任。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缺口 3 ｜ 輸出與檢查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⑤ 輸出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看似可用，其實不能改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輸出圖片或 HTML，不能在 PowerPoint 內編輯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全 textbox，改一個字就爆版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圖表被點陣化，資料消失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常把可編輯內容點陣化或破壞版面（Zheng et al., 2026b）；物件模型路線才保留樣式（Jung et al., 2025）。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用戶拿到成品但不能改，等於不能用。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⑥ 檢查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一次性回饋，無法歸因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整份重寫一次，只看一次回饋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錯誤無法定位到具體元素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修完可能更差，無收斂保證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單體式 one-version-one-feedback 令局部錯誤難以歸因（Tian et al., 2026）；反思須以渲染狀態為依據（Zheng et al., 2026a）。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迭代變成賭博：越修越差，而且無法解釋。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缺口 4 ｜ 講稿與引用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⑦ 講稿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notes 只是 bullet 的複述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notes 與頁面文字高度重複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沒有時間預算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沒有轉場句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現有系統低估交付過程（Yang et al., 2026）；38 篇中僅 5 篇提及 speaker notes，且非研究重點。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講者照讀 slide，觀眾同時讀字與聽字。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⑧ 引用與可追溯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PingFang HK"/>
              </a:rPr>
              <a:t>寫得出字，說不出出處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症狀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bullet 沒有出處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related work 寫成「本文提出」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▪  </a:t>
            </a:r>
            <a:r>
              <a:rPr sz="880">
                <a:solidFill>
                  <a:srgbClr val="1E3652"/>
                </a:solidFill>
                <a:latin typeface="PingFang HK"/>
              </a:rPr>
              <a:t>圖表編號錯配、數字張冠李戴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PingFang HK"/>
              </a:rPr>
              <a:t>文獻證據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PingFang HK"/>
              </a:rPr>
              <a:t>檢索提升可靠性但未提供逐句出處（Xie et al., 2025）；全局意圖保留，句子級錨點仍缺（Ozden et al., 2026a）。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後果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PingFang HK"/>
              </a:rPr>
              <a:t>講錯數據無人察覺；一次錯誤引用足以摧毀可信度。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02 · 功能缺口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單點失效，會被下游放大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PingFang HK"/>
              </a:rPr>
              <a:t>輸入錯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86584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87752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PingFang HK"/>
              </a:rPr>
              <a:t>內容錯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97096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PingFang HK"/>
              </a:rPr>
              <a:t>敘事散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7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5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5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PingFang HK"/>
              </a:rPr>
              <a:t>版面爆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19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9288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PingFang HK"/>
              </a:rPr>
              <a:t>修不好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28632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PingFang HK"/>
              </a:rPr>
              <a:t>無從查證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8716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>
                <a:solidFill>
                  <a:srgbClr val="8A99A8"/>
                </a:solidFill>
                <a:latin typeface="PingFang HK"/>
              </a:rPr>
              <a:t>每一個上游錯誤都會在下游被放大，而且無法回溯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3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C08A2E"/>
                </a:solidFill>
                <a:latin typeface="PingFang HK"/>
              </a:rPr>
              <a:t>觀眾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19" b="0">
                <a:solidFill>
                  <a:srgbClr val="1E3652"/>
                </a:solidFill>
                <a:latin typeface="PingFang HK"/>
              </a:rPr>
              <a:t>看不懂、記不住，當場看到字被切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→ 注意力流失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1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C08A2E"/>
                </a:solidFill>
                <a:latin typeface="PingFang HK"/>
              </a:rPr>
              <a:t>講者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1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19" b="0">
                <a:solidFill>
                  <a:srgbClr val="1E3652"/>
                </a:solidFill>
                <a:latin typeface="PingFang HK"/>
              </a:rPr>
              <a:t>不敢用，答不出「這數字哪來的」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→ 信任崩塌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46136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C08A2E"/>
                </a:solidFill>
                <a:latin typeface="PingFang HK"/>
              </a:rPr>
              <a:t>研究者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19" b="0">
                <a:solidFill>
                  <a:srgbClr val="1E3652"/>
                </a:solidFill>
                <a:latin typeface="PingFang HK"/>
              </a:rPr>
              <a:t>無法比較系統好壞，因為沒有共同的度量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→ 領域停滯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919472"/>
            <a:ext cx="10607040" cy="950976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029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1">
                <a:solidFill>
                  <a:srgbClr val="10233A"/>
                </a:solidFill>
                <a:latin typeface="PingFang HK"/>
              </a:rPr>
              <a:t>量度已經存在（SlideAudit、DECKBench）；缺的是把它當作控制訊號，並量度它換來幾多。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03 · 為何是這個方向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為何揀這個方向，唔做其他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四個替代方向都認真考慮過，各自卡在一個具體限制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56132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20240"/>
            <a:ext cx="21305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PingFang HK"/>
              </a:rPr>
              <a:t>考慮過的方向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1920240"/>
            <a:ext cx="25877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PingFang HK"/>
              </a:rPr>
              <a:t>為何吸引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5895" y="1920240"/>
            <a:ext cx="5239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PingFang HK"/>
              </a:rPr>
              <a:t>為何唔做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12848"/>
            <a:ext cx="1056132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267712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減少幻覺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267712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PingFang HK"/>
              </a:rPr>
              <a:t>故事易講、novelty 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5" y="2267712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PingFang HK"/>
              </a:rPr>
              <a:t>幻覺係大模型本身的屬性。學生只能在外面加 RAG，而 RAG 對「編造」有效，對「過度概括／張冠李戴」無效。真值要逐句人手核對：300 條 × 2 分鐘。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54096"/>
            <a:ext cx="1056132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108960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更細的分類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3108960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PingFang HK"/>
              </a:rPr>
              <a:t>定義清楚、容易寫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5" y="3108960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PingFang HK"/>
              </a:rPr>
              <a:t>SlideAudit 已用設計專家 + 受訓標註做了 27 類、2,400 張。單人不可能比它更細更好。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95344"/>
            <a:ext cx="1056132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950207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多智能體架構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3950207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PingFang HK"/>
              </a:rPr>
              <a:t>聽起來先進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5" y="3950207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PingFang HK"/>
              </a:rPr>
              <a:t>逐模組消融幾乎做唔到；評審第一句必問「邊個 agent 真正有用」。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6592"/>
            <a:ext cx="1056132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91455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成本優化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4791455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PingFang HK"/>
              </a:rPr>
              <a:t>容易量化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5" y="4791455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PingFang HK"/>
              </a:rPr>
              <a:t>成本係分母，唔係目標。純工程調優唔算研究貢獻。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875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A83542"/>
                </a:solidFill>
                <a:latin typeface="PingFang HK"/>
              </a:rPr>
              <a:t>我們揀的交集：可機械判定  ×  可逐類歸因  ×  單人做得完。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03 · 為何是這個方向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這個方向建立在這八篇之上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每一篇都有明確角色，唔係「相關工作」四個字帶過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4708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385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SlideAudit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12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標籤空間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66543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借用六個重疊類別，逐字沿用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4708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4708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DECKBench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12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對照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066543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需要參考 deck 的評分；證明我們不同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0720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80720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898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PPTArena / PPTPilot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172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Baseline 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0266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同一迴圈的對照臂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0720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80720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898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ReDeck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172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迴圈設計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0266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一次改一個元素、改完即驗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6732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76732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38587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PPTAgent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4133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Baseline 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98678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最強可複現生成系統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6732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6732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8587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Paper2Poster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133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評測靈感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8678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只用成品答問題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72744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72744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48188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PosterMELD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50932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概念來源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94690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PRR → SRR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72744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72744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48188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SLIDEFORGE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50932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PingFang HK"/>
              </a:rPr>
              <a:t>表徵方式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94690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用 pptx 物件層而非像素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04 · 研究方向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我的方向：論文整理，不做 lecture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把可計算的版面違規變成迴圈中的控制訊號，並量度它換來幾多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47088"/>
            <a:ext cx="5074920" cy="155448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2E6F95"/>
                </a:solidFill>
                <a:latin typeface="PingFang HK"/>
              </a:rPr>
              <a:t>範圍之內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634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880" b="1">
                <a:solidFill>
                  <a:srgbClr val="2E6F95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單欄英文論文，共 8–10 篇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每份 10–12 版，輸出可編輯 .pptx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六類違規，逐類報告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講稿：每頁 2–3 句 + 時間預算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20 人 pairwise 人評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11296"/>
            <a:ext cx="5074920" cy="195681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621024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A83542"/>
                </a:solidFill>
                <a:latin typeface="PingFang HK"/>
              </a:rPr>
              <a:t>明確不做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77056"/>
            <a:ext cx="466344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lecture notes／教材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雙欄或掃描論文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中文／雙語輸出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幻覺量度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PingFang HK"/>
              </a:rPr>
              <a:t>•  </a:t>
            </a:r>
            <a:r>
              <a:rPr sz="880">
                <a:solidFill>
                  <a:srgbClr val="1E3652"/>
                </a:solidFill>
                <a:latin typeface="PingFang HK"/>
              </a:rPr>
              <a:t>以多智能體作賣點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847088"/>
            <a:ext cx="5266944" cy="27980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933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7510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唔需要參考 deck，可以量度版面可用性嗎？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4871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4688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同一個迴圈裡，規則驗證器會否勝過 VLM judge？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98094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96265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邊類違規改得好，邊類改完都無效？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4747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RQ4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45643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每一點改善要幾多成本？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96849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RQ5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9502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每條 bullet 能否帶可解析的出處？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4773168"/>
            <a:ext cx="5266944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86460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0233A"/>
                </a:solidFill>
                <a:latin typeface="PingFang HK"/>
              </a:rPr>
              <a:t>主線之後——provenance 模組（C5）：逐條 bullet 標出處，100 條，約四小時標註。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04 · 研究方向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五個貢獻，按份量排序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2763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10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PingFang HK"/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1907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一個 reference-free 的物件層可用性量度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73736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PingFang HK"/>
              </a:rPr>
              <a:t>SRR、deck-ready、逐 gate 通過率，全部在原生 .pptx 上計算，不需標準答案。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5059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334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PingFang HK"/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4203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把量度變成控制訊號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6032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PingFang HK"/>
              </a:rPr>
              <a:t>detect → edit → re-render → re-measure；只把「驗證器」當變量隔離。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7355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564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PingFang HK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6499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逐類歸因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38328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PingFang HK"/>
              </a:rPr>
              <a:t>哪類修得好、哪類修唔好、為什麼。這才是論文。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9651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793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PingFang HK"/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8795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可重跑的研究資源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20624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PingFang HK"/>
              </a:rPr>
              <a:t>150 版標註（40 校準 + 110 測試）、rulebook、detector、腳本。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1947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1023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PingFang HK"/>
              </a:rP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01091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出處錨點（次要）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02920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PingFang HK"/>
              </a:rPr>
              <a:t>每條 bullet 可解析到原文段落；報 coverage 與 accuracy。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PingFang HK"/>
              </a:rPr>
              <a:t>C1 是尺，C2 是手，C3 是結論。C4 令它可被重跑；C5 時間不足時最先砍。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05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操作型定義：slide-ready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SRR ＝ 過關 slide 數 ÷ slide 總數；deck-ready 是另一個 binary。兩者永遠一齊報。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56132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2024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規則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閾值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1920240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依據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3536" y="192024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掃描範圍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31136"/>
            <a:ext cx="10561320" cy="548640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1343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G1 出界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1343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所有 shape 在版面內；圖片不被裁切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0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31343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二元規則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3536" y="231343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779776"/>
            <a:ext cx="10561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86207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G2 重疊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6207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文字交集 ÷ 較小框面積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6207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&gt;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86207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經驗值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286207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2 / 5 / 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28415"/>
            <a:ext cx="10561320" cy="548640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41071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G3 字級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410711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由 run properties 讀取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10711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18 / 28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410711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設計慣例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341071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16 / 18 / 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877056"/>
            <a:ext cx="10561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95935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G4 對比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95935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WCAG 2.2 AA，填充對背景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5935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4.5:1（大字 3:1）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395935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公開標準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395935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425696"/>
            <a:ext cx="10561320" cy="548640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50799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G5 文字溢出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50799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渲染文字高度 ÷ 框高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50799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≤ 0.95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450799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渲染容差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3536" y="450799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0.90 / 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974336"/>
            <a:ext cx="10561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505663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G6 密度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056631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每版字數；每段 bullet 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056631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≤ 140；≤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5056631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經驗值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3536" y="505663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120 / 160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14416"/>
            <a:ext cx="106070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80" b="0">
                <a:solidFill>
                  <a:srgbClr val="5A6B7C"/>
                </a:solidFill>
                <a:latin typeface="PingFang HK"/>
              </a:rPr>
              <a:t>校準：逐個閾值掃描，取與人評一致度最高的值，並報整條曲線。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80" b="0">
                <a:solidFill>
                  <a:srgbClr val="A83542"/>
                </a:solidFill>
                <a:latin typeface="PingFang HK"/>
              </a:rPr>
              <a:t>聚合：SRR 是 slide 級連續值；deck-ready 要求全部過關（9/10 唔算 ready）。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80" b="0">
                <a:solidFill>
                  <a:srgbClr val="2E6F95"/>
                </a:solidFill>
                <a:latin typeface="PingFang HK"/>
              </a:rPr>
              <a:t>定位：SlideAudit 提供標籤空間；DECKBench 對參考 deck 評分；SRR 無需參考，係控制訊號而非分數。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05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證據計劃：一致性、檢定力、後備方案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分數取決於懷疑論者能唔能重跑這三個數字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10512"/>
            <a:ext cx="5074920" cy="26974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C08A2E"/>
                </a:solidFill>
                <a:latin typeface="PingFang HK"/>
              </a:rPr>
              <a:t>DETECTOR 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634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150 版 ＝ 40 校準 + 110 測試，跨三個系統分層抽樣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2 位獨立標註者；規則訓練 + 10 版校準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每類 Cohen's kappa ≥ 0.70，分歧由第三方裁定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逐類報 precision / recall / F1，不報總分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校準 F1 &lt; 0.70 就改規則並重新凍結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10512"/>
            <a:ext cx="5212080" cy="26974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9385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C08A2E"/>
                </a:solidFill>
                <a:latin typeface="PingFang HK"/>
              </a:rPr>
              <a:t>人評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2212848"/>
            <a:ext cx="47548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受試者內設計：20 人 × 4 篇，同一篇見三個系統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預先註冊單一主要對比：我們 vs VLM-judge 迴圈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其餘兩個對比用 Holm–Bonferroni 校正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n = 20 可偵測 d ≈ 0.65–0.70（80% 檢定力）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PingFang HK"/>
              </a:rPr>
              <a:t>•  </a:t>
            </a:r>
            <a:r>
              <a:rPr sz="860">
                <a:solidFill>
                  <a:srgbClr val="1E3652"/>
                </a:solidFill>
                <a:latin typeface="PingFang HK"/>
              </a:rPr>
              <a:t>受試者不知條件次序；論文輪換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81728"/>
            <a:ext cx="10634472" cy="93268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773168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A83542"/>
                </a:solidFill>
                <a:latin typeface="PingFang HK"/>
              </a:rPr>
              <a:t>若招募不足 20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010912"/>
            <a:ext cx="10149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PingFang HK"/>
              </a:rPr>
              <a:t>3 位專家評分（ICC）  ·  QA 題目由 10 增至 25  ·  報貝氏優越機率  ·  標記為 exploratory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05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金色 = 本項目的新貢獻；其餘沿用已被驗證的成熟做法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3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輸入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4540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7984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section / figure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5284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證據圖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claim–evidence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96028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19472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敘事規劃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篇幅分配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76772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0216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版面求解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容量感知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557516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4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渲染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python-pptx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38260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61704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8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檢查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違規偵測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319004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42448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97312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PingFang HK"/>
              </a:rPr>
              <a:t>修復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PingFang HK"/>
              </a:rPr>
              <a:t>局部重寫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145536"/>
            <a:ext cx="10607040" cy="310896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016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200400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⑨ 講稿 — 每頁 2–3 句 + 時間預算，寫入 .pptx notes；一次生成，不在控制迴圈內。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547872"/>
            <a:ext cx="3346704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3" y="3675887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限制輸出空間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3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PingFang HK"/>
              </a:rPr>
              <a:t>模型只寫結構化內容，幾何交給求解器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3547872"/>
            <a:ext cx="3346704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9431" y="3675887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一次只改一個元素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9431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PingFang HK"/>
              </a:rPr>
              <a:t>局部重寫 + 即時驗證，錯誤才可歸因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46136" y="3547872"/>
            <a:ext cx="3346704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3675887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PingFang HK"/>
              </a:rPr>
              <a:t>所有判斷都要有數字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PingFang HK"/>
              </a:rPr>
              <a:t>不用「看起來不錯」，只用可量度的違規與比率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8920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0">
                <a:solidFill>
                  <a:srgbClr val="1E3652"/>
                </a:solidFill>
                <a:latin typeface="PingFang HK"/>
              </a:rPr>
              <a:t>輸出不是圖片，而是可編輯的 .pptx：版面由約束求解決定，內容由證據圖決定。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05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修復到底做啲咩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每類違規一個決策程序：由最便宜開始，並有護欄禁止新增內容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60704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202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PingFang HK"/>
              </a:rPr>
              <a:t>違規類別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1920240"/>
            <a:ext cx="5623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PingFang HK"/>
              </a:rPr>
              <a:t>按次序做啲咩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3416" y="1920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PingFang HK"/>
              </a:rPr>
              <a:t>護欄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12848"/>
            <a:ext cx="10607040" cy="713232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286000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文字出界／被切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286000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PingFang HK"/>
              </a:rPr>
              <a:t>縮一級字 → 減內邊距 → 移入框內 → 拆頁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3416" y="2286000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PingFang HK"/>
              </a:rPr>
              <a:t>唔低於 14 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62656"/>
            <a:ext cx="106070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35808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文字重疊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3035808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PingFang HK"/>
              </a:rPr>
              <a:t>移走優先級低嘅元素 → 改框大小 → 改成兩欄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3035808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PingFang HK"/>
              </a:rPr>
              <a:t>保持圖片 z-order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12463"/>
            <a:ext cx="10607040" cy="713232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785615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文字壓住背景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3785615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PingFang HK"/>
              </a:rPr>
              <a:t>文字後加半透明底 → 移文字 → 改字色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3785615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PingFang HK"/>
              </a:rPr>
              <a:t>對比要達 4.5:1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62272"/>
            <a:ext cx="106070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535424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字太長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4535424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PingFang HK"/>
              </a:rPr>
              <a:t>刪字（只刪不加）→ 拆去下一頁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4535424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PingFang HK"/>
              </a:rPr>
              <a:t>唔准加新內容、唔准改數字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212079"/>
            <a:ext cx="10607040" cy="713232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285231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太密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5285231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PingFang HK"/>
              </a:rPr>
              <a:t>一版拆兩版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5285231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PingFang HK"/>
              </a:rPr>
              <a:t>保持論點次序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5332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PingFang HK"/>
              </a:rPr>
              <a:t>次序有意義：先做最便宜且可逆的動作，修復成本才可預測。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05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三條實作路線，同我哋行嘅次序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三條都可行；差別在成本、風險，同幾時有第一個數字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42416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202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路線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192024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做啲咩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7496" y="19202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成本／風險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32136" y="1920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時間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12848"/>
            <a:ext cx="10424160" cy="786384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304288"/>
            <a:ext cx="21122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40" b="1">
                <a:solidFill>
                  <a:srgbClr val="10233A"/>
                </a:solidFill>
                <a:latin typeface="PingFang HK"/>
              </a:rPr>
              <a:t>A 確定性修復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04288"/>
            <a:ext cx="39410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縮字 → 移位 → 改框 → 拆頁，零 LLM 呼叫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2304288"/>
            <a:ext cx="26151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PingFang HK"/>
              </a:rPr>
              <a:t>最便宜、完全可複現；表達力有限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2136" y="2304288"/>
            <a:ext cx="8778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PingFang HK"/>
              </a:rPr>
              <a:t>W5–7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08960"/>
            <a:ext cx="104241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200400"/>
            <a:ext cx="21122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40" b="1">
                <a:solidFill>
                  <a:srgbClr val="10233A"/>
                </a:solidFill>
                <a:latin typeface="PingFang HK"/>
              </a:rPr>
              <a:t>B 違規條件化重寫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3200400"/>
            <a:ext cx="39410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違規轉成約束，LLM 只重寫該版結構化內容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3200400"/>
            <a:ext cx="26151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PingFang HK"/>
              </a:rPr>
              <a:t>每版每次 1 次呼叫；內容漂移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2136" y="3200400"/>
            <a:ext cx="8778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PingFang HK"/>
              </a:rPr>
              <a:t>W8–11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05072"/>
            <a:ext cx="10424160" cy="786384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096511"/>
            <a:ext cx="21122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40" b="1">
                <a:solidFill>
                  <a:srgbClr val="10233A"/>
                </a:solidFill>
                <a:latin typeface="PingFang HK"/>
              </a:rPr>
              <a:t>C 雙迴圈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4096511"/>
            <a:ext cx="39410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PingFang HK"/>
              </a:rPr>
              <a:t>內圈 A，每三次迭代加一次 VLM 檢查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4096511"/>
            <a:ext cx="26151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PingFang HK"/>
              </a:rPr>
              <a:t>複雜度最高，最難 debug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2136" y="4096511"/>
            <a:ext cx="8778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PingFang HK"/>
              </a:rPr>
              <a:t>W12–14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60" b="1">
                <a:solidFill>
                  <a:srgbClr val="A83542"/>
                </a:solidFill>
                <a:latin typeface="PingFang HK"/>
              </a:rPr>
              <a:t>A 單獨已經有可報告結果。B 只在 A 收斂後加入；C 只作為對照臂存在。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05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如何證明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三軌並行，避免「用 LLM 評 LLM」的循環論證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56132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軌道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1920240"/>
            <a:ext cx="2697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樣本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19202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PingFang HK"/>
              </a:rPr>
              <a:t>為何需要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31136"/>
            <a:ext cx="10561320" cy="493776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86000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自動（幾何）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286000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違規數、SRR、deck-ready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286000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150 版（40 + 110）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286000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確定性、可重跑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24912"/>
            <a:ext cx="10561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779776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任務式（問答）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2779776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由成品作答的正確率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779776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10 題 × 8 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779776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讀者能否取得正確資訊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18688"/>
            <a:ext cx="10561320" cy="493776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273552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覆蓋率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3273552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論文重點有多少留在 deck 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27355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每篇 5–8 個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273552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brief 明確要求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712464"/>
            <a:ext cx="10561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767328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PingFang HK"/>
              </a:rPr>
              <a:t>人評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3767328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pairwise 偏好、可講性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3767328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PingFang HK"/>
              </a:rPr>
              <a:t>20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767328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設計沒有標準答案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315968"/>
            <a:ext cx="7589520" cy="148132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407408"/>
            <a:ext cx="7132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1">
                <a:solidFill>
                  <a:srgbClr val="C08A2E"/>
                </a:solidFill>
                <a:latin typeface="PingFang HK"/>
              </a:rPr>
              <a:t>BASELINES —— 各自回答不同問題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6451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A83542"/>
                </a:solidFill>
                <a:latin typeface="PingFang HK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464515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10233A"/>
                </a:solidFill>
                <a:latin typeface="PingFang HK"/>
              </a:rPr>
              <a:t>Naive single-pass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46451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檢查到底有冇用？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9560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A83542"/>
                </a:solidFill>
                <a:latin typeface="PingFang HK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495604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10233A"/>
                </a:solidFill>
                <a:latin typeface="PingFang HK"/>
              </a:rPr>
              <a:t>PPTAgent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49560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對比最強可複現生成器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A83542"/>
                </a:solidFill>
                <a:latin typeface="PingFang HK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6694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10233A"/>
                </a:solidFill>
                <a:latin typeface="PingFang HK"/>
              </a:rPr>
              <a:t>VLM-judge 修復迴圈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0128" y="52669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可計算規則 vs 主觀判斷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5577840"/>
            <a:ext cx="7223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PingFang HK"/>
              </a:rPr>
              <a:t>3 是主要主張：同一個迴圈、同一個預算，只換驗證器。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9640" y="4315968"/>
            <a:ext cx="2862072" cy="148132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41664" y="4407408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1">
                <a:solidFill>
                  <a:srgbClr val="C08A2E"/>
                </a:solidFill>
                <a:latin typeface="PingFang HK"/>
              </a:rPr>
              <a:t>消融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4645152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PingFang HK"/>
              </a:rPr>
              <a:t>去錨點
去檢查
去修復
→ 逐模組歸因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41664" y="55412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740" b="0">
                <a:solidFill>
                  <a:srgbClr val="A83542"/>
                </a:solidFill>
                <a:latin typeface="PingFang HK"/>
              </a:rPr>
              <a:t>逐類報告，
包括修復無效的類別。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9618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5A6B7C"/>
                </a:solidFill>
                <a:latin typeface="PingFang HK"/>
              </a:rPr>
              <a:t>檢查提前到 W5（brief 的第 5 階段）——指標要先驗證，迴圈才建得穩。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06 · 計劃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20 週時間表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PingFang HK"/>
              </a:rPr>
              <a:t>四條並行工作流；若招募不足，改用專家評分 + 擴大 QA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1460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9456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PingFang HK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PingFang HK"/>
              </a:rPr>
              <a:t>W5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9224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PingFang HK"/>
              </a:rPr>
              <a:t>W10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108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PingFang HK"/>
              </a:rPr>
              <a:t>W15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0996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78992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PingFang HK"/>
              </a:rPr>
              <a:t>W20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1920240"/>
            <a:ext cx="859536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1975104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PingFang HK"/>
              </a:rPr>
              <a:t>W1–2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568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文獻與範圍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2395728"/>
            <a:ext cx="859536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2450592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PingFang HK"/>
              </a:rPr>
              <a:t>W3–4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43230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環境與 spike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2871216"/>
            <a:ext cx="1289304" cy="310896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926080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PingFang HK"/>
              </a:rPr>
              <a:t>W5–7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907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Rulebook 與解析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2976" y="3346704"/>
            <a:ext cx="1719072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2704" y="3401568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PingFang HK"/>
              </a:rPr>
              <a:t>W8–11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3832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版面與渲染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2048" y="3822191"/>
            <a:ext cx="1289304" cy="310896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877055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PingFang HK"/>
              </a:rPr>
              <a:t>W12–14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587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校準與修復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1352" y="4297680"/>
            <a:ext cx="1719072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4352544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PingFang HK"/>
              </a:rPr>
              <a:t>W15–18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342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實驗與人評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50424" y="4773168"/>
            <a:ext cx="859536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0152" y="4828032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PingFang HK"/>
              </a:rPr>
              <a:t>W19–20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097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PingFang HK"/>
              </a:rPr>
              <a:t>報告與簡報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2026-11-05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Proposal 提交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61688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61688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5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2027-01-07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Interim 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46136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46136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7304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PingFang HK"/>
              </a:rPr>
              <a:t>2027-04-08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PingFang HK"/>
              </a:rPr>
              <a:t>Final + Turnitin + AI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PingFang HK"/>
              </a:rPr>
              <a:t>附錄 · APA 7TH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PingFang HK"/>
              </a:rPr>
              <a:t>引用文獻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Chen, H., Zhou, X., Zhou, W., Shao, X., Zhu, Y., Wang, B., Hong, J., Jia, A., &amp; Wu, F. (2026). X+Slides: Benchmarking audience-conditioned slide generation (arXiv:2606.19256). arXiv. https://doi.org/10.48550/arXiv.2606.19256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Fu, T.-J., Wang, W. Y., McDuff, D., &amp; Song, Y. (2021). DOC2PPT: Automatic presentation slides generation from scientific documents (arXiv:2101.11796). arXiv. https://doi.org/10.48550/arXiv.2101.11796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Ge, J., Wang, Z. Z., Zhou, X., Peng, Y.-H., Subramanian, S., Tan, Q., Sap, M., Suhr, A., Fried, D., Neubig, G., &amp; Darrell, T. (2025). AutoPresent: Designing structured visuals from scratch (arXiv:2501.00912). arXiv. https://doi.org/10.48550/arXiv.2501.00912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Hu, H., Dang, C., Liu, Y., Kang, H., He, C., &amp; Li, W. (2026). PosterMELD: Multi-agent paper-to-poster generation for controllable design diversity with editable print-ready outputs (arXiv:2608.02218). arXiv. https://doi.org/10.48550/arXiv.2608.02218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Huang, Z., Liu, X., Hu, T., Zhang, K., &amp; Liu, Y. (2025). PPTBench: Towards holistic evaluation of large language models for PowerPoint layout and design understanding (arXiv:2512.02624). arXiv. https://doi.org/10.48550/arXiv.2512.02624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Jang, D., Heisler, M. L., Xing, L., Li, Y., Wang, E., Xiong, Y., Zhang, Y., &amp; Fan, Z. (2026). DECKBench: Benchmarking multi-agent frameworks for academic slide generation and editing (arXiv:2602.13318). arXiv. https://doi.org/10.48550/arXiv.2602.13318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Jung, K., Cho, H., Yun, J., Yang, S., Jang, J., &amp; Choo, J. (2025). Talk to your slides: High-efficiency slide editing via language-driven structured data manipulation (arXiv:2505.11604). arXiv. https://doi.org/10.48550/arXiv.2505.11604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Liang, X., Zhang, Z., Zhang, X., Su, H., Xu, Y., Sun, S., &amp; You, C. (2025). SlideGen: Collaborative multimodal agents for scientific slide generation (arXiv:2512.04529). arXiv. https://doi.org/10.48550/arXiv.2512.04529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Ofengenden, M., Man, Y., Pang, Z., Gui, L.-Y., &amp; Wang, Y.-X. (2025). PPTArena: A benchmark for PowerPoint editing (arXiv:2512.03042). arXiv. https://doi.org/10.48550/arXiv.2512.03042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Ozden, T. C., VS, S., Horoz, F., Kara, O., Kim, J., &amp; Rehg, J. M. (2026a). Narrative-driven paper-to-slide generation via ArcDeck (arXiv:2604.11969). arXiv. https://doi.org/10.48550/arXiv.2604.11969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Ozden, T. C., VS, S., Horoz, F., Kara, O., Hakkani-Tür, D., Kim, J., &amp; Rehg, J. M. (2026b). ConvDeck: Conversational paper-to-slide generation via stage-specific user feedback (arXiv:2609.00226). arXiv. https://doi.org/10.48550/arXiv.2609.00226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Pang, W., Lin, K. Q., Jian, X., He, X., &amp; Torr, P. (2025). Paper2Poster: Towards multimodal poster automation from scientific papers (arXiv:2505.21497). arXiv. https://doi.org/10.48550/arXiv.2505.21497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Sun, E., Hou, Y., Wang, D., Zhang, Y., &amp; Wang, N. X. R. (2021). D2S: Document-to-slide generation via query-based text summarization (arXiv:2105.03664). arXiv. https://doi.org/10.48550/arXiv.2105.03664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Tian, M., Zeng, Z., Yang, Y., Gao, X., Li, Y., Huang, Z., Wang, X., Lv, C., Cheng, M., Liu, B., Qiu, K., Dai, Q., Chen, D., Dong, Y., Zheng, X., Li, J., &amp; Luo, C. (2026). ReDeck: Step-level render-grounded refinement for document-to-slide generation (arXiv:2609.00194). arXiv. https://doi.org/10.48550/arXiv.2609.00194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Vats, V., Sharma, K., &amp; Wang, Y. (2026). SlideLab: Audience-centered scientific slide generation and evaluation (arXiv:2609.30294). arXiv. https://doi.org/10.48550/arXiv.2609.30294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Xie, E., Waterfield, D., Kennedy, M., &amp; Zhang, A. (2025). SlideBot: A multi-agent framework for generating informative, reliable, multi-modal presentations (arXiv:2511.09804). arXiv. https://doi.org/10.48550/arXiv.2511.09804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Yang, M., Zhang, Z., Li, J., Liu, H., Cai, Y., &amp; Zheng, W. (2026). DeepSlide: From artifacts to presentation delivery (arXiv:2605.15202). arXiv. https://doi.org/10.48550/arXiv.2605.15202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Zhang, Z. J., Chen, R., Zhong, M., &amp; Wobbrock, J. O. (2025). SlideAudit: A dataset and taxonomy for automated evaluation of presentation slides (arXiv:2508.03630). arXiv. https://doi.org/10.48550/arXiv.2508.03630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Zheng, H., Guan, X., Kong, H., Zheng, J., Zhou, W., Lin, H., Lu, Y., He, B., Han, X., &amp; Sun, L. (2025). PPTAgent: Generating and evaluating presentations beyond text-to-slides (arXiv:2501.03936). arXiv. https://doi.org/10.48550/arXiv.2501.03936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Zheng, H., Mo, G., Yan, X., Yuan, Q., Zhang, W., Chen, X., Lu, Y., Lin, H., Han, X., &amp; Sun, L. (2026a). DeepPresenter: Environment-grounded reflection for agentic presentation generation (arXiv:2602.22839). arXiv. https://doi.org/10.48550/arXiv.2602.22839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PingFang HK"/>
              </a:rPr>
              <a:t>Zheng, H., Wang, F., Xiong, T., Yu, Y., Qian, S., Yu, H., Schwing, A., Nahrstedt, K., &amp; Wu, M. (2026b). SLIDEFORGE: An LLM agent for controllable editing of slides as structured artifacts (arXiv:2609.03109). arXiv. https://doi.org/10.48550/arXiv.2609.03109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PingFang HK"/>
              </a:rPr>
              <a:t>DSAI4901  ·  Capstone Project Proposal  ·  CHAN Yee 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PingFang HK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