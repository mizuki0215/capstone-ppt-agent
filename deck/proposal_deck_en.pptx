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DSAI4901  ·  CAPSTONE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589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10233A"/>
                </a:solidFill>
                <a:latin typeface="Helvetica Neue"/>
              </a:rPr>
              <a:t>Paper-Distillation PPT Agent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2500" b="0" i="0">
                <a:solidFill>
                  <a:srgbClr val="2E6F95"/>
                </a:solidFill>
                <a:latin typeface="Helvetica Neue"/>
              </a:rPr>
              <a:t>From generating to verifying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1371600" cy="4114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B7C"/>
                </a:solidFill>
                <a:latin typeface="Helvetica Neue"/>
              </a:rPr>
              <a:t>A slide generation system built around content traceability
and deck-readiness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CHAN Yee Tung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Supervisor: Mr. Chen Xianwei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830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Helvetica Neue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414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papers reviewed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3081528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326440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Helvetica Neue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92277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functional gaps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4562856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4745736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4041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research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Literature review: from 367 papers to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920240"/>
            <a:ext cx="78638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Helvetica Neue"/>
              </a:rPr>
              <a:t>367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6675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arXiv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51206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35224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Helvetica Neue"/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9923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after relevance screening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12464"/>
            <a:ext cx="384048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31336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Helvetica Neue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9534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read in depth (33 agents + 5 education)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8576"/>
            <a:ext cx="3291840" cy="676656"/>
          </a:xfrm>
          <a:prstGeom prst="roundRect">
            <a:avLst>
              <a:gd name="adj" fmla="val 35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72744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91456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with author-released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920240"/>
            <a:ext cx="2834640" cy="306324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066543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8A2E"/>
                </a:solidFill>
                <a:latin typeface="Helvetica Neue"/>
              </a:rPr>
              <a:t>WHAT I ACTUALLY DID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59152"/>
            <a:ext cx="239572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12 arXiv queries across slide, PPT, poster and deck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Relevance screening to remove unrelated work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Full-text keyword scan of all 38 papers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GitHub links extracted from each PDF, then verified by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18/38 release author code (each link verified by HTTP); the rest are paper-only or anonymous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Four things they already do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First establish what is solved — this decides what I should not rebuild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68880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Generation &amp;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127248"/>
            <a:ext cx="22311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Helvetica Neue"/>
              </a:rPr>
              <a:t>Decks already look convincing: stable layout, consistent styling, competitive in blind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84048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E6F95"/>
                </a:solidFill>
                <a:latin typeface="Helvetica Neue"/>
              </a:rPr>
              <a:t>Zheng et al. (2025); Vats et al. (2026)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468880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Native editable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127248"/>
            <a:ext cx="22311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Helvetica Neue"/>
              </a:rPr>
              <a:t>Work has moved into the .pptx object layer, preserving styling and editability.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84048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E6F95"/>
                </a:solidFill>
                <a:latin typeface="Helvetica Neue"/>
              </a:rPr>
              <a:t>Jung et al. (2025); Zheng et al. (2026b)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9944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68880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Evaluation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27248"/>
            <a:ext cx="22311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Helvetica Neue"/>
              </a:rPr>
              <a:t>From holistic scores to task-based tests: answering questions on a deck, gating readiness.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84048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E6F95"/>
                </a:solidFill>
                <a:latin typeface="Helvetica Neue"/>
              </a:rPr>
              <a:t>Zhang et al. (2025); Jang et al. (2026)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468880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Multimodal &amp; narrative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127248"/>
            <a:ext cx="22311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Helvetica Neue"/>
              </a:rPr>
              <a:t>Figures, tables and equations enter the layout; story structure is now modelled explicitly.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84048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E6F95"/>
                </a:solidFill>
                <a:latin typeface="Helvetica Neue"/>
              </a:rPr>
              <a:t>Liang et al. (2025); Ozden et al. (2026a)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3542"/>
                </a:solidFill>
                <a:latin typeface="Helvetica Neue"/>
              </a:rPr>
              <a:t>Conclusion: generation is commoditised. Building one more generator is not a contribution.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Decomposing a PPT agent into 8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A precise gap needs a function map — the next four slides walk through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Parsing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4288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8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Content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Narrative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15584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Layout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71232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2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2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Output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Helvetica Neue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Inspection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9476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862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8A2E"/>
                </a:solidFill>
                <a:latin typeface="Helvetica Neue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8953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Speaker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9776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Cross-stage: turn content into speakable pacing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75488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8A2E"/>
                </a:solidFill>
                <a:latin typeface="Helvetica Neue"/>
              </a:rPr>
              <a:t>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85546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Provenance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37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Cross-stage: every sentence needs a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9A8"/>
                </a:solidFill>
                <a:latin typeface="Helvetica Neue"/>
              </a:rPr>
              <a:t>Next four slides: two gaps per slide — symptom · evidence · consequence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Gap 1  |  Parsing and content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①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Figures and captions split apart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figure and caption are detached, so image and text no longer correspond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two-column papers are read in the wrong order; paragraphs get spliced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tables are flattened into a wall of text, losing row and column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Parsing is treated as preprocessing and figure–text alignment is not enforced (Pang et al., 2025; Fu et al., 2021).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A corrupted input is inherited by every later step, and the error is invisible in the final deck.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② CONTENT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Even allocation, no emphasis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one slide per section, regardless of how much it matters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the key experimental result is dropped while background survives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method details are pushed into the introduction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Most methods concentrate on text selection and ignore the link between space and importance (Liang et al., 2025; Chen et al., 2026).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The deck is complete but has no emphasis; the audience keeps only the title and the speaker cannot name the key claim.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Gap 2  |  Narrative and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③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A table of contents, not a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section-by-section summarising reproduces the paper's order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ten slides of background, two of results — emphasis inverted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no motivation → problem → insight → evidence arc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Source text is summarised straight into slides (Ozden et al., 2026a); explicit narrative planning remains rare (Vats et al., 2026).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The speaker reads a table of contents aloud and the audience cannot build causal understanding.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④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Overflow, overlap, clipping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text runs past the slide edge; elements overlap each other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fonts too small and contrast too low to read once projected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figures cropped, whitespace unbalanced, every slide a wall of bullets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Local failures include overflow, overlap, clipping and off-canvas placement (Tian et al., 2026); models understand content yet fail at layout (Huang et al., 2025).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This is the most visible failure: text clipped and figures covered during the talk, so the audience loses trust immediately.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Gap 3  |  Output and inspection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⑤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Looks usable, cannot be edited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output is an image or HTML, not editable inside PowerPoint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even .pptx output is all text boxes — editing one word breaks the layout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charts are rasterised, so the underlying data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Agents frequently rasterise editable content or break the layout (Zheng et al., 2026b); only an object-model route preserves styling (Jung et al., 2025).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Users get an artefact they cannot modify, so it is unusable and the tool is abandoned.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⑥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One-shot feedback, no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the whole deck is rewritten and then reviewed once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errors cannot be localised to an element — which shape overflows?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repair can make things worse, with no convergence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A monolithic one-version-one-feedback loop makes local errors hard to attribute (Tian et al., 2026); reflection must be grounded in rendered state (Zheng et al., 2026a).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Iteration becomes a gamble: each pass may degrade the deck and nobody can say why.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Gap 4  |  Speaker notes and provenance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⑦ SPEAKER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Notes are the bullets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speaker notes duplicate the text already on the slide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no time budget — no idea how many slides fit three minutes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no transitions, so slides do not connect to each 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Delivery is under-optimised in current systems (Yang et al., 2026); only 5 of 38 papers mention speaker notes, none as a research focus.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The speaker reads the slide while the audience reads and listens at once, splitting attention.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⑧ PROVENANCE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33A"/>
                </a:solidFill>
                <a:latin typeface="Helvetica Neue"/>
              </a:rPr>
              <a:t>Writes the words, cannot cite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bullets carry no source, so there is no path back to a passage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related work is presented as 'we propose'</a:t>
            </a:r>
          </a:p>
          <a:p>
            <a:pPr>
              <a:lnSpc>
                <a:spcPct val="118000"/>
              </a:lnSpc>
              <a:spcBef>
                <a:spcPts val="250"/>
              </a:spcBef>
            </a:pPr>
            <a:r>
              <a:rPr sz="919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919">
                <a:solidFill>
                  <a:srgbClr val="1E3652"/>
                </a:solidFill>
                <a:latin typeface="Helvetica Neue"/>
              </a:rPr>
              <a:t>figures and tables misnumbered; numbers attached to the wrong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22191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14215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E6F95"/>
                </a:solidFill>
                <a:latin typeface="Helvetica Neue"/>
              </a:rPr>
              <a:t>Retrieval improves reliability but per-sentence provenance is not exposed (Xie et al., 2025); global intent is kept while sentence-level anchors are missing (Ozden et al., 2026a).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A wrong number goes unnoticed; in academic settings one misattributed claim destroys the credibility of the talk.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A single failure is amplified downstream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Bad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86584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7752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Bad content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7096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Weak story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7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5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5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Broken layout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9288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No repair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28632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No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871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9A8"/>
                </a:solidFill>
                <a:latin typeface="Helvetica Neue"/>
              </a:rPr>
              <a:t>Every upstream error is amplified downstream — and cannot be traced 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8A2E"/>
                </a:solidFill>
                <a:latin typeface="Helvetica Neue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E3652"/>
                </a:solidFill>
                <a:latin typeface="Helvetica Neue"/>
              </a:rPr>
              <a:t>Cannot follow or remember; sees clipped text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A83542"/>
                </a:solidFill>
                <a:latin typeface="Helvetica Neue"/>
              </a:rPr>
              <a:t>→ Attention lost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8A2E"/>
                </a:solidFill>
                <a:latin typeface="Helvetica Neue"/>
              </a:rPr>
              <a:t>Speaker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E3652"/>
                </a:solidFill>
                <a:latin typeface="Helvetica Neue"/>
              </a:rPr>
              <a:t>Will not trust it; must rebuild; cannot answer 'where does this number come from?'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A83542"/>
                </a:solidFill>
                <a:latin typeface="Helvetica Neue"/>
              </a:rPr>
              <a:t>→ Trust collapses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8A2E"/>
                </a:solidFill>
                <a:latin typeface="Helvetica Neue"/>
              </a:rPr>
              <a:t>Field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E3652"/>
                </a:solidFill>
                <a:latin typeface="Helvetica Neue"/>
              </a:rPr>
              <a:t>Cannot compare systems, because there is no shared measure of trustworthiness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A83542"/>
                </a:solidFill>
                <a:latin typeface="Helvetica Neue"/>
              </a:rPr>
              <a:t>→ Progress stalls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919472"/>
            <a:ext cx="10607040" cy="950976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0233A"/>
                </a:solidFill>
                <a:latin typeface="Helvetica Neue"/>
              </a:rPr>
              <a:t>Measurement now exists (SlideAudit, DECKBench). What is missing is using it as a control signal — and measuring what it buys.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03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My direction: a paper-distillation PPT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Explicitly not lecture notes — the two tasks have different success criteria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74519"/>
            <a:ext cx="5669280" cy="40233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7510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5104" y="197510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Helvetica Neue"/>
              </a:rPr>
              <a:t>Paper distillation (this project)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1975103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Helvetica Neue"/>
              </a:rPr>
              <a:t>Lecture notes (not doing)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76856"/>
            <a:ext cx="566928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368296"/>
            <a:ext cx="81381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5A6B7C"/>
                </a:solidFill>
                <a:latin typeface="Helvetica Neue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368296"/>
            <a:ext cx="223113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233A"/>
                </a:solidFill>
                <a:latin typeface="Helvetica Neue"/>
              </a:rPr>
              <a:t>A single paper (PDF)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368296"/>
            <a:ext cx="191109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Course material or lecture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63239"/>
            <a:ext cx="566928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154679"/>
            <a:ext cx="81381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5A6B7C"/>
                </a:solidFill>
                <a:latin typeface="Helvetica Neue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3154679"/>
            <a:ext cx="223113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233A"/>
                </a:solidFill>
                <a:latin typeface="Helvetica Neue"/>
              </a:rPr>
              <a:t>Compress the research into a defensible argument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154679"/>
            <a:ext cx="191109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Break knowledge into learning units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49624"/>
            <a:ext cx="566928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941063"/>
            <a:ext cx="81381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5A6B7C"/>
                </a:solidFill>
                <a:latin typeface="Helvetica Neue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3941063"/>
            <a:ext cx="223113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233A"/>
                </a:solidFill>
                <a:latin typeface="Helvetica Neue"/>
              </a:rPr>
              <a:t>Traceable content and a complete argument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3941063"/>
            <a:ext cx="191109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Learner comprehension and exercises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36008"/>
            <a:ext cx="566928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727448"/>
            <a:ext cx="81381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5A6B7C"/>
                </a:solidFill>
                <a:latin typeface="Helvetica Neue"/>
              </a:rPr>
              <a:t>Hard 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" y="4727448"/>
            <a:ext cx="223113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233A"/>
                </a:solidFill>
                <a:latin typeface="Helvetica Neue"/>
              </a:rPr>
              <a:t>Factual correctness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727448"/>
            <a:ext cx="191109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Instructional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3408" y="1874519"/>
            <a:ext cx="4718304" cy="356616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20299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8A2E"/>
                </a:solidFill>
                <a:latin typeface="Helvetica Neue"/>
              </a:rPr>
              <a:t>RESEARCH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3774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3542"/>
                </a:solidFill>
                <a:latin typeface="Helvetica Neue"/>
              </a:rPr>
              <a:t>RQ1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2359152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3652"/>
                </a:solidFill>
                <a:latin typeface="Helvetica Neue"/>
              </a:rPr>
              <a:t>How can every bullet be anchored to a verifiable source?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3101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3542"/>
                </a:solidFill>
                <a:latin typeface="Helvetica Neue"/>
              </a:rPr>
              <a:t>RQ2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29184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3652"/>
                </a:solidFill>
                <a:latin typeface="Helvetica Neue"/>
              </a:rPr>
              <a:t>How can deck usability be turned into a computable metric?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242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3542"/>
                </a:solidFill>
                <a:latin typeface="Helvetica Neue"/>
              </a:rPr>
              <a:t>RQ3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4224528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3652"/>
                </a:solidFill>
                <a:latin typeface="Helvetica Neue"/>
              </a:rPr>
              <a:t>Can an inspect–repair loop improve both at an acceptable cost?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03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Three contributions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56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A computable notion of trustworthiness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40280"/>
            <a:ext cx="5943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E3652"/>
                </a:solidFill>
                <a:latin typeface="Helvetica Neue"/>
              </a:rPr>
              <a:t>Content trust and deck usability become measurable, and the measurements are used as control signals
inside generation rather than as scores applied after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3055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6F95"/>
                </a:solidFill>
                <a:latin typeface="Helvetica Neue"/>
              </a:rPr>
              <a:t>Deliverable:
metric definitions + open-source toolkit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72968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A step-wise inspect–repair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21608"/>
            <a:ext cx="5943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E3652"/>
                </a:solidFill>
                <a:latin typeface="Helvetica Neue"/>
              </a:rPr>
              <a:t>Change one element at a time, render and verify immediately, so errors are attributable;
report convergence rather than only a final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6118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6F95"/>
                </a:solidFill>
                <a:latin typeface="Helvetica Neue"/>
              </a:rPr>
              <a:t>Deliverable:
agent implementation + convergence curves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54296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3717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188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Helvetica Neue"/>
              </a:rPr>
              <a:t>A public dataset and evaluation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02936"/>
            <a:ext cx="5943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E3652"/>
                </a:solidFill>
                <a:latin typeface="Helvetica Neue"/>
              </a:rPr>
              <a:t>150 human-annotated reference slides, a 30-participant pairwise study,
and rerunnable evaluation scripts.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0932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6F95"/>
                </a:solidFill>
                <a:latin typeface="Helvetica Neue"/>
              </a:rPr>
              <a:t>Deliverable:
dataset + benchmark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Operational definition: slide-ready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SRR = slides passing every gate / slides; deck-ready is a separate binary. Both are always reported.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74519"/>
            <a:ext cx="10561320" cy="384048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Helvetica Neue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4767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Helvetica Neue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Helvetica Neue"/>
              </a:rPr>
              <a:t>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947672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Helvetica Neue"/>
              </a:rPr>
              <a:t>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3536" y="194767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Helvetica Neue"/>
              </a:rPr>
              <a:t>Swept 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10561320" cy="566928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40864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G1 Containment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40864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Every shape box inside the slide; no image cropped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40864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340864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binary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2340864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25496"/>
            <a:ext cx="10561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907792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G2 Overlap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907792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Text–text intersection ÷ area of smaller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07792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&gt;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907792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empirical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907792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2 / 5 / 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92424"/>
            <a:ext cx="10561320" cy="566928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474720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G3 Font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474720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Body text and titles, read from run properties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18 / 28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474720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design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3474720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16 / 18 / 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59352"/>
            <a:ext cx="10561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041648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G4 Contrast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041648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WCAG 2.2 AA ratio, from fill and slide background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41648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4.5:1 (3:1 large)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4041648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published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4041648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26280"/>
            <a:ext cx="10561320" cy="566928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608576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G5 Text 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608576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Rendered text height ÷ box height, real font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08576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≤ 0.95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4608576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renderer tolerance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3536" y="4608576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0.90 / 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093208"/>
            <a:ext cx="10561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5175504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0233A"/>
                </a:solidFill>
                <a:latin typeface="Helvetica Neue"/>
              </a:rPr>
              <a:t>G6 Density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175504"/>
            <a:ext cx="39593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Characters per slide; bullets per text block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175504"/>
            <a:ext cx="137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233A"/>
                </a:solidFill>
                <a:latin typeface="Helvetica Neue"/>
              </a:rPr>
              <a:t>≤ 140; ≤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5175504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empirical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5175504"/>
            <a:ext cx="1243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A6B7C"/>
                </a:solidFill>
                <a:latin typeface="Helvetica Neue"/>
              </a:rPr>
              <a:t>120 / 160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875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B7C"/>
                </a:solidFill>
                <a:latin typeface="Helvetica Neue"/>
              </a:rPr>
              <a:t>Calibration: sweep each threshold, keep the value that maximises agreement with human labels, report the Spearman rho curve.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A83542"/>
                </a:solidFill>
                <a:latin typeface="Helvetica Neue"/>
              </a:rPr>
              <a:t>Aggregation: SRR is slide-level and continuous; deck-ready = every slide passes (9 of 10 ready is NOT deck-ready). Reporting only SRR would hide one bad slide.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2E6F95"/>
                </a:solidFill>
                <a:latin typeface="Helvetica Neue"/>
              </a:rPr>
              <a:t>Positioning: SlideAudit supplies the label space (image-based critique); DECKBench scores decks against references; SRR is reference-free and object-level — a control signal, not a score.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Evidence plan: agreement, power,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The grade depends on whether a sceptic can rerun these three numbers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10512"/>
            <a:ext cx="5074920" cy="248716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56816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C08A2E"/>
                </a:solidFill>
                <a:latin typeface="Helvetica Neue"/>
              </a:rPr>
              <a:t>DETECTOR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9424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150 slides = 40 calibration + 110 held-out, stratified across all three systems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2 independent annotators; rulebook training plus 10 calibration slides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Cohen's kappa &gt;= 0.70 per class, disagreements adjudicated by a third pass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Report precision / recall / F1 per class, never an aggregate only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Frozen before the human study; if per-class F1 &lt; 0.70 on calibration, revise the rule and re-freeze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10512"/>
            <a:ext cx="5212080" cy="248716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5681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C08A2E"/>
                </a:solidFill>
                <a:latin typeface="Helvetica Neue"/>
              </a:rPr>
              <a:t>HUMAN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49424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Within-subject: 30 raters x 4 papers, all three systems on the same paper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One primary contrast pre-registered: ours vs the VLM-judge loop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Holm–Bonferroni across the remaining two comparisons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n = 30 detects d about 0.55–0.60 at 80% power; report CI and effect size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919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919">
                <a:solidFill>
                  <a:srgbClr val="1E3652"/>
                </a:solidFill>
                <a:latin typeface="Helvetica Neue"/>
              </a:rPr>
              <a:t>Raters blind to condition order; papers rotated to control learning effects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98848"/>
            <a:ext cx="10634472" cy="960120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A83542"/>
                </a:solidFill>
                <a:latin typeface="Helvetica Neue"/>
              </a:rPr>
              <a:t>IF RECRUITMENT FALLS SHORT OF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28032"/>
            <a:ext cx="10149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3 expert raters with ICC(2,k)   ·   expand automated QA from 10 to 25 items per deck   ·   report the posterior probability of superiority   ·   label the result exploratory, not confirmatory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Gold = new contributions; the rest reuses validated practice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4540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7984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section / figure / table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5284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Evidence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claim–evidence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96028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19472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Narrative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space allocation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76772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Layout 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capacity-aware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57516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python-pptx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38260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1704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8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Inspect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violation detection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319004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42448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7312" y="201168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Repair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252374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B7C"/>
                </a:solidFill>
                <a:latin typeface="Helvetica Neue"/>
              </a:rPr>
              <a:t>local rewrite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611880"/>
            <a:ext cx="3346704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3" y="3749039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Restrict the output 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3" y="405993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B7C"/>
                </a:solidFill>
                <a:latin typeface="Helvetica Neue"/>
              </a:rPr>
              <a:t>The model writes structured content only; geometry and styling belong to templates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1688" y="3611880"/>
            <a:ext cx="3346704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1" y="3749039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One element at a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1" y="405993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B7C"/>
                </a:solidFill>
                <a:latin typeface="Helvetica Neue"/>
              </a:rPr>
              <a:t>Local rewrites with immediate verification make errors attributable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6136" y="3611880"/>
            <a:ext cx="3346704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3749039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Every judgement has a 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05993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B7C"/>
                </a:solidFill>
                <a:latin typeface="Helvetica Neue"/>
              </a:rPr>
              <a:t>No 'looks fine' — only measured violations and ratios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3652"/>
                </a:solidFill>
                <a:latin typeface="Helvetica Neue"/>
              </a:rPr>
              <a:t>The output is not an image but an editable .pptx: layout comes from constraint solving, content from the evidence graph.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How I will show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Three tracks in parallel, avoiding the circularity of an LLM judging an LLM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74519"/>
            <a:ext cx="10607040" cy="384048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194767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9476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8" y="1947672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Why it is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10607040" cy="658368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50008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Automatic (geometry)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350008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Violation count, SRR, deck-ready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50008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8 held-out papers, 150 annotated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350008"/>
            <a:ext cx="24505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Deterministic and rerunnable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16936"/>
            <a:ext cx="106070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008376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Task-based (QA)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008376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Answer accuracy from the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08376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10 questions × 8 papers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3008376"/>
            <a:ext cx="24505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Tests whether a reader can extract correct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75304"/>
            <a:ext cx="10607040" cy="658368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666744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666744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Pairwise preference, speakability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666744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233A"/>
                </a:solidFill>
                <a:latin typeface="Helvetica Neue"/>
              </a:rPr>
              <a:t>30 participants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666744"/>
            <a:ext cx="24505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Design has no ground truth, so only relative comparison is valid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224528"/>
            <a:ext cx="7589520" cy="162763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34256"/>
            <a:ext cx="7132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8A2E"/>
                </a:solidFill>
                <a:latin typeface="Helvetica Neue"/>
              </a:rPr>
              <a:t>BASELINES — EACH ANSWERS A DIFFERENT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5902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3542"/>
                </a:solidFill>
                <a:latin typeface="Helvetica Neue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59028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0233A"/>
                </a:solidFill>
                <a:latin typeface="Helvetica Neue"/>
              </a:rPr>
              <a:t>Naive single-pass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59028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does inspection add anything at all?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9286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3542"/>
                </a:solidFill>
                <a:latin typeface="Helvetica Neue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92861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0233A"/>
                </a:solidFill>
                <a:latin typeface="Helvetica Neue"/>
              </a:rPr>
              <a:t>PPTAgent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92861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versus the strongest reproducible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3542"/>
                </a:solidFill>
                <a:latin typeface="Helvetica Neue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26694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0233A"/>
                </a:solidFill>
                <a:latin typeface="Helvetica Neue"/>
              </a:rPr>
              <a:t>VLM-judge repair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26694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B7C"/>
                </a:solidFill>
                <a:latin typeface="Helvetica Neue"/>
              </a:rPr>
              <a:t>computable rules versus subjective judgement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559552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A83542"/>
                </a:solidFill>
                <a:latin typeface="Helvetica Neue"/>
              </a:rPr>
              <a:t>3 is the primary claim: the same loop, verification by computable rules instead of a VLM judge.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4224528"/>
            <a:ext cx="2862072" cy="162763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1664" y="4334256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8A2E"/>
                </a:solidFill>
                <a:latin typeface="Helvetica Neue"/>
              </a:rPr>
              <a:t>ABLATION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4608576"/>
            <a:ext cx="2514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E3652"/>
                </a:solidFill>
                <a:latin typeface="Helvetica Neue"/>
              </a:rPr>
              <a:t>Remove anchors
Remove inspection
Remove repair
→ per-module attribution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550468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A83542"/>
                </a:solidFill>
                <a:latin typeface="Helvetica Neue"/>
              </a:rPr>
              <a:t>Report per class, incl.
where repair fails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05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20-week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Helvetica Neue"/>
              </a:rPr>
              <a:t>Four parallel workstreams; if recruitment is short, fall back to expert rating plus expanded automated QA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1460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9456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Helvetica Neue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Helvetica Neue"/>
              </a:rPr>
              <a:t>W5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Helvetica Neue"/>
              </a:rPr>
              <a:t>W10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Helvetica Neue"/>
              </a:rPr>
              <a:t>W15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0996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8992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Helvetica Neue"/>
              </a:rPr>
              <a:t>W20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1828800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1897380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87451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Literature &amp;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2340864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40944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386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Setup &amp; spikes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2852928"/>
            <a:ext cx="1289304" cy="329184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1508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W5–7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98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Parsing &amp;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3364992"/>
            <a:ext cx="1719072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4" y="3433572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W8–11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107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Layout &amp; rendering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3877056"/>
            <a:ext cx="1289304" cy="329184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945636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W12–14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9227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Calibrate &amp; repair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1352" y="4389120"/>
            <a:ext cx="1719072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457700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W15–18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348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Experiments &amp; study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0424" y="4901184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496976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Helvetica Neue"/>
              </a:rPr>
              <a:t>W19–20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9469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233A"/>
                </a:solidFill>
                <a:latin typeface="Helvetica Neue"/>
              </a:rPr>
              <a:t>Report &amp; talk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2026-11-05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Helvetica Neue"/>
              </a:rPr>
              <a:t>Proposal submission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61688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5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2027-01-07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Helvetica Neue"/>
              </a:rPr>
              <a:t>Interim 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46136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46136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Helvetica Neue"/>
              </a:rPr>
              <a:t>2027-04-08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Helvetica Neue"/>
              </a:rPr>
              <a:t>Final Report + Turnitin + AI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APPENDIX · APA 7TH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Helvetica Neue"/>
              </a:rPr>
              <a:t>References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Chen, H., Zhou, X., Zhou, W., Shao, X., Zhu, Y., Wang, B., Hong, J., Jia, A., &amp; Wu, F. (2026). X+Slides: Benchmarking audience-conditioned slide generation (arXiv:2606.19256). arXiv. https://doi.org/10.48550/arXiv.2606.19256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Fu, T.-J., Wang, W. Y., McDuff, D., &amp; Song, Y. (2021). DOC2PPT: Automatic presentation slides generation from scientific documents (arXiv:2101.11796). arXiv. https://doi.org/10.48550/arXiv.2101.11796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Ge, J., Wang, Z. Z., Zhou, X., Peng, Y.-H., Subramanian, S., Tan, Q., Sap, M., Suhr, A., Fried, D., Neubig, G., &amp; Darrell, T. (2025). AutoPresent: Designing structured visuals from scratch (arXiv:2501.00912). arXiv. https://doi.org/10.48550/arXiv.2501.00912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Hu, H., Dang, C., Liu, Y., Kang, H., He, C., &amp; Li, W. (2026). PosterMELD: Multi-agent paper-to-poster generation for controllable design diversity with editable print-ready outputs (arXiv:2608.02218). arXiv. https://doi.org/10.48550/arXiv.2608.02218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Huang, Z., Liu, X., Hu, T., Zhang, K., &amp; Liu, Y. (2025). PPTBench: Towards holistic evaluation of large language models for PowerPoint layout and design understanding (arXiv:2512.02624). arXiv. https://doi.org/10.48550/arXiv.2512.02624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Jang, D., Heisler, M. L., Xing, L., Li, Y., Wang, E., Xiong, Y., Zhang, Y., &amp; Fan, Z. (2026). DECKBench: Benchmarking multi-agent frameworks for academic slide generation and editing (arXiv:2602.13318). arXiv. https://doi.org/10.48550/arXiv.2602.13318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Jung, K., Cho, H., Yun, J., Yang, S., Jang, J., &amp; Choo, J. (2025). Talk to your slides: High-efficiency slide editing via language-driven structured data manipulation (arXiv:2505.11604). arXiv. https://doi.org/10.48550/arXiv.2505.11604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Liang, X., Zhang, Z., Zhang, X., Su, H., Xu, Y., Sun, S., &amp; You, C. (2025). SlideGen: Collaborative multimodal agents for scientific slide generation (arXiv:2512.04529). arXiv. https://doi.org/10.48550/arXiv.2512.04529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Ofengenden, M., Man, Y., Pang, Z., Gui, L.-Y., &amp; Wang, Y.-X. (2025). PPTArena: A benchmark for PowerPoint editing (arXiv:2512.03042). arXiv. https://doi.org/10.48550/arXiv.2512.03042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Ozden, T. C., VS, S., Horoz, F., Kara, O., Kim, J., &amp; Rehg, J. M. (2026a). Narrative-driven paper-to-slide generation via ArcDeck (arXiv:2604.11969). arXiv. https://doi.org/10.48550/arXiv.2604.11969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Ozden, T. C., VS, S., Horoz, F., Kara, O., Hakkani-Tür, D., Kim, J., &amp; Rehg, J. M. (2026b). ConvDeck: Conversational paper-to-slide generation via stage-specific user feedback (arXiv:2609.00226). arXiv. https://doi.org/10.48550/arXiv.2609.00226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Pang, W., Lin, K. Q., Jian, X., He, X., &amp; Torr, P. (2025). Paper2Poster: Towards multimodal poster automation from scientific papers (arXiv:2505.21497). arXiv. https://doi.org/10.48550/arXiv.2505.21497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Sun, E., Hou, Y., Wang, D., Zhang, Y., &amp; Wang, N. X. R. (2021). D2S: Document-to-slide generation via query-based text summarization (arXiv:2105.03664). arXiv. https://doi.org/10.48550/arXiv.2105.03664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Tian, M., Zeng, Z., Yang, Y., Gao, X., Li, Y., Huang, Z., Wang, X., Lv, C., Cheng, M., Liu, B., Qiu, K., Dai, Q., Chen, D., Dong, Y., Zheng, X., Li, J., &amp; Luo, C. (2026). ReDeck: Step-level render-grounded refinement for document-to-slide generation (arXiv:2609.00194). arXiv. https://doi.org/10.48550/arXiv.2609.00194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Vats, V., Sharma, K., &amp; Wang, Y. (2026). SlideLab: Audience-centered scientific slide generation and evaluation (arXiv:2609.30294). arXiv. https://doi.org/10.48550/arXiv.2609.30294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Xie, E., Waterfield, D., Kennedy, M., &amp; Zhang, A. (2025). SlideBot: A multi-agent framework for generating informative, reliable, multi-modal presentations (arXiv:2511.09804). arXiv. https://doi.org/10.48550/arXiv.2511.09804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Yang, M., Zhang, Z., Li, J., Liu, H., Cai, Y., &amp; Zheng, W. (2026). DeepSlide: From artifacts to presentation delivery (arXiv:2605.15202). arXiv. https://doi.org/10.48550/arXiv.2605.15202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Zhang, Z. J., Chen, R., Zhong, M., &amp; Wobbrock, J. O. (2025). SlideAudit: A dataset and taxonomy for automated evaluation of presentation slides (arXiv:2508.03630). arXiv. https://doi.org/10.48550/arXiv.2508.03630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Zheng, H., Guan, X., Kong, H., Zheng, J., Zhou, W., Lin, H., Lu, Y., He, B., Han, X., &amp; Sun, L. (2025). PPTAgent: Generating and evaluating presentations beyond text-to-slides (arXiv:2501.03936). arXiv. https://doi.org/10.48550/arXiv.2501.03936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Zheng, H., Mo, G., Yan, X., Yuan, Q., Zhang, W., Chen, X., Lu, Y., Lin, H., Han, X., &amp; Sun, L. (2026a). DeepPresenter: Environment-grounded reflection for agentic presentation generation (arXiv:2602.22839). arXiv. https://doi.org/10.48550/arXiv.2602.22839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Helvetica Neue"/>
              </a:rPr>
              <a:t>Zheng, H., Wang, F., Xiong, T., Yu, Y., Qian, S., Yu, H., Schwing, A., Nahrstedt, K., &amp; Wu, M. (2026b). SLIDEFORGE: An LLM agent for controllable editing of slides as structured artifacts (arXiv:2609.03109). arXiv. https://doi.org/10.48550/arXiv.2609.03109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