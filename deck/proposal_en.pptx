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Helvetica Neue"/>
              </a:rPr>
              <a:t>DSAI4901  ·  CAPSTONE PROJECT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7680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700" b="1">
                <a:solidFill>
                  <a:srgbClr val="10233A"/>
                </a:solidFill>
                <a:latin typeface="Helvetica Neue"/>
              </a:rPr>
              <a:t>Paper-Distillation PPT Agent</a:t>
            </a:r>
          </a:p>
          <a:p>
            <a:pPr algn="l">
              <a:lnSpc>
                <a:spcPct val="118000"/>
              </a:lnSpc>
              <a:spcBef>
                <a:spcPts val="1200"/>
              </a:spcBef>
            </a:pPr>
            <a:r>
              <a:rPr sz="2300" b="0">
                <a:solidFill>
                  <a:srgbClr val="2E6F95"/>
                </a:solidFill>
                <a:latin typeface="Helvetica Neue"/>
              </a:rPr>
              <a:t>From generating to verifying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75887"/>
            <a:ext cx="1371600" cy="41148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95344"/>
            <a:ext cx="7040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50" b="0">
                <a:solidFill>
                  <a:srgbClr val="5A6B7C"/>
                </a:solidFill>
                <a:latin typeface="Helvetica Neue"/>
              </a:rPr>
              <a:t>A slide generation system built around a measurable definition
of deck usability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10233A"/>
                </a:solidFill>
                <a:latin typeface="Helvetica Neue"/>
              </a:rPr>
              <a:t>CHAN Yee Tung</a:t>
            </a:r>
          </a:p>
          <a:p>
            <a:pPr algn="l">
              <a:lnSpc>
                <a:spcPct val="118000"/>
              </a:lnSpc>
              <a:spcBef>
                <a:spcPts val="300"/>
              </a:spcBef>
            </a:pPr>
            <a:r>
              <a:rPr sz="1050" b="0">
                <a:solidFill>
                  <a:srgbClr val="5A6B7C"/>
                </a:solidFill>
                <a:latin typeface="Helvetica Neue"/>
              </a:rPr>
              <a:t>Supervisor: Dr. Jibin Wu</a:t>
            </a:r>
          </a:p>
          <a:p>
            <a:pPr algn="l">
              <a:lnSpc>
                <a:spcPct val="118000"/>
              </a:lnSpc>
              <a:spcBef>
                <a:spcPts val="100"/>
              </a:spcBef>
            </a:pPr>
            <a:r>
              <a:rPr sz="1050" b="0">
                <a:solidFill>
                  <a:srgbClr val="5A6B7C"/>
                </a:solidFill>
                <a:latin typeface="Helvetica Neue"/>
              </a:rPr>
              <a:t>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78308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4400" b="1">
                <a:solidFill>
                  <a:srgbClr val="C08A2E"/>
                </a:solidFill>
                <a:latin typeface="Helvetica Neue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4231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00" b="0">
                <a:solidFill>
                  <a:srgbClr val="5A6B7C"/>
                </a:solidFill>
                <a:latin typeface="Helvetica Neue"/>
              </a:rPr>
              <a:t>papers reviewed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15400" y="3063239"/>
            <a:ext cx="2331720" cy="0"/>
          </a:xfrm>
          <a:prstGeom prst="line">
            <a:avLst/>
          </a:prstGeom>
          <a:ln w="9525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915400" y="3264408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4400" b="1">
                <a:solidFill>
                  <a:srgbClr val="C08A2E"/>
                </a:solidFill>
                <a:latin typeface="Helvetica Neue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390448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00" b="0">
                <a:solidFill>
                  <a:srgbClr val="5A6B7C"/>
                </a:solidFill>
                <a:latin typeface="Helvetica Neue"/>
              </a:rPr>
              <a:t>functional gaps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15400" y="4544568"/>
            <a:ext cx="2331720" cy="0"/>
          </a:xfrm>
          <a:prstGeom prst="line">
            <a:avLst/>
          </a:prstGeom>
          <a:ln w="9525">
            <a:solidFill>
              <a:srgbClr val="E4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915400" y="4745736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4400" b="1">
                <a:solidFill>
                  <a:srgbClr val="C08A2E"/>
                </a:solidFill>
                <a:latin typeface="Helvetica Neu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538581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00" b="0">
                <a:solidFill>
                  <a:srgbClr val="5A6B7C"/>
                </a:solidFill>
                <a:latin typeface="Helvetica Neue"/>
              </a:rPr>
              <a:t>research direction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Helvetica Neue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Helvetica Neue"/>
              </a:rPr>
              <a:t>01 ·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Helvetica Neue"/>
              </a:rPr>
              <a:t>Literature review: from 367 papers to 38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920240"/>
            <a:ext cx="7863840" cy="676656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3911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100" b="1">
                <a:solidFill>
                  <a:srgbClr val="10233A"/>
                </a:solidFill>
                <a:latin typeface="Helvetica Neue"/>
              </a:rPr>
              <a:t>367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6629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19" b="0">
                <a:solidFill>
                  <a:srgbClr val="5A6B7C"/>
                </a:solidFill>
                <a:latin typeface="Helvetica Neue"/>
              </a:rPr>
              <a:t>arXiv candidates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16352"/>
            <a:ext cx="5120640" cy="676656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93522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100" b="1">
                <a:solidFill>
                  <a:srgbClr val="10233A"/>
                </a:solidFill>
                <a:latin typeface="Helvetica Neue"/>
              </a:rPr>
              <a:t>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999232"/>
            <a:ext cx="3886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19" b="0">
                <a:solidFill>
                  <a:srgbClr val="5A6B7C"/>
                </a:solidFill>
                <a:latin typeface="Helvetica Neue"/>
              </a:rPr>
              <a:t>after relevance screening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12464"/>
            <a:ext cx="4023360" cy="676656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3831336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100" b="1">
                <a:solidFill>
                  <a:srgbClr val="10233A"/>
                </a:solidFill>
                <a:latin typeface="Helvetica Neue"/>
              </a:rPr>
              <a:t>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895344"/>
            <a:ext cx="2788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19" b="0">
                <a:solidFill>
                  <a:srgbClr val="5A6B7C"/>
                </a:solidFill>
                <a:latin typeface="Helvetica Neue"/>
              </a:rPr>
              <a:t>read in depth (33 agents + 5 education)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608576"/>
            <a:ext cx="3291840" cy="676656"/>
          </a:xfrm>
          <a:prstGeom prst="roundRect">
            <a:avLst>
              <a:gd name="adj" fmla="val 3500"/>
            </a:avLst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7274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100" b="1">
                <a:solidFill>
                  <a:srgbClr val="FFFFFF"/>
                </a:solidFill>
                <a:latin typeface="Helvetica Neue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791456"/>
            <a:ext cx="2057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19" b="0">
                <a:solidFill>
                  <a:srgbClr val="FFFFFF"/>
                </a:solidFill>
                <a:latin typeface="Helvetica Neue"/>
              </a:rPr>
              <a:t>with author-released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920240"/>
            <a:ext cx="2834640" cy="306324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2066543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C08A2E"/>
                </a:solidFill>
                <a:latin typeface="Helvetica Neue"/>
              </a:rPr>
              <a:t>WHAT I ACTUALLY DID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359152"/>
            <a:ext cx="239572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880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880">
                <a:solidFill>
                  <a:srgbClr val="1E3652"/>
                </a:solidFill>
                <a:latin typeface="Helvetica Neue"/>
              </a:rPr>
              <a:t>12 arXiv queries across slide, PPT, poster and deck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880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880">
                <a:solidFill>
                  <a:srgbClr val="1E3652"/>
                </a:solidFill>
                <a:latin typeface="Helvetica Neue"/>
              </a:rPr>
              <a:t>Relevance screening to remove unrelated work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880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880">
                <a:solidFill>
                  <a:srgbClr val="1E3652"/>
                </a:solidFill>
                <a:latin typeface="Helvetica Neue"/>
              </a:rPr>
              <a:t>Full-text keyword scan of all 38 papers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880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880">
                <a:solidFill>
                  <a:srgbClr val="1E3652"/>
                </a:solidFill>
                <a:latin typeface="Helvetica Neue"/>
              </a:rPr>
              <a:t>GitHub links extracted from each PDF, then verified by HTTP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1500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80" b="0">
                <a:solidFill>
                  <a:srgbClr val="8A99A8"/>
                </a:solidFill>
                <a:latin typeface="Helvetica Neue"/>
              </a:rPr>
              <a:t>18/38 release author code (each link verified by HTTP); the rest are paper-only or anonymous submissions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Helvetica Neue"/>
              </a:rPr>
              <a:t>01 ·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Helvetica Neue"/>
              </a:rPr>
              <a:t>Four things they already do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Helvetica Neue"/>
              </a:rPr>
              <a:t>First establish what is solved — this decides what not to rebuild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965960"/>
            <a:ext cx="2615184" cy="276148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2615184" cy="4572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5" y="2157984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C08A2E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450592"/>
            <a:ext cx="223113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10233A"/>
                </a:solidFill>
                <a:latin typeface="Helvetica Neue"/>
              </a:rPr>
              <a:t>Generation &amp; 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3145536"/>
            <a:ext cx="223113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960" b="0">
                <a:solidFill>
                  <a:srgbClr val="1E3652"/>
                </a:solidFill>
                <a:latin typeface="Helvetica Neue"/>
              </a:rPr>
              <a:t>Decks already look convincing: stable layout, consistent styling.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3840480"/>
            <a:ext cx="22311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750" b="0">
                <a:solidFill>
                  <a:srgbClr val="2E6F95"/>
                </a:solidFill>
                <a:latin typeface="Helvetica Neue"/>
              </a:rPr>
              <a:t>Zheng et al. (2025); Vats et al. (2026)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3592" y="1965960"/>
            <a:ext cx="2615184" cy="276148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93592" y="1965960"/>
            <a:ext cx="2615184" cy="4572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3048" y="2157984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C08A2E"/>
                </a:solidFill>
                <a:latin typeface="Helvetica Neu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2450592"/>
            <a:ext cx="223113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10233A"/>
                </a:solidFill>
                <a:latin typeface="Helvetica Neue"/>
              </a:rPr>
              <a:t>Native editable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3145536"/>
            <a:ext cx="223113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960" b="0">
                <a:solidFill>
                  <a:srgbClr val="1E3652"/>
                </a:solidFill>
                <a:latin typeface="Helvetica Neue"/>
              </a:rPr>
              <a:t>Work has moved into the .pptx object layer, preserving editability.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8" y="3840480"/>
            <a:ext cx="22311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750" b="0">
                <a:solidFill>
                  <a:srgbClr val="2E6F95"/>
                </a:solidFill>
                <a:latin typeface="Helvetica Neue"/>
              </a:rPr>
              <a:t>Jung et al. (2025); Zheng et al. (2026b)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9944" y="1965960"/>
            <a:ext cx="2615184" cy="276148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9944" y="1965960"/>
            <a:ext cx="2615184" cy="4572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157984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C08A2E"/>
                </a:solidFill>
                <a:latin typeface="Helvetica Neu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450592"/>
            <a:ext cx="223113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10233A"/>
                </a:solidFill>
                <a:latin typeface="Helvetica Neue"/>
              </a:rPr>
              <a:t>Evaluation methods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145536"/>
            <a:ext cx="223113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960" b="0">
                <a:solidFill>
                  <a:srgbClr val="1E3652"/>
                </a:solidFill>
                <a:latin typeface="Helvetica Neue"/>
              </a:rPr>
              <a:t>From holistic scores to task-based tests and rubric gates.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840480"/>
            <a:ext cx="22311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750" b="0">
                <a:solidFill>
                  <a:srgbClr val="2E6F95"/>
                </a:solidFill>
                <a:latin typeface="Helvetica Neue"/>
              </a:rPr>
              <a:t>Zhang et al. (2025); Jang et al. (2026)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26296" y="1965960"/>
            <a:ext cx="2615184" cy="276148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26296" y="1965960"/>
            <a:ext cx="2615184" cy="4572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45752" y="2157984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C08A2E"/>
                </a:solidFill>
                <a:latin typeface="Helvetica Neue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2450592"/>
            <a:ext cx="223113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>
                <a:solidFill>
                  <a:srgbClr val="10233A"/>
                </a:solidFill>
                <a:latin typeface="Helvetica Neue"/>
              </a:rPr>
              <a:t>Multimodal &amp; narrative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3145536"/>
            <a:ext cx="223113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960" b="0">
                <a:solidFill>
                  <a:srgbClr val="1E3652"/>
                </a:solidFill>
                <a:latin typeface="Helvetica Neue"/>
              </a:rPr>
              <a:t>Figures and tables enter the layout; story structure is modelled.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5752" y="3840480"/>
            <a:ext cx="223113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750" b="0">
                <a:solidFill>
                  <a:srgbClr val="2E6F95"/>
                </a:solidFill>
                <a:latin typeface="Helvetica Neue"/>
              </a:rPr>
              <a:t>Liang et al. (2025); Ozden et al. (2026a)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389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A83542"/>
                </a:solidFill>
                <a:latin typeface="Helvetica Neue"/>
              </a:rPr>
              <a:t>Conclusion: generation is commoditised. One more generator is not a contribution.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Helvetica Neue"/>
              </a:rPr>
              <a:t>01 ·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Helvetica Neue"/>
              </a:rPr>
              <a:t>Decomposing a PPT agent into 8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Helvetica Neue"/>
              </a:rPr>
              <a:t>A precise gap needs a function map — the next four slides walk through 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C08A2E"/>
                </a:solidFill>
                <a:latin typeface="Helvetica Neue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10233A"/>
                </a:solidFill>
                <a:latin typeface="Helvetica Neue"/>
              </a:rPr>
              <a:t>Parsing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04288" y="2587752"/>
            <a:ext cx="182880" cy="219456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32888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2888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C08A2E"/>
                </a:solidFill>
                <a:latin typeface="Helvetica Neue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10233A"/>
                </a:solidFill>
                <a:latin typeface="Helvetica Neue"/>
              </a:rPr>
              <a:t>Content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59936" y="2587752"/>
            <a:ext cx="182880" cy="219456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88536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C08A2E"/>
                </a:solidFill>
                <a:latin typeface="Helvetica Neue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8536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10233A"/>
                </a:solidFill>
                <a:latin typeface="Helvetica Neue"/>
              </a:rPr>
              <a:t>Narrative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15584" y="2587752"/>
            <a:ext cx="182880" cy="219456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44184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44184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C08A2E"/>
                </a:solidFill>
                <a:latin typeface="Helvetica Neue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4184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10233A"/>
                </a:solidFill>
                <a:latin typeface="Helvetica Neue"/>
              </a:rPr>
              <a:t>Layout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571232" y="2587752"/>
            <a:ext cx="182880" cy="219456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99832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9832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C08A2E"/>
                </a:solidFill>
                <a:latin typeface="Helvetica Neue"/>
              </a:rP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9832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10233A"/>
                </a:solidFill>
                <a:latin typeface="Helvetica Neue"/>
              </a:rPr>
              <a:t>Output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26880" y="2587752"/>
            <a:ext cx="182880" cy="219456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55480" y="2103120"/>
            <a:ext cx="1481328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270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2249424"/>
            <a:ext cx="14813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C08A2E"/>
                </a:solidFill>
                <a:latin typeface="Helvetica Neue"/>
              </a:rPr>
              <a:t>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615184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10233A"/>
                </a:solidFill>
                <a:latin typeface="Helvetica Neue"/>
              </a:rPr>
              <a:t>Inspection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794760"/>
            <a:ext cx="10607040" cy="786384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88620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400" b="1">
                <a:solidFill>
                  <a:srgbClr val="C08A2E"/>
                </a:solidFill>
                <a:latin typeface="Helvetica Neue"/>
              </a:rPr>
              <a:t>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3895344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10233A"/>
                </a:solidFill>
                <a:latin typeface="Helvetica Neue"/>
              </a:rPr>
              <a:t>Speaker notes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397764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00" b="0">
                <a:solidFill>
                  <a:srgbClr val="5A6B7C"/>
                </a:solidFill>
                <a:latin typeface="Helvetica Neue"/>
              </a:rPr>
              <a:t>Cross-stage: turn content into speakable pacing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754880"/>
            <a:ext cx="10607040" cy="786384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84632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400" b="1">
                <a:solidFill>
                  <a:srgbClr val="C08A2E"/>
                </a:solidFill>
                <a:latin typeface="Helvetica Neue"/>
              </a:rPr>
              <a:t>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4855464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10233A"/>
                </a:solidFill>
                <a:latin typeface="Helvetica Neue"/>
              </a:rPr>
              <a:t>Provenance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493776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00" b="0">
                <a:solidFill>
                  <a:srgbClr val="5A6B7C"/>
                </a:solidFill>
                <a:latin typeface="Helvetica Neue"/>
              </a:rPr>
              <a:t>Cross-stage: every sentence needs a source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00" b="0">
                <a:solidFill>
                  <a:srgbClr val="8A99A8"/>
                </a:solidFill>
                <a:latin typeface="Helvetica Neue"/>
              </a:rPr>
              <a:t>Next four slides: two gaps per slide — symptom · evidence · consequence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Helvetica Neue"/>
              </a:rPr>
              <a:t>02 · FUNCTIONAL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Helvetica Neue"/>
              </a:rPr>
              <a:t>Gap 1  |  Parsing and content selection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Helvetica Neue"/>
              </a:rPr>
              <a:t>① PARSING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500" b="1">
                <a:solidFill>
                  <a:srgbClr val="10233A"/>
                </a:solidFill>
                <a:latin typeface="Helvetica Neue"/>
              </a:rPr>
              <a:t>Figures and captions split apart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Helvetica Neue"/>
              </a:rPr>
              <a:t>SYMPTOMS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715768"/>
            <a:ext cx="477316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figure and caption are detached, so image and text no longer correspond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two-column papers are read in the wrong order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tables are flattened into a wall of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840480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Helvetica Neue"/>
              </a:rPr>
              <a:t>EVIDENCE · 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032504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2E6F95"/>
                </a:solidFill>
                <a:latin typeface="Helvetica Neue"/>
              </a:rPr>
              <a:t>Parsing is treated as preprocessing and figure–text alignment is not enforced (Pang et al., 2025; Fu et al., 2021).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A83542"/>
                </a:solidFill>
                <a:latin typeface="Helvetica Neue"/>
              </a:rPr>
              <a:t>CONSEQUENCE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10233A"/>
                </a:solidFill>
                <a:latin typeface="Helvetica Neue"/>
              </a:rPr>
              <a:t>A corrupted input is inherited by every later step, and the error is invisible in the final deck.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7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7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Helvetica Neue"/>
              </a:rPr>
              <a:t>② CONTENT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500" b="1">
                <a:solidFill>
                  <a:srgbClr val="10233A"/>
                </a:solidFill>
                <a:latin typeface="Helvetica Neue"/>
              </a:rPr>
              <a:t>Even allocation, no emphasis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Helvetica Neue"/>
              </a:rPr>
              <a:t>SYMPTOMS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715768"/>
            <a:ext cx="477316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one slide per section, regardless of how much it matters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the key result is dropped while background survives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method details are pushed into the introduction slide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840480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Helvetica Neue"/>
              </a:rPr>
              <a:t>EVIDENCE · APA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032504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2E6F95"/>
                </a:solidFill>
                <a:latin typeface="Helvetica Neue"/>
              </a:rPr>
              <a:t>Most methods concentrate on text selection and ignore the link between space and importance (Liang et al., 2025; Chen et al., 2026).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64807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A83542"/>
                </a:solidFill>
                <a:latin typeface="Helvetica Neue"/>
              </a:rPr>
              <a:t>CONSEQUENCE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10233A"/>
                </a:solidFill>
                <a:latin typeface="Helvetica Neue"/>
              </a:rPr>
              <a:t>The deck is complete but has no emphasis; the audience keeps only the title.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Helvetica Neu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Helvetica Neue"/>
              </a:rPr>
              <a:t>02 · FUNCTIONAL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Helvetica Neue"/>
              </a:rPr>
              <a:t>Gap 2  |  Narrative and layout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Helvetica Neue"/>
              </a:rPr>
              <a:t>③ NARRATIVE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500" b="1">
                <a:solidFill>
                  <a:srgbClr val="10233A"/>
                </a:solidFill>
                <a:latin typeface="Helvetica Neue"/>
              </a:rPr>
              <a:t>A table of contents, not a talk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Helvetica Neue"/>
              </a:rPr>
              <a:t>SYMPTOMS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715768"/>
            <a:ext cx="477316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section-by-section summarising reproduces the paper's order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ten slides of background, two of results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no motivation → problem → insight → evidence arc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840480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Helvetica Neue"/>
              </a:rPr>
              <a:t>EVIDENCE · 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032504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2E6F95"/>
                </a:solidFill>
                <a:latin typeface="Helvetica Neue"/>
              </a:rPr>
              <a:t>Source text is summarised straight into slides (Ozden et al., 2026a); explicit narrative planning remains rare (Vats et al., 2026).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A83542"/>
                </a:solidFill>
                <a:latin typeface="Helvetica Neue"/>
              </a:rPr>
              <a:t>CONSEQUENCE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10233A"/>
                </a:solidFill>
                <a:latin typeface="Helvetica Neue"/>
              </a:rPr>
              <a:t>The speaker reads a table of contents aloud and the audience cannot build causal understanding.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7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7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Helvetica Neue"/>
              </a:rPr>
              <a:t>④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500" b="1">
                <a:solidFill>
                  <a:srgbClr val="10233A"/>
                </a:solidFill>
                <a:latin typeface="Helvetica Neue"/>
              </a:rPr>
              <a:t>Overflow, overlap, clipping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Helvetica Neue"/>
              </a:rPr>
              <a:t>SYMPTOMS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715768"/>
            <a:ext cx="477316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text runs past the slide edge; elements overlap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fonts too small and contrast too low once projected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figures cropped, every slide a wall of bullets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840480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Helvetica Neue"/>
              </a:rPr>
              <a:t>EVIDENCE · APA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032504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2E6F95"/>
                </a:solidFill>
                <a:latin typeface="Helvetica Neue"/>
              </a:rPr>
              <a:t>Local failures include overflow, overlap, clipping and off-canvas placement (Tian et al., 2026); models understand content yet fail at layout (Huang et al., 2025).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64807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A83542"/>
                </a:solidFill>
                <a:latin typeface="Helvetica Neue"/>
              </a:rPr>
              <a:t>CONSEQUENCE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10233A"/>
                </a:solidFill>
                <a:latin typeface="Helvetica Neue"/>
              </a:rPr>
              <a:t>The most visible failure: text clipped and figures covered during the talk, so the audience loses trust.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Helvetica Neu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Helvetica Neue"/>
              </a:rPr>
              <a:t>02 · FUNCTIONAL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Helvetica Neue"/>
              </a:rPr>
              <a:t>Gap 3  |  Output and inspection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Helvetica Neue"/>
              </a:rPr>
              <a:t>⑤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500" b="1">
                <a:solidFill>
                  <a:srgbClr val="10233A"/>
                </a:solidFill>
                <a:latin typeface="Helvetica Neue"/>
              </a:rPr>
              <a:t>Looks usable, cannot be edited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Helvetica Neue"/>
              </a:rPr>
              <a:t>SYMPTOMS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715768"/>
            <a:ext cx="477316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output is an image or HTML, not editable in PowerPoint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even .pptx output is all text boxes — one edit breaks the layout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charts are rasterised and the data is gone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840480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Helvetica Neue"/>
              </a:rPr>
              <a:t>EVIDENCE · 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032504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2E6F95"/>
                </a:solidFill>
                <a:latin typeface="Helvetica Neue"/>
              </a:rPr>
              <a:t>Agents frequently rasterise editable content or break the layout (Zheng et al., 2026b); only an object-model route preserves styling (Jung et al., 2025).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A83542"/>
                </a:solidFill>
                <a:latin typeface="Helvetica Neue"/>
              </a:rPr>
              <a:t>CONSEQUENCE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10233A"/>
                </a:solidFill>
                <a:latin typeface="Helvetica Neue"/>
              </a:rPr>
              <a:t>Users get an artefact they cannot modify, so it is unusable and the tool is abandoned.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7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7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Helvetica Neue"/>
              </a:rPr>
              <a:t>⑥ INSPECTION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500" b="1">
                <a:solidFill>
                  <a:srgbClr val="10233A"/>
                </a:solidFill>
                <a:latin typeface="Helvetica Neue"/>
              </a:rPr>
              <a:t>One-shot feedback, no attribution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Helvetica Neue"/>
              </a:rPr>
              <a:t>SYMPTOMS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715768"/>
            <a:ext cx="477316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the whole deck is rewritten and reviewed once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errors cannot be localised to an element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repair can make things worse, with no convergence guarantee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840480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Helvetica Neue"/>
              </a:rPr>
              <a:t>EVIDENCE · APA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032504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2E6F95"/>
                </a:solidFill>
                <a:latin typeface="Helvetica Neue"/>
              </a:rPr>
              <a:t>A monolithic one-version-one-feedback loop makes local errors hard to attribute (Tian et al., 2026); reflection must be grounded in rendered state (Zheng et al., 2026a).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64807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A83542"/>
                </a:solidFill>
                <a:latin typeface="Helvetica Neue"/>
              </a:rPr>
              <a:t>CONSEQUENCE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10233A"/>
                </a:solidFill>
                <a:latin typeface="Helvetica Neue"/>
              </a:rPr>
              <a:t>Iteration becomes a gamble: each pass may degrade the deck and nobody can say why.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Helvetica Neue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Helvetica Neue"/>
              </a:rPr>
              <a:t>02 · FUNCTIONAL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Helvetica Neue"/>
              </a:rPr>
              <a:t>Gap 4  |  Speaker notes and provenance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Helvetica Neue"/>
              </a:rPr>
              <a:t>⑦ SPEAKER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500" b="1">
                <a:solidFill>
                  <a:srgbClr val="10233A"/>
                </a:solidFill>
                <a:latin typeface="Helvetica Neue"/>
              </a:rPr>
              <a:t>Notes are the bullets again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Helvetica Neue"/>
              </a:rPr>
              <a:t>SYMPTOMS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715768"/>
            <a:ext cx="477316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speaker notes duplicate the text on the slide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no time budget — no idea how many slides fit three minutes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no transitions, so slides do not 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840480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Helvetica Neue"/>
              </a:rPr>
              <a:t>EVIDENCE · 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032504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2E6F95"/>
                </a:solidFill>
                <a:latin typeface="Helvetica Neue"/>
              </a:rPr>
              <a:t>Delivery is under-optimised (Yang et al., 2026); only 5 of 38 papers mention speaker notes, none as a research focus.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A83542"/>
                </a:solidFill>
                <a:latin typeface="Helvetica Neue"/>
              </a:rPr>
              <a:t>CONSEQUENCE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10233A"/>
                </a:solidFill>
                <a:latin typeface="Helvetica Neue"/>
              </a:rPr>
              <a:t>The speaker reads the slide while the audience reads and listens at once.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7" y="1572768"/>
            <a:ext cx="5230368" cy="4526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7" y="1572768"/>
            <a:ext cx="5230368" cy="50292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755648"/>
            <a:ext cx="47731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Helvetica Neue"/>
              </a:rPr>
              <a:t>⑧ PROVENANCE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011680"/>
            <a:ext cx="47731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500" b="1">
                <a:solidFill>
                  <a:srgbClr val="10233A"/>
                </a:solidFill>
                <a:latin typeface="Helvetica Neue"/>
              </a:rPr>
              <a:t>Writes the words, cannot cite them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2523744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Helvetica Neue"/>
              </a:rPr>
              <a:t>SYMPTOMS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715768"/>
            <a:ext cx="477316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bullets carry no source, so there is no path back to a passage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related work is presented as 'we propose'</a:t>
            </a:r>
          </a:p>
          <a:p>
            <a:pPr>
              <a:lnSpc>
                <a:spcPct val="116000"/>
              </a:lnSpc>
              <a:spcBef>
                <a:spcPts val="25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▪  </a:t>
            </a:r>
            <a:r>
              <a:rPr sz="880">
                <a:solidFill>
                  <a:srgbClr val="1E3652"/>
                </a:solidFill>
                <a:latin typeface="Helvetica Neue"/>
              </a:rPr>
              <a:t>figures and tables misnumbered; numbers attached to the wrong claim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840480"/>
            <a:ext cx="47731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8A99A8"/>
                </a:solidFill>
                <a:latin typeface="Helvetica Neue"/>
              </a:rPr>
              <a:t>EVIDENCE · APA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032504"/>
            <a:ext cx="4773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2E6F95"/>
                </a:solidFill>
                <a:latin typeface="Helvetica Neue"/>
              </a:rPr>
              <a:t>Retrieval improves reliability but per-sentence provenance is not exposed (Xie et al., 2025); global intent is kept while sentence-level anchors are missing (Ozden et al., 2026a).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64807" y="4736592"/>
            <a:ext cx="4864607" cy="102412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818888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A83542"/>
                </a:solidFill>
                <a:latin typeface="Helvetica Neue"/>
              </a:rPr>
              <a:t>CONSEQUENCE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5001768"/>
            <a:ext cx="45902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00" b="0">
                <a:solidFill>
                  <a:srgbClr val="10233A"/>
                </a:solidFill>
                <a:latin typeface="Helvetica Neue"/>
              </a:rPr>
              <a:t>A wrong number goes unnoticed; in academic settings one misattributed claim destroys credibility.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Helvetica Neue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Helvetica Neue"/>
              </a:rPr>
              <a:t>02 · FUNCTIONAL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Helvetica Neue"/>
              </a:rPr>
              <a:t>A single failure is amplified downstream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980" b="1">
                <a:solidFill>
                  <a:srgbClr val="FFFFFF"/>
                </a:solidFill>
                <a:latin typeface="Helvetica Neue"/>
              </a:rPr>
              <a:t>Bad input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86584" y="1938528"/>
            <a:ext cx="164592" cy="164592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87752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7752" y="1874519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980" b="1">
                <a:solidFill>
                  <a:srgbClr val="FFFFFF"/>
                </a:solidFill>
                <a:latin typeface="Helvetica Neue"/>
              </a:rPr>
              <a:t>Bad content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97096" y="1938528"/>
            <a:ext cx="164592" cy="164592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98264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8264" y="1874519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980" b="1">
                <a:solidFill>
                  <a:srgbClr val="FFFFFF"/>
                </a:solidFill>
                <a:latin typeface="Helvetica Neue"/>
              </a:rPr>
              <a:t>Weak story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07607" y="1938528"/>
            <a:ext cx="164592" cy="164592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08775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8775" y="1874519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980" b="1">
                <a:solidFill>
                  <a:srgbClr val="FFFFFF"/>
                </a:solidFill>
                <a:latin typeface="Helvetica Neue"/>
              </a:rPr>
              <a:t>Broken layout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18119" y="1938528"/>
            <a:ext cx="164592" cy="164592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19288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9288" y="1874519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980" b="1">
                <a:solidFill>
                  <a:srgbClr val="FFFFFF"/>
                </a:solidFill>
                <a:latin typeface="Helvetica Neue"/>
              </a:rPr>
              <a:t>No repair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628632" y="1938528"/>
            <a:ext cx="164592" cy="164592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29800" y="1691640"/>
            <a:ext cx="1572768" cy="658368"/>
          </a:xfrm>
          <a:prstGeom prst="roundRect">
            <a:avLst>
              <a:gd name="adj" fmla="val 3500"/>
            </a:avLst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1874519"/>
            <a:ext cx="15727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980" b="1">
                <a:solidFill>
                  <a:srgbClr val="FFFFFF"/>
                </a:solidFill>
                <a:latin typeface="Helvetica Neue"/>
              </a:rPr>
              <a:t>No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48716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80" b="0">
                <a:solidFill>
                  <a:srgbClr val="8A99A8"/>
                </a:solidFill>
                <a:latin typeface="Helvetica Neue"/>
              </a:rPr>
              <a:t>Every upstream error is amplified downstream — and cannot be traced 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017520"/>
            <a:ext cx="3346704" cy="148132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3" y="315468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00" b="1">
                <a:solidFill>
                  <a:srgbClr val="C08A2E"/>
                </a:solidFill>
                <a:latin typeface="Helvetica Neue"/>
              </a:rPr>
              <a:t>Audience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3" y="3438144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19" b="0">
                <a:solidFill>
                  <a:srgbClr val="1E3652"/>
                </a:solidFill>
                <a:latin typeface="Helvetica Neue"/>
              </a:rPr>
              <a:t>Cannot follow or remember; sees clipped text 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4169663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Helvetica Neue"/>
              </a:rPr>
              <a:t>→ Attention lost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1688" y="3017520"/>
            <a:ext cx="3346704" cy="148132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1" y="315468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00" b="1">
                <a:solidFill>
                  <a:srgbClr val="C08A2E"/>
                </a:solidFill>
                <a:latin typeface="Helvetica Neue"/>
              </a:rPr>
              <a:t>Speaker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1" y="3438144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19" b="0">
                <a:solidFill>
                  <a:srgbClr val="1E3652"/>
                </a:solidFill>
                <a:latin typeface="Helvetica Neue"/>
              </a:rPr>
              <a:t>Will not trust it; cannot answer 'where does this number come from?'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1" y="4169663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Helvetica Neue"/>
              </a:rPr>
              <a:t>→ Trust collapses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46136" y="3017520"/>
            <a:ext cx="3346704" cy="148132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315468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00" b="1">
                <a:solidFill>
                  <a:srgbClr val="C08A2E"/>
                </a:solidFill>
                <a:latin typeface="Helvetica Neue"/>
              </a:rPr>
              <a:t>Field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3438144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19" b="0">
                <a:solidFill>
                  <a:srgbClr val="1E3652"/>
                </a:solidFill>
                <a:latin typeface="Helvetica Neue"/>
              </a:rPr>
              <a:t>Cannot compare systems, because there is no shared measure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4169663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Helvetica Neue"/>
              </a:rPr>
              <a:t>→ Progress stalls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919472"/>
            <a:ext cx="10607040" cy="950976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5029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1">
                <a:solidFill>
                  <a:srgbClr val="10233A"/>
                </a:solidFill>
                <a:latin typeface="Helvetica Neue"/>
              </a:rPr>
              <a:t>Measurement now exists (SlideAudit, DECKBench). What is missing is using it as a control signal — and measuring what it buys.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Helvetica Neue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Helvetica Neue"/>
              </a:rPr>
              <a:t>03 · WHY THIS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Helvetica Neue"/>
              </a:rPr>
              <a:t>Why this direction and not the others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Helvetica Neue"/>
              </a:rPr>
              <a:t>Four alternatives were considered seriously; each fails on a specific constraint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1847088"/>
            <a:ext cx="10561320" cy="3657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920240"/>
            <a:ext cx="21305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1">
                <a:solidFill>
                  <a:srgbClr val="FFFFFF"/>
                </a:solidFill>
                <a:latin typeface="Helvetica Neue"/>
              </a:rPr>
              <a:t>Direction considered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6976" y="1920240"/>
            <a:ext cx="25877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1">
                <a:solidFill>
                  <a:srgbClr val="FFFFFF"/>
                </a:solidFill>
                <a:latin typeface="Helvetica Neue"/>
              </a:rPr>
              <a:t>Why it is attractive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25895" y="1920240"/>
            <a:ext cx="5239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1">
                <a:solidFill>
                  <a:srgbClr val="FFFFFF"/>
                </a:solidFill>
                <a:latin typeface="Helvetica Neue"/>
              </a:rPr>
              <a:t>Why we are not doing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12848"/>
            <a:ext cx="10561320" cy="841248"/>
          </a:xfrm>
          <a:prstGeom prst="rect">
            <a:avLst/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267712"/>
            <a:ext cx="211226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Helvetica Neue"/>
              </a:rPr>
              <a:t>Reducing hallucination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2267712"/>
            <a:ext cx="256946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0">
                <a:solidFill>
                  <a:srgbClr val="5A6B7C"/>
                </a:solidFill>
                <a:latin typeface="Helvetica Neue"/>
              </a:rPr>
              <a:t>Compelling story; high novelty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25895" y="2267712"/>
            <a:ext cx="522122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19" b="0">
                <a:solidFill>
                  <a:srgbClr val="1E3652"/>
                </a:solidFill>
                <a:latin typeface="Helvetica Neue"/>
              </a:rPr>
              <a:t>Hallucination is a property of the base model. A student can only wrap RAG around it, which fixes fabrication but not over-claiming or misattribution. Ground truth needs sentence-level human checking: 300 bullets × 2 min.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054096"/>
            <a:ext cx="1056132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108960"/>
            <a:ext cx="211226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Helvetica Neue"/>
              </a:rPr>
              <a:t>A finer taxonomy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6976" y="3108960"/>
            <a:ext cx="256946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0">
                <a:solidFill>
                  <a:srgbClr val="5A6B7C"/>
                </a:solidFill>
                <a:latin typeface="Helvetica Neue"/>
              </a:rPr>
              <a:t>Clear definition; easy to write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5895" y="3108960"/>
            <a:ext cx="522122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19" b="0">
                <a:solidFill>
                  <a:srgbClr val="1E3652"/>
                </a:solidFill>
                <a:latin typeface="Helvetica Neue"/>
              </a:rPr>
              <a:t>SlideAudit already published 27 categories over 2,400 slides, built with design experts and trained annotators. A solo project cannot match that.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895344"/>
            <a:ext cx="10561320" cy="841248"/>
          </a:xfrm>
          <a:prstGeom prst="rect">
            <a:avLst/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950207"/>
            <a:ext cx="211226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Helvetica Neue"/>
              </a:rPr>
              <a:t>A multi-agent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6976" y="3950207"/>
            <a:ext cx="256946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0">
                <a:solidFill>
                  <a:srgbClr val="5A6B7C"/>
                </a:solidFill>
                <a:latin typeface="Helvetica Neue"/>
              </a:rPr>
              <a:t>Sounds advanced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5895" y="3950207"/>
            <a:ext cx="522122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19" b="0">
                <a:solidFill>
                  <a:srgbClr val="1E3652"/>
                </a:solidFill>
                <a:latin typeface="Helvetica Neue"/>
              </a:rPr>
              <a:t>Per-module ablation becomes near-impossible, and the first defence question is which agent actually contributes.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736592"/>
            <a:ext cx="1056132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791455"/>
            <a:ext cx="211226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Helvetica Neue"/>
              </a:rPr>
              <a:t>Cost optimisation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6976" y="4791455"/>
            <a:ext cx="256946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0">
                <a:solidFill>
                  <a:srgbClr val="5A6B7C"/>
                </a:solidFill>
                <a:latin typeface="Helvetica Neue"/>
              </a:rPr>
              <a:t>Easy to quantify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25895" y="4791455"/>
            <a:ext cx="522122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19" b="0">
                <a:solidFill>
                  <a:srgbClr val="1E3652"/>
                </a:solidFill>
                <a:latin typeface="Helvetica Neue"/>
              </a:rPr>
              <a:t>Cost is the denominator, not the goal. Pure engineering tuning is not a research contribution.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6875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00" b="1">
                <a:solidFill>
                  <a:srgbClr val="A83542"/>
                </a:solidFill>
                <a:latin typeface="Helvetica Neue"/>
              </a:rPr>
              <a:t>The intersection we chose: mechanically decidable  ×  per-class attributable  ×  feasible for one person.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Helvetica Neue"/>
              </a:rPr>
              <a:t>03 · WHY THIS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Helvetica Neue"/>
              </a:rPr>
              <a:t>The eight works this direction builds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Helvetica Neue"/>
              </a:rPr>
              <a:t>Each one plays a specific role — none is simply 'related work'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847088"/>
            <a:ext cx="5074920" cy="804672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47088"/>
            <a:ext cx="45720" cy="804672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93852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0233A"/>
                </a:solidFill>
                <a:latin typeface="Helvetica Neue"/>
              </a:rPr>
              <a:t>SlideAudit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128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2E6F95"/>
                </a:solidFill>
                <a:latin typeface="Helvetica Neue"/>
              </a:rPr>
              <a:t>Label 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066543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six overlapping categories, re-used verbatim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47088"/>
            <a:ext cx="5074920" cy="804672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47088"/>
            <a:ext cx="45720" cy="804672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93852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0233A"/>
                </a:solidFill>
                <a:latin typeface="Helvetica Neue"/>
              </a:rPr>
              <a:t>DECKBench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2128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2E6F95"/>
                </a:solidFill>
                <a:latin typeface="Helvetica Neue"/>
              </a:rPr>
              <a:t>Contrast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066543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reference-aware scoring; needs a target deck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807208"/>
            <a:ext cx="5074920" cy="804672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2807208"/>
            <a:ext cx="45720" cy="804672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28986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0233A"/>
                </a:solidFill>
                <a:latin typeface="Helvetica Neue"/>
              </a:rPr>
              <a:t>PPTArena / PPTPilot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317296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2E6F95"/>
                </a:solidFill>
                <a:latin typeface="Helvetica Neue"/>
              </a:rPr>
              <a:t>Baseline 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026664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the loop we run as a controlled ablation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807208"/>
            <a:ext cx="5074920" cy="804672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807208"/>
            <a:ext cx="45720" cy="804672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28986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0233A"/>
                </a:solidFill>
                <a:latin typeface="Helvetica Neue"/>
              </a:rPr>
              <a:t>ReDeck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17296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2E6F95"/>
                </a:solidFill>
                <a:latin typeface="Helvetica Neue"/>
              </a:rPr>
              <a:t>Loop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3026664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one edit, one observation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767328"/>
            <a:ext cx="5074920" cy="804672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767328"/>
            <a:ext cx="45720" cy="804672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" y="385876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0233A"/>
                </a:solidFill>
                <a:latin typeface="Helvetica Neue"/>
              </a:rPr>
              <a:t>PPTAgent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" y="413308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2E6F95"/>
                </a:solidFill>
                <a:latin typeface="Helvetica Neue"/>
              </a:rPr>
              <a:t>Baseline 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986784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strongest reproducible generator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767328"/>
            <a:ext cx="5074920" cy="804672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767328"/>
            <a:ext cx="45720" cy="804672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85876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0233A"/>
                </a:solidFill>
                <a:latin typeface="Helvetica Neue"/>
              </a:rPr>
              <a:t>Paper2Poster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413308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2E6F95"/>
                </a:solidFill>
                <a:latin typeface="Helvetica Neue"/>
              </a:rPr>
              <a:t>Evaluation idea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986784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answer questions using only the artefact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727448"/>
            <a:ext cx="5074920" cy="804672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4727448"/>
            <a:ext cx="45720" cy="804672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" y="481888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0233A"/>
                </a:solidFill>
                <a:latin typeface="Helvetica Neue"/>
              </a:rPr>
              <a:t>PosterMELD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" y="50932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2E6F95"/>
                </a:solidFill>
                <a:latin typeface="Helvetica Neue"/>
              </a:rPr>
              <a:t>Concept source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4946904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print-ready rate → slide-ready rate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727448"/>
            <a:ext cx="5074920" cy="804672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4727448"/>
            <a:ext cx="45720" cy="804672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481888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0233A"/>
                </a:solidFill>
                <a:latin typeface="Helvetica Neue"/>
              </a:rPr>
              <a:t>SLIDEFORGE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50932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2E6F95"/>
                </a:solidFill>
                <a:latin typeface="Helvetica Neue"/>
              </a:rPr>
              <a:t>Representation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4946904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pptx object layer instead of pixels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Helvetica Neue"/>
              </a:rPr>
              <a:t>04 ·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Helvetica Neue"/>
              </a:rPr>
              <a:t>My direction: paper distillation, not lecture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Helvetica Neue"/>
              </a:rPr>
              <a:t>Turn computable layout violations into an in-loop control signal, and measure what it buys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847088"/>
            <a:ext cx="5074920" cy="155448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56816"/>
            <a:ext cx="4663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2E6F95"/>
                </a:solidFill>
                <a:latin typeface="Helvetica Neue"/>
              </a:rPr>
              <a:t>IN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12848"/>
            <a:ext cx="46634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880" b="1">
                <a:solidFill>
                  <a:srgbClr val="2E6F95"/>
                </a:solidFill>
                <a:latin typeface="Helvetica Neue"/>
              </a:rPr>
              <a:t>•  </a:t>
            </a:r>
            <a:r>
              <a:rPr sz="880">
                <a:solidFill>
                  <a:srgbClr val="1E3652"/>
                </a:solidFill>
                <a:latin typeface="Helvetica Neue"/>
              </a:rPr>
              <a:t>single-column English papers, 8–10 in total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880" b="1">
                <a:solidFill>
                  <a:srgbClr val="2E6F95"/>
                </a:solidFill>
                <a:latin typeface="Helvetica Neue"/>
              </a:rPr>
              <a:t>•  </a:t>
            </a:r>
            <a:r>
              <a:rPr sz="880">
                <a:solidFill>
                  <a:srgbClr val="1E3652"/>
                </a:solidFill>
                <a:latin typeface="Helvetica Neue"/>
              </a:rPr>
              <a:t>10–12 slides per deck, editable .pptx output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880" b="1">
                <a:solidFill>
                  <a:srgbClr val="2E6F95"/>
                </a:solidFill>
                <a:latin typeface="Helvetica Neue"/>
              </a:rPr>
              <a:t>•  </a:t>
            </a:r>
            <a:r>
              <a:rPr sz="880">
                <a:solidFill>
                  <a:srgbClr val="1E3652"/>
                </a:solidFill>
                <a:latin typeface="Helvetica Neue"/>
              </a:rPr>
              <a:t>six violation classes, per-class reporting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880" b="1">
                <a:solidFill>
                  <a:srgbClr val="2E6F95"/>
                </a:solidFill>
                <a:latin typeface="Helvetica Neue"/>
              </a:rPr>
              <a:t>•  </a:t>
            </a:r>
            <a:r>
              <a:rPr sz="880">
                <a:solidFill>
                  <a:srgbClr val="1E3652"/>
                </a:solidFill>
                <a:latin typeface="Helvetica Neue"/>
              </a:rPr>
              <a:t>speaker notes: 2–3 lines per slide plus a time budget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880" b="1">
                <a:solidFill>
                  <a:srgbClr val="2E6F95"/>
                </a:solidFill>
                <a:latin typeface="Helvetica Neue"/>
              </a:rPr>
              <a:t>•  </a:t>
            </a:r>
            <a:r>
              <a:rPr sz="880">
                <a:solidFill>
                  <a:srgbClr val="1E3652"/>
                </a:solidFill>
                <a:latin typeface="Helvetica Neue"/>
              </a:rPr>
              <a:t>20-participant pairwise human study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11296"/>
            <a:ext cx="5074920" cy="1956816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621024"/>
            <a:ext cx="4663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A83542"/>
                </a:solidFill>
                <a:latin typeface="Helvetica Neue"/>
              </a:rPr>
              <a:t>OUT OF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877056"/>
            <a:ext cx="4663440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•  </a:t>
            </a:r>
            <a:r>
              <a:rPr sz="880">
                <a:solidFill>
                  <a:srgbClr val="1E3652"/>
                </a:solidFill>
                <a:latin typeface="Helvetica Neue"/>
              </a:rPr>
              <a:t>lecture notes and teaching material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•  </a:t>
            </a:r>
            <a:r>
              <a:rPr sz="880">
                <a:solidFill>
                  <a:srgbClr val="1E3652"/>
                </a:solidFill>
                <a:latin typeface="Helvetica Neue"/>
              </a:rPr>
              <a:t>multi-column or scanned papers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•  </a:t>
            </a:r>
            <a:r>
              <a:rPr sz="880">
                <a:solidFill>
                  <a:srgbClr val="1E3652"/>
                </a:solidFill>
                <a:latin typeface="Helvetica Neue"/>
              </a:rPr>
              <a:t>Chinese / bilingual output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•  </a:t>
            </a:r>
            <a:r>
              <a:rPr sz="880">
                <a:solidFill>
                  <a:srgbClr val="1E3652"/>
                </a:solidFill>
                <a:latin typeface="Helvetica Neue"/>
              </a:rPr>
              <a:t>hallucination measurement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880" b="1">
                <a:solidFill>
                  <a:srgbClr val="A83542"/>
                </a:solidFill>
                <a:latin typeface="Helvetica Neue"/>
              </a:rPr>
              <a:t>•  </a:t>
            </a:r>
            <a:r>
              <a:rPr sz="880">
                <a:solidFill>
                  <a:srgbClr val="1E3652"/>
                </a:solidFill>
                <a:latin typeface="Helvetica Neue"/>
              </a:rPr>
              <a:t>multi-agent architecture as a selling 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847088"/>
            <a:ext cx="5266944" cy="279806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99339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Helvetica Neue"/>
              </a:rPr>
              <a:t>RQ1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1975104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0">
                <a:solidFill>
                  <a:srgbClr val="1E3652"/>
                </a:solidFill>
                <a:latin typeface="Helvetica Neue"/>
              </a:rPr>
              <a:t>Can layout usability be measured without a reference deck?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48716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Helvetica Neue"/>
              </a:rPr>
              <a:t>RQ2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4688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0">
                <a:solidFill>
                  <a:srgbClr val="1E3652"/>
                </a:solidFill>
                <a:latin typeface="Helvetica Neue"/>
              </a:rPr>
              <a:t>Does a rule-based verifier beat a VLM judge in the same loop?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98094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Helvetica Neue"/>
              </a:rPr>
              <a:t>RQ3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96265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0">
                <a:solidFill>
                  <a:srgbClr val="1E3652"/>
                </a:solidFill>
                <a:latin typeface="Helvetica Neue"/>
              </a:rPr>
              <a:t>Which violation classes improve, and which stay flat?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47472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Helvetica Neue"/>
              </a:rPr>
              <a:t>RQ4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3456432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0">
                <a:solidFill>
                  <a:srgbClr val="1E3652"/>
                </a:solidFill>
                <a:latin typeface="Helvetica Neue"/>
              </a:rPr>
              <a:t>What does each improvement cost?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396849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Helvetica Neue"/>
              </a:rPr>
              <a:t>RQ5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395020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0">
                <a:solidFill>
                  <a:srgbClr val="1E3652"/>
                </a:solidFill>
                <a:latin typeface="Helvetica Neue"/>
              </a:rPr>
              <a:t>Can every bullet carry a resolvable source anchor?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4773168"/>
            <a:ext cx="5266944" cy="786384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4864608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40" b="0">
                <a:solidFill>
                  <a:srgbClr val="10233A"/>
                </a:solidFill>
                <a:latin typeface="Helvetica Neue"/>
              </a:rPr>
              <a:t>After the main line — provenance module (C5): per-bullet source anchor, 100 bullets, about four hours of annotation.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Helvetica Neue"/>
              </a:rPr>
              <a:t>04 ·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Helvetica Neue"/>
              </a:rPr>
              <a:t>Five contributions, in order of weight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627632"/>
            <a:ext cx="10607040" cy="73152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105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C08A2E"/>
                </a:solidFill>
                <a:latin typeface="Helvetica Neue"/>
              </a:rPr>
              <a:t>C1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19072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Helvetica Neue"/>
              </a:rPr>
              <a:t>A reference-free, object-level measure of usability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737360"/>
            <a:ext cx="58521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40" b="0">
                <a:solidFill>
                  <a:srgbClr val="1E3652"/>
                </a:solidFill>
                <a:latin typeface="Helvetica Neue"/>
              </a:rPr>
              <a:t>SRR, deck-ready and per-gate pass rates, computed on the native .pptx — no ground-truth deck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50592"/>
            <a:ext cx="10607040" cy="731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6334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C08A2E"/>
                </a:solidFill>
                <a:latin typeface="Helvetica Neue"/>
              </a:rPr>
              <a:t>C2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542032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Helvetica Neue"/>
              </a:rPr>
              <a:t>Measurement turned into a control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560320"/>
            <a:ext cx="58521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40" b="0">
                <a:solidFill>
                  <a:srgbClr val="1E3652"/>
                </a:solidFill>
                <a:latin typeface="Helvetica Neue"/>
              </a:rPr>
              <a:t>detect → edit → re-render → re-measure; the verifier is isolated as the only variable.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73552"/>
            <a:ext cx="10607040" cy="73152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45643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C08A2E"/>
                </a:solidFill>
                <a:latin typeface="Helvetica Neue"/>
              </a:rPr>
              <a:t>C3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364992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Helvetica Neue"/>
              </a:rPr>
              <a:t>Per-class attribution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383280"/>
            <a:ext cx="58521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40" b="0">
                <a:solidFill>
                  <a:srgbClr val="1E3652"/>
                </a:solidFill>
                <a:latin typeface="Helvetica Neue"/>
              </a:rPr>
              <a:t>which classes repair well, which do not, and why. This is the paper.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96512"/>
            <a:ext cx="10607040" cy="731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27939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C08A2E"/>
                </a:solidFill>
                <a:latin typeface="Helvetica Neue"/>
              </a:rPr>
              <a:t>C4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187952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Helvetica Neue"/>
              </a:rPr>
              <a:t>A rerunnable research artefact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206240"/>
            <a:ext cx="58521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40" b="0">
                <a:solidFill>
                  <a:srgbClr val="1E3652"/>
                </a:solidFill>
                <a:latin typeface="Helvetica Neue"/>
              </a:rPr>
              <a:t>150 annotated slides (40 calibration + 110 test), rulebook, detectors, scripts.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919472"/>
            <a:ext cx="10607040" cy="73152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510235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C08A2E"/>
                </a:solidFill>
                <a:latin typeface="Helvetica Neue"/>
              </a:rPr>
              <a:t>C5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010912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Helvetica Neue"/>
              </a:rPr>
              <a:t>Provenance anchors (secondary)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5029200"/>
            <a:ext cx="58521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40" b="0">
                <a:solidFill>
                  <a:srgbClr val="1E3652"/>
                </a:solidFill>
                <a:latin typeface="Helvetica Neue"/>
              </a:rPr>
              <a:t>every bullet resolves to a passage; reported as coverage and accuracy.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70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C1 is the ruler, C2 is the hand, C3 is the finding. C4 makes it reproducible; C5 is cut first if time runs out.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Helvetica Neue"/>
              </a:rPr>
              <a:t>05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Helvetica Neue"/>
              </a:rPr>
              <a:t>Operational definition: slide-ready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Helvetica Neue"/>
              </a:rPr>
              <a:t>SRR = slides passing every gate / slides; deck-ready is a separate binary. Both are always reported.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1847088"/>
            <a:ext cx="10561320" cy="3657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20240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Helvetica Neue"/>
              </a:rPr>
              <a:t>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920240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Helvetica Neue"/>
              </a:rPr>
              <a:t>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Helvetica Neue"/>
              </a:rPr>
              <a:t>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08" y="1920240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Helvetica Neue"/>
              </a:rPr>
              <a:t>Anchor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3536" y="1920240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Helvetica Neue"/>
              </a:rPr>
              <a:t>Swept over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31136"/>
            <a:ext cx="10561320" cy="548640"/>
          </a:xfrm>
          <a:prstGeom prst="rect">
            <a:avLst/>
          </a:prstGeom>
          <a:solidFill>
            <a:srgbClr val="F4F6F8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313432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1">
                <a:solidFill>
                  <a:srgbClr val="10233A"/>
                </a:solidFill>
                <a:latin typeface="Helvetica Neue"/>
              </a:rPr>
              <a:t>G1 Containment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313432"/>
            <a:ext cx="39593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Helvetica Neue"/>
              </a:rPr>
              <a:t>Every shape box inside the slide; no image cropped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13432"/>
            <a:ext cx="1371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Helvetica Neue"/>
              </a:rPr>
              <a:t>0 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2313432"/>
            <a:ext cx="1737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binary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3536" y="2313432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779776"/>
            <a:ext cx="105613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2862072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1">
                <a:solidFill>
                  <a:srgbClr val="10233A"/>
                </a:solidFill>
                <a:latin typeface="Helvetica Neue"/>
              </a:rPr>
              <a:t>G2 Overlap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862072"/>
            <a:ext cx="39593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Helvetica Neue"/>
              </a:rPr>
              <a:t>Text–text intersection ÷ area of smaller 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62072"/>
            <a:ext cx="1371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Helvetica Neue"/>
              </a:rPr>
              <a:t>&gt; 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2862072"/>
            <a:ext cx="1737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empirical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3536" y="2862072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2 / 5 / 10%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328415"/>
            <a:ext cx="10561320" cy="548640"/>
          </a:xfrm>
          <a:prstGeom prst="rect">
            <a:avLst/>
          </a:prstGeom>
          <a:solidFill>
            <a:srgbClr val="F4F6F8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410711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1">
                <a:solidFill>
                  <a:srgbClr val="10233A"/>
                </a:solidFill>
                <a:latin typeface="Helvetica Neue"/>
              </a:rPr>
              <a:t>G3 Font 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3410711"/>
            <a:ext cx="39593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Helvetica Neue"/>
              </a:rPr>
              <a:t>Body and titles, read from run properties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410711"/>
            <a:ext cx="1371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Helvetica Neue"/>
              </a:rPr>
              <a:t>18 / 28 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3410711"/>
            <a:ext cx="1737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design guidance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3536" y="3410711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16 / 18 / 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877056"/>
            <a:ext cx="105613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3959352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1">
                <a:solidFill>
                  <a:srgbClr val="10233A"/>
                </a:solidFill>
                <a:latin typeface="Helvetica Neue"/>
              </a:rPr>
              <a:t>G4 Contrast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3959352"/>
            <a:ext cx="39593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Helvetica Neue"/>
              </a:rPr>
              <a:t>WCAG 2.2 AA ratio, fill vs background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959352"/>
            <a:ext cx="1371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Helvetica Neue"/>
              </a:rPr>
              <a:t>4.5:1 (3:1 large)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5008" y="3959352"/>
            <a:ext cx="1737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published standard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3536" y="3959352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425696"/>
            <a:ext cx="10561320" cy="548640"/>
          </a:xfrm>
          <a:prstGeom prst="rect">
            <a:avLst/>
          </a:prstGeom>
          <a:solidFill>
            <a:srgbClr val="F4F6F8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" y="4507992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1">
                <a:solidFill>
                  <a:srgbClr val="10233A"/>
                </a:solidFill>
                <a:latin typeface="Helvetica Neue"/>
              </a:rPr>
              <a:t>G5 Text fit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4507992"/>
            <a:ext cx="39593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Helvetica Neue"/>
              </a:rPr>
              <a:t>Rendered text height ÷ box height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507992"/>
            <a:ext cx="1371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Helvetica Neue"/>
              </a:rPr>
              <a:t>≤ 0.95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4507992"/>
            <a:ext cx="1737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renderer tolerance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03536" y="4507992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0.90 / 1.00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4974336"/>
            <a:ext cx="105613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" y="5056631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1">
                <a:solidFill>
                  <a:srgbClr val="10233A"/>
                </a:solidFill>
                <a:latin typeface="Helvetica Neue"/>
              </a:rPr>
              <a:t>G6 Density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1720" y="5056631"/>
            <a:ext cx="39593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Helvetica Neue"/>
              </a:rPr>
              <a:t>Characters per slide; bullets per block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5056631"/>
            <a:ext cx="1371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Helvetica Neue"/>
              </a:rPr>
              <a:t>≤ 140; ≤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65008" y="5056631"/>
            <a:ext cx="1737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empirical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03536" y="5056631"/>
            <a:ext cx="124358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120 / 160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614416"/>
            <a:ext cx="106070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780" b="0">
                <a:solidFill>
                  <a:srgbClr val="5A6B7C"/>
                </a:solidFill>
                <a:latin typeface="Helvetica Neue"/>
              </a:rPr>
              <a:t>Calibration: sweep each threshold, keep the value that maximises agreement with human labels.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780" b="0">
                <a:solidFill>
                  <a:srgbClr val="A83542"/>
                </a:solidFill>
                <a:latin typeface="Helvetica Neue"/>
              </a:rPr>
              <a:t>Aggregation: SRR is slide-level and continuous; deck-ready = every slide passes (9 of 10 is NOT deck-ready).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780" b="0">
                <a:solidFill>
                  <a:srgbClr val="2E6F95"/>
                </a:solidFill>
                <a:latin typeface="Helvetica Neue"/>
              </a:rPr>
              <a:t>Positioning: SlideAudit supplies the label space; DECKBench scores against references; SRR is reference-free — a control signal, not a score.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Helvetica Neue"/>
              </a:rPr>
              <a:t>05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Helvetica Neue"/>
              </a:rPr>
              <a:t>Evidence plan: agreement, power, fallbacks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Helvetica Neue"/>
              </a:rPr>
              <a:t>The grade depends on whether a sceptic can rerun these three numbers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810512"/>
            <a:ext cx="5074920" cy="26974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38528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C08A2E"/>
                </a:solidFill>
                <a:latin typeface="Helvetica Neue"/>
              </a:rPr>
              <a:t>DETECTOR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12848"/>
            <a:ext cx="466344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860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860">
                <a:solidFill>
                  <a:srgbClr val="1E3652"/>
                </a:solidFill>
                <a:latin typeface="Helvetica Neue"/>
              </a:rPr>
              <a:t>150 slides = 40 calibration + 110 held-out, stratified across all three systems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860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860">
                <a:solidFill>
                  <a:srgbClr val="1E3652"/>
                </a:solidFill>
                <a:latin typeface="Helvetica Neue"/>
              </a:rPr>
              <a:t>2 independent annotators; rulebook training plus 10 calibration slides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860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860">
                <a:solidFill>
                  <a:srgbClr val="1E3652"/>
                </a:solidFill>
                <a:latin typeface="Helvetica Neue"/>
              </a:rPr>
              <a:t>Cohen's kappa &gt;= 0.70 per class, adjudicated by a third pass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860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860">
                <a:solidFill>
                  <a:srgbClr val="1E3652"/>
                </a:solidFill>
                <a:latin typeface="Helvetica Neue"/>
              </a:rPr>
              <a:t>precision / recall / F1 per class, never an aggregate only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860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860">
                <a:solidFill>
                  <a:srgbClr val="1E3652"/>
                </a:solidFill>
                <a:latin typeface="Helvetica Neue"/>
              </a:rPr>
              <a:t>if per-class F1 &lt; 0.70 on calibration, revise the rule and re-freeze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810512"/>
            <a:ext cx="5212080" cy="269748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193852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C08A2E"/>
                </a:solidFill>
                <a:latin typeface="Helvetica Neue"/>
              </a:rPr>
              <a:t>HUMAN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9944" y="2212848"/>
            <a:ext cx="475488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860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860">
                <a:solidFill>
                  <a:srgbClr val="1E3652"/>
                </a:solidFill>
                <a:latin typeface="Helvetica Neue"/>
              </a:rPr>
              <a:t>within-subject: 20 raters x 4 papers, all three systems on the same paper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860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860">
                <a:solidFill>
                  <a:srgbClr val="1E3652"/>
                </a:solidFill>
                <a:latin typeface="Helvetica Neue"/>
              </a:rPr>
              <a:t>one primary contrast pre-registered: ours vs the VLM-judge loop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860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860">
                <a:solidFill>
                  <a:srgbClr val="1E3652"/>
                </a:solidFill>
                <a:latin typeface="Helvetica Neue"/>
              </a:rPr>
              <a:t>Holm–Bonferroni across the remaining two comparisons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860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860">
                <a:solidFill>
                  <a:srgbClr val="1E3652"/>
                </a:solidFill>
                <a:latin typeface="Helvetica Neue"/>
              </a:rPr>
              <a:t>n = 20 detects d about 0.65–0.70 at 80% power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860" b="1">
                <a:solidFill>
                  <a:srgbClr val="C08A2E"/>
                </a:solidFill>
                <a:latin typeface="Helvetica Neue"/>
              </a:rPr>
              <a:t>•  </a:t>
            </a:r>
            <a:r>
              <a:rPr sz="860">
                <a:solidFill>
                  <a:srgbClr val="1E3652"/>
                </a:solidFill>
                <a:latin typeface="Helvetica Neue"/>
              </a:rPr>
              <a:t>raters blind to condition order; papers rotated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681728"/>
            <a:ext cx="10634472" cy="932688"/>
          </a:xfrm>
          <a:prstGeom prst="roundRect">
            <a:avLst>
              <a:gd name="adj" fmla="val 3500"/>
            </a:avLst>
          </a:prstGeom>
          <a:solidFill>
            <a:srgbClr val="FAEE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773168"/>
            <a:ext cx="10149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A83542"/>
                </a:solidFill>
                <a:latin typeface="Helvetica Neue"/>
              </a:rPr>
              <a:t>IF RECRUITMENT FALLS SHORT OF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5010912"/>
            <a:ext cx="10149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840" b="0">
                <a:solidFill>
                  <a:srgbClr val="1E3652"/>
                </a:solidFill>
                <a:latin typeface="Helvetica Neue"/>
              </a:rPr>
              <a:t>3 expert raters with ICC(2,k)  ·  expand automated QA from 10 to 25 items  ·  report posterior probability of superiority  ·  label the result exploratory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Helvetica Neue"/>
              </a:rPr>
              <a:t>05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Helvetica Neue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Helvetica Neue"/>
              </a:rPr>
              <a:t>Gold = new contributions; the rest reuses validated practice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847088"/>
            <a:ext cx="1243584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016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3" y="197510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Helvetica Neue"/>
              </a:rPr>
              <a:t>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3" y="2487168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00" b="0">
                <a:solidFill>
                  <a:srgbClr val="5A6B7C"/>
                </a:solidFill>
                <a:latin typeface="Helvetica Neue"/>
              </a:rPr>
              <a:t>input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34540" y="2350008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57984" y="1847088"/>
            <a:ext cx="1243584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016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2848" y="197510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Helvetica Neue"/>
              </a:rPr>
              <a:t>Parse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2487168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00" b="0">
                <a:solidFill>
                  <a:srgbClr val="5A6B7C"/>
                </a:solidFill>
                <a:latin typeface="Helvetica Neue"/>
              </a:rPr>
              <a:t>section / figure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15284" y="2350008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38728" y="1847088"/>
            <a:ext cx="1243584" cy="1188720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197510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Helvetica Neue"/>
              </a:rPr>
              <a:t>Evidence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487168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00" b="0">
                <a:solidFill>
                  <a:srgbClr val="5A6B7C"/>
                </a:solidFill>
                <a:latin typeface="Helvetica Neue"/>
              </a:rPr>
              <a:t>claim–evidence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796028" y="2350008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19472" y="1847088"/>
            <a:ext cx="1243584" cy="1188720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197510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Helvetica Neue"/>
              </a:rPr>
              <a:t>Narrative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4336" y="2487168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00" b="0">
                <a:solidFill>
                  <a:srgbClr val="5A6B7C"/>
                </a:solidFill>
                <a:latin typeface="Helvetica Neue"/>
              </a:rPr>
              <a:t>space allocation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176772" y="2350008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0216" y="1847088"/>
            <a:ext cx="1243584" cy="1188720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79" y="197510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Helvetica Neue"/>
              </a:rPr>
              <a:t>Layout solver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2487168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00" b="0">
                <a:solidFill>
                  <a:srgbClr val="5A6B7C"/>
                </a:solidFill>
                <a:latin typeface="Helvetica Neue"/>
              </a:rPr>
              <a:t>capacity-aware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557516" y="2350008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80960" y="1847088"/>
            <a:ext cx="1243584" cy="1188720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 w="10160">
            <a:solidFill>
              <a:srgbClr val="D8E0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35824" y="197510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Helvetica Neue"/>
              </a:rPr>
              <a:t>Render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35824" y="2487168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00" b="0">
                <a:solidFill>
                  <a:srgbClr val="5A6B7C"/>
                </a:solidFill>
                <a:latin typeface="Helvetica Neue"/>
              </a:rPr>
              <a:t>python-pptx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938260" y="2350008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61704" y="1847088"/>
            <a:ext cx="1243584" cy="1188720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16568" y="197510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Helvetica Neue"/>
              </a:rPr>
              <a:t>Inspect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8" y="2487168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00" b="0">
                <a:solidFill>
                  <a:srgbClr val="5A6B7C"/>
                </a:solidFill>
                <a:latin typeface="Helvetica Neue"/>
              </a:rPr>
              <a:t>violation detection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0319004" y="2350008"/>
            <a:ext cx="109728" cy="182880"/>
          </a:xfrm>
          <a:prstGeom prst="rightArrow">
            <a:avLst/>
          </a:prstGeom>
          <a:solidFill>
            <a:srgbClr val="C5CF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442448" y="1847088"/>
            <a:ext cx="1243584" cy="1188720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97312" y="197510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>
                <a:solidFill>
                  <a:srgbClr val="10233A"/>
                </a:solidFill>
                <a:latin typeface="Helvetica Neue"/>
              </a:rPr>
              <a:t>Repair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97312" y="2487168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00" b="0">
                <a:solidFill>
                  <a:srgbClr val="5A6B7C"/>
                </a:solidFill>
                <a:latin typeface="Helvetica Neue"/>
              </a:rPr>
              <a:t>local rewrite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3145536"/>
            <a:ext cx="10607040" cy="310896"/>
          </a:xfrm>
          <a:prstGeom prst="roundRect">
            <a:avLst>
              <a:gd name="adj" fmla="val 3500"/>
            </a:avLst>
          </a:prstGeom>
          <a:solidFill>
            <a:srgbClr val="F9F3E4"/>
          </a:solidFill>
          <a:ln w="1016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3200400"/>
            <a:ext cx="10241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Helvetica Neue"/>
              </a:rPr>
              <a:t>⑨ Speaker notes — 2–3 lines per slide plus a time budget, written into .pptx notes; generated once, outside the control loop.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3547872"/>
            <a:ext cx="3346704" cy="1005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3" y="3675887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0233A"/>
                </a:solidFill>
                <a:latin typeface="Helvetica Neue"/>
              </a:rPr>
              <a:t>Restrict the output space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3" y="3986784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80" b="0">
                <a:solidFill>
                  <a:srgbClr val="5A6B7C"/>
                </a:solidFill>
                <a:latin typeface="Helvetica Neue"/>
              </a:rPr>
              <a:t>the model writes structured content only; geometry belongs to the solver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61688" y="3547872"/>
            <a:ext cx="3346704" cy="1005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99431" y="3675887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0233A"/>
                </a:solidFill>
                <a:latin typeface="Helvetica Neue"/>
              </a:rPr>
              <a:t>One element at a time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99431" y="3986784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80" b="0">
                <a:solidFill>
                  <a:srgbClr val="5A6B7C"/>
                </a:solidFill>
                <a:latin typeface="Helvetica Neue"/>
              </a:rPr>
              <a:t>local rewrites with immediate verification make errors attributable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46136" y="3547872"/>
            <a:ext cx="3346704" cy="1005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FE5E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79" y="3675887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1">
                <a:solidFill>
                  <a:srgbClr val="10233A"/>
                </a:solidFill>
                <a:latin typeface="Helvetica Neue"/>
              </a:rPr>
              <a:t>Every judgement has a number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79" y="3986784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80" b="0">
                <a:solidFill>
                  <a:srgbClr val="5A6B7C"/>
                </a:solidFill>
                <a:latin typeface="Helvetica Neue"/>
              </a:rPr>
              <a:t>no 'looks fine' — only measured violations and ratios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48920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50" b="0">
                <a:solidFill>
                  <a:srgbClr val="1E3652"/>
                </a:solidFill>
                <a:latin typeface="Helvetica Neue"/>
              </a:rPr>
              <a:t>The output is not an image but an editable .pptx: layout comes from constraint solving, content from the evidence graph.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Helvetica Neue"/>
              </a:rPr>
              <a:t>05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Helvetica Neue"/>
              </a:rPr>
              <a:t>What the repair actually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Helvetica Neue"/>
              </a:rPr>
              <a:t>One decision procedure per violation class: cheapest action first, with a guardrail that forbids adding content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1847088"/>
            <a:ext cx="10607040" cy="3657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920240"/>
            <a:ext cx="2148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1">
                <a:solidFill>
                  <a:srgbClr val="FFFFFF"/>
                </a:solidFill>
                <a:latin typeface="Helvetica Neue"/>
              </a:rPr>
              <a:t>Violation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6976" y="1920240"/>
            <a:ext cx="5623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1">
                <a:solidFill>
                  <a:srgbClr val="FFFFFF"/>
                </a:solidFill>
                <a:latin typeface="Helvetica Neue"/>
              </a:rPr>
              <a:t>What we do, in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3416" y="19202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1">
                <a:solidFill>
                  <a:srgbClr val="FFFFFF"/>
                </a:solidFill>
                <a:latin typeface="Helvetica Neue"/>
              </a:rPr>
              <a:t>Guardrail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12848"/>
            <a:ext cx="10607040" cy="713232"/>
          </a:xfrm>
          <a:prstGeom prst="rect">
            <a:avLst/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286000"/>
            <a:ext cx="211226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Helvetica Neue"/>
              </a:rPr>
              <a:t>Text out of bounds / clipped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2286000"/>
            <a:ext cx="558698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1E3652"/>
                </a:solidFill>
                <a:latin typeface="Helvetica Neue"/>
              </a:rPr>
              <a:t>shrink font one step → reduce box margin → move the box inward → split the slide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3416" y="2286000"/>
            <a:ext cx="2249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A83542"/>
                </a:solidFill>
                <a:latin typeface="Helvetica Neue"/>
              </a:rPr>
              <a:t>never below 14 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962656"/>
            <a:ext cx="106070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035808"/>
            <a:ext cx="211226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Helvetica Neue"/>
              </a:rPr>
              <a:t>Overlapping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6976" y="3035808"/>
            <a:ext cx="558698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1E3652"/>
                </a:solidFill>
                <a:latin typeface="Helvetica Neue"/>
              </a:rPr>
              <a:t>move the lower-priority element → resize the box → reflow into two columns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3416" y="3035808"/>
            <a:ext cx="2249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A83542"/>
                </a:solidFill>
                <a:latin typeface="Helvetica Neue"/>
              </a:rPr>
              <a:t>keep image z-order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712463"/>
            <a:ext cx="10607040" cy="713232"/>
          </a:xfrm>
          <a:prstGeom prst="rect">
            <a:avLst/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785615"/>
            <a:ext cx="211226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Helvetica Neue"/>
              </a:rPr>
              <a:t>Text over a busy background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6976" y="3785615"/>
            <a:ext cx="558698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1E3652"/>
                </a:solidFill>
                <a:latin typeface="Helvetica Neue"/>
              </a:rPr>
              <a:t>add a scrim behind the text → move the text → change the text colour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3785615"/>
            <a:ext cx="2249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A83542"/>
                </a:solidFill>
                <a:latin typeface="Helvetica Neue"/>
              </a:rPr>
              <a:t>contrast must reach 4.5:1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462272"/>
            <a:ext cx="106070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535424"/>
            <a:ext cx="211226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Helvetica Neue"/>
              </a:rPr>
              <a:t>Text too long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6976" y="4535424"/>
            <a:ext cx="558698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1E3652"/>
                </a:solidFill>
                <a:latin typeface="Helvetica Neue"/>
              </a:rPr>
              <a:t>delete words (never add) → split across two slides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3416" y="4535424"/>
            <a:ext cx="2249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A83542"/>
                </a:solidFill>
                <a:latin typeface="Helvetica Neue"/>
              </a:rPr>
              <a:t>no new claims, no number changes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212079"/>
            <a:ext cx="10607040" cy="713232"/>
          </a:xfrm>
          <a:prstGeom prst="rect">
            <a:avLst/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285231"/>
            <a:ext cx="211226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Helvetica Neue"/>
              </a:rPr>
              <a:t>Too dense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6976" y="5285231"/>
            <a:ext cx="558698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1E3652"/>
                </a:solidFill>
                <a:latin typeface="Helvetica Neue"/>
              </a:rPr>
              <a:t>split one slide into two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3416" y="5285231"/>
            <a:ext cx="2249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850" b="0">
                <a:solidFill>
                  <a:srgbClr val="A83542"/>
                </a:solidFill>
                <a:latin typeface="Helvetica Neue"/>
              </a:rPr>
              <a:t>preserve claim order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05332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0">
                <a:solidFill>
                  <a:srgbClr val="5A6B7C"/>
                </a:solidFill>
                <a:latin typeface="Helvetica Neue"/>
              </a:rPr>
              <a:t>Order matters: the cheapest reversible action is tried first, so the cost of a repair is predictable.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Helvetica Neue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Helvetica Neue"/>
              </a:rPr>
              <a:t>05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Helvetica Neue"/>
              </a:rPr>
              <a:t>Three ways to build the loop — and the order we 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Helvetica Neue"/>
              </a:rPr>
              <a:t>All three are feasible; they differ in cost, risk and how early they produce a number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1847088"/>
            <a:ext cx="10424160" cy="3657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920240"/>
            <a:ext cx="2148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Helvetica Neue"/>
              </a:rPr>
              <a:t>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6976" y="1920240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Helvetica Neue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97496" y="19202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Helvetica Neue"/>
              </a:rPr>
              <a:t>Cost /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32136" y="1920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Helvetica Neue"/>
              </a:rPr>
              <a:t>When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12848"/>
            <a:ext cx="10424160" cy="786384"/>
          </a:xfrm>
          <a:prstGeom prst="rect">
            <a:avLst/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304288"/>
            <a:ext cx="2112263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40" b="1">
                <a:solidFill>
                  <a:srgbClr val="10233A"/>
                </a:solidFill>
                <a:latin typeface="Helvetica Neue"/>
              </a:rPr>
              <a:t>A  Deterministic repair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2304288"/>
            <a:ext cx="3941063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60" b="0">
                <a:solidFill>
                  <a:srgbClr val="1E3652"/>
                </a:solidFill>
                <a:latin typeface="Helvetica Neue"/>
              </a:rPr>
              <a:t>shrink font → move → resize → split slide, no LLM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7496" y="2304288"/>
            <a:ext cx="261518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60" b="0">
                <a:solidFill>
                  <a:srgbClr val="5A6B7C"/>
                </a:solidFill>
                <a:latin typeface="Helvetica Neue"/>
              </a:rPr>
              <a:t>cheapest, fully reproducible; limited 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32136" y="2304288"/>
            <a:ext cx="87782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60" b="0">
                <a:solidFill>
                  <a:srgbClr val="5A6B7C"/>
                </a:solidFill>
                <a:latin typeface="Helvetica Neue"/>
              </a:rPr>
              <a:t>W5–7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108960"/>
            <a:ext cx="10424160" cy="78638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3200400"/>
            <a:ext cx="2112263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40" b="1">
                <a:solidFill>
                  <a:srgbClr val="10233A"/>
                </a:solidFill>
                <a:latin typeface="Helvetica Neue"/>
              </a:rPr>
              <a:t>B  Detector-conditioned rewrite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6976" y="3200400"/>
            <a:ext cx="3941063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60" b="0">
                <a:solidFill>
                  <a:srgbClr val="1E3652"/>
                </a:solidFill>
                <a:latin typeface="Helvetica Neue"/>
              </a:rPr>
              <a:t>violations become constraints; the LLM rewrites one slide's structured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3200400"/>
            <a:ext cx="261518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60" b="0">
                <a:solidFill>
                  <a:srgbClr val="5A6B7C"/>
                </a:solidFill>
                <a:latin typeface="Helvetica Neue"/>
              </a:rPr>
              <a:t>1 call per slide per pass; content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32136" y="3200400"/>
            <a:ext cx="87782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60" b="0">
                <a:solidFill>
                  <a:srgbClr val="5A6B7C"/>
                </a:solidFill>
                <a:latin typeface="Helvetica Neue"/>
              </a:rPr>
              <a:t>W8–11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005072"/>
            <a:ext cx="10424160" cy="786384"/>
          </a:xfrm>
          <a:prstGeom prst="rect">
            <a:avLst/>
          </a:prstGeom>
          <a:solidFill>
            <a:srgbClr val="F4F6F8"/>
          </a:solidFill>
          <a:ln w="7620">
            <a:solidFill>
              <a:srgbClr val="E2E8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4096511"/>
            <a:ext cx="2112263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40" b="1">
                <a:solidFill>
                  <a:srgbClr val="10233A"/>
                </a:solidFill>
                <a:latin typeface="Helvetica Neue"/>
              </a:rPr>
              <a:t>C  Hybrid two-loop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6976" y="4096511"/>
            <a:ext cx="3941063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60" b="0">
                <a:solidFill>
                  <a:srgbClr val="1E3652"/>
                </a:solidFill>
                <a:latin typeface="Helvetica Neue"/>
              </a:rPr>
              <a:t>inner loop A + a VLM pass every third iteration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7496" y="4096511"/>
            <a:ext cx="261518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60" b="0">
                <a:solidFill>
                  <a:srgbClr val="5A6B7C"/>
                </a:solidFill>
                <a:latin typeface="Helvetica Neue"/>
              </a:rPr>
              <a:t>highest complexity; hardest to debug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32136" y="4096511"/>
            <a:ext cx="87782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860" b="0">
                <a:solidFill>
                  <a:srgbClr val="5A6B7C"/>
                </a:solidFill>
                <a:latin typeface="Helvetica Neue"/>
              </a:rPr>
              <a:t>W12–14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60" b="1">
                <a:solidFill>
                  <a:srgbClr val="A83542"/>
                </a:solidFill>
                <a:latin typeface="Helvetica Neue"/>
              </a:rPr>
              <a:t>A alone already yields a reportable result. B is added only if A converges; C exists only as the comparison arm.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Helvetica Neue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Helvetica Neue"/>
              </a:rPr>
              <a:t>05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Helvetica Neue"/>
              </a:rPr>
              <a:t>How the claims are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Helvetica Neue"/>
              </a:rPr>
              <a:t>Three tracks in parallel, avoiding the circularity of an LLM judging an LLM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1847088"/>
            <a:ext cx="10561320" cy="3657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20240"/>
            <a:ext cx="2148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Helvetica Neue"/>
              </a:rPr>
              <a:t>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8688" y="1920240"/>
            <a:ext cx="26974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Helvetica Neue"/>
              </a:rP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8" y="19202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Helvetica Neue"/>
              </a:rPr>
              <a:t>Sample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19202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Helvetica Neue"/>
              </a:rPr>
              <a:t>Why it is needed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31136"/>
            <a:ext cx="10561320" cy="493776"/>
          </a:xfrm>
          <a:prstGeom prst="rect">
            <a:avLst/>
          </a:prstGeom>
          <a:solidFill>
            <a:srgbClr val="F4F6F8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286000"/>
            <a:ext cx="2130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1">
                <a:solidFill>
                  <a:srgbClr val="10233A"/>
                </a:solidFill>
                <a:latin typeface="Helvetica Neue"/>
              </a:rPr>
              <a:t>Automatic (geometry)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8" y="2286000"/>
            <a:ext cx="26791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Helvetica Neue"/>
              </a:rPr>
              <a:t>Violation count, SRR, deck-ready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2286000"/>
            <a:ext cx="2313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Helvetica Neue"/>
              </a:rPr>
              <a:t>150 slides (40 + 110)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2286000"/>
            <a:ext cx="2633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deterministic and rerunnable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724912"/>
            <a:ext cx="1056132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779776"/>
            <a:ext cx="2130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1">
                <a:solidFill>
                  <a:srgbClr val="10233A"/>
                </a:solidFill>
                <a:latin typeface="Helvetica Neue"/>
              </a:rPr>
              <a:t>Task-based (QA)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2779776"/>
            <a:ext cx="26791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Helvetica Neue"/>
              </a:rPr>
              <a:t>answer accuracy from the deck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2779776"/>
            <a:ext cx="2313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Helvetica Neue"/>
              </a:rPr>
              <a:t>10 questions x 8 papers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779776"/>
            <a:ext cx="2633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can a reader extract correct facts?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218688"/>
            <a:ext cx="10561320" cy="493776"/>
          </a:xfrm>
          <a:prstGeom prst="rect">
            <a:avLst/>
          </a:prstGeom>
          <a:solidFill>
            <a:srgbClr val="F4F6F8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273552"/>
            <a:ext cx="2130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1">
                <a:solidFill>
                  <a:srgbClr val="10233A"/>
                </a:solidFill>
                <a:latin typeface="Helvetica Neue"/>
              </a:rPr>
              <a:t>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8688" y="3273552"/>
            <a:ext cx="26791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Helvetica Neue"/>
              </a:rPr>
              <a:t>key claims that survive into the deck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3273552"/>
            <a:ext cx="2313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Helvetica Neue"/>
              </a:rPr>
              <a:t>5-8 claims per paper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3273552"/>
            <a:ext cx="2633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required by the brief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712464"/>
            <a:ext cx="10561320" cy="493776"/>
          </a:xfrm>
          <a:prstGeom prst="rect">
            <a:avLst/>
          </a:prstGeom>
          <a:solidFill>
            <a:srgbClr val="FFFFFF"/>
          </a:solidFill>
          <a:ln w="7620">
            <a:solidFill>
              <a:srgbClr val="E4EA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3767328"/>
            <a:ext cx="213055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1">
                <a:solidFill>
                  <a:srgbClr val="10233A"/>
                </a:solidFill>
                <a:latin typeface="Helvetica Neue"/>
              </a:rPr>
              <a:t>Human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688" y="3767328"/>
            <a:ext cx="267919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Helvetica Neue"/>
              </a:rPr>
              <a:t>pairwise preference, speakability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9048" y="3767328"/>
            <a:ext cx="2313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10233A"/>
                </a:solidFill>
                <a:latin typeface="Helvetica Neue"/>
              </a:rPr>
              <a:t>20 participants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3648" y="3767328"/>
            <a:ext cx="2633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design has no ground truth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315968"/>
            <a:ext cx="7589520" cy="1481328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4407408"/>
            <a:ext cx="7132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19" b="1">
                <a:solidFill>
                  <a:srgbClr val="C08A2E"/>
                </a:solidFill>
                <a:latin typeface="Helvetica Neue"/>
              </a:rPr>
              <a:t>BASELINES — EACH ANSWERS A DIFFERENT 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464515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1">
                <a:solidFill>
                  <a:srgbClr val="A83542"/>
                </a:solidFill>
                <a:latin typeface="Helvetica Neue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4645152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10233A"/>
                </a:solidFill>
                <a:latin typeface="Helvetica Neue"/>
              </a:rPr>
              <a:t>Naive single-pass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0128" y="46451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does inspection add anything at all?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49560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1">
                <a:solidFill>
                  <a:srgbClr val="A83542"/>
                </a:solidFill>
                <a:latin typeface="Helvetica Neue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61872" y="4956048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10233A"/>
                </a:solidFill>
                <a:latin typeface="Helvetica Neue"/>
              </a:rPr>
              <a:t>PPTAgent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0128" y="49560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versus the strongest reproducible generator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" y="526694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60" b="1">
                <a:solidFill>
                  <a:srgbClr val="A83542"/>
                </a:solidFill>
                <a:latin typeface="Helvetica Neue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526694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40" b="1">
                <a:solidFill>
                  <a:srgbClr val="10233A"/>
                </a:solidFill>
                <a:latin typeface="Helvetica Neue"/>
              </a:rPr>
              <a:t>VLM-judge repair loop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10128" y="526694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computable rules versus subjective judgement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" y="5577840"/>
            <a:ext cx="7223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1">
                <a:solidFill>
                  <a:srgbClr val="A83542"/>
                </a:solidFill>
                <a:latin typeface="Helvetica Neue"/>
              </a:rPr>
              <a:t>3 is the primary claim: same loop, same budget, only the verifier changes.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49640" y="4315968"/>
            <a:ext cx="2862072" cy="1481328"/>
          </a:xfrm>
          <a:prstGeom prst="roundRect">
            <a:avLst>
              <a:gd name="adj" fmla="val 3500"/>
            </a:avLst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41664" y="4407408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19" b="1">
                <a:solidFill>
                  <a:srgbClr val="C08A2E"/>
                </a:solidFill>
                <a:latin typeface="Helvetica Neue"/>
              </a:rPr>
              <a:t>ABLATION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1664" y="4645152"/>
            <a:ext cx="2514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819" b="0">
                <a:solidFill>
                  <a:srgbClr val="1E3652"/>
                </a:solidFill>
                <a:latin typeface="Helvetica Neue"/>
              </a:rPr>
              <a:t>Remove anchors
Remove inspection
Remove repair
→ per-module attribution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41664" y="5541264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740" b="0">
                <a:solidFill>
                  <a:srgbClr val="A83542"/>
                </a:solidFill>
                <a:latin typeface="Helvetica Neue"/>
              </a:rPr>
              <a:t>Report per class,
including where repair fails.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9618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5A6B7C"/>
                </a:solidFill>
                <a:latin typeface="Helvetica Neue"/>
              </a:rPr>
              <a:t>Inspection starts in W5, ahead of the brief's stage 5 - the metric must be validated before the loop that depends on it.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Helvetica Neue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Helvetica Neue"/>
              </a:rPr>
              <a:t>06 ·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Helvetica Neue"/>
              </a:rPr>
              <a:t>20-week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5A6B7C"/>
                </a:solidFill>
                <a:latin typeface="Helvetica Neue"/>
              </a:rPr>
              <a:t>Four parallel workstreams; if recruitment is short, fall back to expert rating plus expanded QA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700784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514600" y="1783080"/>
            <a:ext cx="0" cy="3474720"/>
          </a:xfrm>
          <a:prstGeom prst="line">
            <a:avLst/>
          </a:prstGeom>
          <a:ln w="9525">
            <a:solidFill>
              <a:srgbClr val="EC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94560" y="157276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720" b="0">
                <a:solidFill>
                  <a:srgbClr val="8A99A8"/>
                </a:solidFill>
                <a:latin typeface="Helvetica Neue"/>
              </a:rPr>
              <a:t/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63440" y="1783080"/>
            <a:ext cx="0" cy="3474720"/>
          </a:xfrm>
          <a:prstGeom prst="line">
            <a:avLst/>
          </a:prstGeom>
          <a:ln w="9525">
            <a:solidFill>
              <a:srgbClr val="EC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43400" y="157276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720" b="0">
                <a:solidFill>
                  <a:srgbClr val="8A99A8"/>
                </a:solidFill>
                <a:latin typeface="Helvetica Neue"/>
              </a:rPr>
              <a:t>W5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12280" y="1783080"/>
            <a:ext cx="0" cy="3474720"/>
          </a:xfrm>
          <a:prstGeom prst="line">
            <a:avLst/>
          </a:prstGeom>
          <a:ln w="9525">
            <a:solidFill>
              <a:srgbClr val="EC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92240" y="157276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720" b="0">
                <a:solidFill>
                  <a:srgbClr val="8A99A8"/>
                </a:solidFill>
                <a:latin typeface="Helvetica Neue"/>
              </a:rPr>
              <a:t>W10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0" y="1783080"/>
            <a:ext cx="0" cy="3474720"/>
          </a:xfrm>
          <a:prstGeom prst="line">
            <a:avLst/>
          </a:prstGeom>
          <a:ln w="9525">
            <a:solidFill>
              <a:srgbClr val="EC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41080" y="157276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720" b="0">
                <a:solidFill>
                  <a:srgbClr val="8A99A8"/>
                </a:solidFill>
                <a:latin typeface="Helvetica Neue"/>
              </a:rPr>
              <a:t>W15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109960" y="1783080"/>
            <a:ext cx="0" cy="3474720"/>
          </a:xfrm>
          <a:prstGeom prst="line">
            <a:avLst/>
          </a:prstGeom>
          <a:ln w="9525">
            <a:solidFill>
              <a:srgbClr val="ECF0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789920" y="157276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</a:pPr>
            <a:r>
              <a:rPr sz="720" b="0">
                <a:solidFill>
                  <a:srgbClr val="8A99A8"/>
                </a:solidFill>
                <a:latin typeface="Helvetica Neue"/>
              </a:rPr>
              <a:t>W20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1920240"/>
            <a:ext cx="859536" cy="310896"/>
          </a:xfrm>
          <a:prstGeom prst="roundRect">
            <a:avLst>
              <a:gd name="adj" fmla="val 25000"/>
            </a:avLst>
          </a:prstGeom>
          <a:solidFill>
            <a:srgbClr val="2E6F9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4328" y="1975104"/>
            <a:ext cx="7223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720" b="1">
                <a:solidFill>
                  <a:srgbClr val="FFFFFF"/>
                </a:solidFill>
                <a:latin typeface="Helvetica Neue"/>
              </a:rPr>
              <a:t>W1–2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95681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Helvetica Neue"/>
              </a:rPr>
              <a:t>Literature &amp; scope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74136" y="2395728"/>
            <a:ext cx="859536" cy="310896"/>
          </a:xfrm>
          <a:prstGeom prst="roundRect">
            <a:avLst>
              <a:gd name="adj" fmla="val 25000"/>
            </a:avLst>
          </a:prstGeom>
          <a:solidFill>
            <a:srgbClr val="2E6F9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3864" y="2450592"/>
            <a:ext cx="7223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720" b="1">
                <a:solidFill>
                  <a:srgbClr val="FFFFFF"/>
                </a:solidFill>
                <a:latin typeface="Helvetica Neue"/>
              </a:rPr>
              <a:t>W3–4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43230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Helvetica Neue"/>
              </a:rPr>
              <a:t>Setup &amp; spikes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33672" y="2871216"/>
            <a:ext cx="1289304" cy="310896"/>
          </a:xfrm>
          <a:prstGeom prst="roundRect">
            <a:avLst>
              <a:gd name="adj" fmla="val 25000"/>
            </a:avLst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2926080"/>
            <a:ext cx="115214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720" b="1">
                <a:solidFill>
                  <a:srgbClr val="FFFFFF"/>
                </a:solidFill>
                <a:latin typeface="Helvetica Neue"/>
              </a:rPr>
              <a:t>W5–7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29077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Helvetica Neue"/>
              </a:rPr>
              <a:t>Rulebook &amp; parsing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22976" y="3346704"/>
            <a:ext cx="1719072" cy="310896"/>
          </a:xfrm>
          <a:prstGeom prst="roundRect">
            <a:avLst>
              <a:gd name="adj" fmla="val 25000"/>
            </a:avLst>
          </a:prstGeom>
          <a:solidFill>
            <a:srgbClr val="2E6F9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32704" y="3401568"/>
            <a:ext cx="1581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720" b="1">
                <a:solidFill>
                  <a:srgbClr val="FFFFFF"/>
                </a:solidFill>
                <a:latin typeface="Helvetica Neue"/>
              </a:rPr>
              <a:t>W8–11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38328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Helvetica Neue"/>
              </a:rPr>
              <a:t>Layout &amp; rendering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42048" y="3822191"/>
            <a:ext cx="1289304" cy="310896"/>
          </a:xfrm>
          <a:prstGeom prst="roundRect">
            <a:avLst>
              <a:gd name="adj" fmla="val 25000"/>
            </a:avLst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5" y="3877055"/>
            <a:ext cx="115214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720" b="1">
                <a:solidFill>
                  <a:srgbClr val="FFFFFF"/>
                </a:solidFill>
                <a:latin typeface="Helvetica Neue"/>
              </a:rPr>
              <a:t>W12–14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85876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Helvetica Neue"/>
              </a:rPr>
              <a:t>Calibrate &amp; repair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31352" y="4297680"/>
            <a:ext cx="1719072" cy="310896"/>
          </a:xfrm>
          <a:prstGeom prst="roundRect">
            <a:avLst>
              <a:gd name="adj" fmla="val 25000"/>
            </a:avLst>
          </a:prstGeom>
          <a:solidFill>
            <a:srgbClr val="2E6F9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4352544"/>
            <a:ext cx="1581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720" b="1">
                <a:solidFill>
                  <a:srgbClr val="FFFFFF"/>
                </a:solidFill>
                <a:latin typeface="Helvetica Neue"/>
              </a:rPr>
              <a:t>W15–18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33425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Helvetica Neue"/>
              </a:rPr>
              <a:t>Experiments &amp; study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50424" y="4773168"/>
            <a:ext cx="859536" cy="310896"/>
          </a:xfrm>
          <a:prstGeom prst="roundRect">
            <a:avLst>
              <a:gd name="adj" fmla="val 25000"/>
            </a:avLst>
          </a:prstGeom>
          <a:solidFill>
            <a:srgbClr val="2E6F9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60152" y="4828032"/>
            <a:ext cx="7223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720" b="1">
                <a:solidFill>
                  <a:srgbClr val="FFFFFF"/>
                </a:solidFill>
                <a:latin typeface="Helvetica Neue"/>
              </a:rPr>
              <a:t>W19–20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8097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80" b="1">
                <a:solidFill>
                  <a:srgbClr val="10233A"/>
                </a:solidFill>
                <a:latin typeface="Helvetica Neue"/>
              </a:rPr>
              <a:t>Report &amp; talk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486400"/>
            <a:ext cx="3346704" cy="694944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486400"/>
            <a:ext cx="45720" cy="694944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" y="55595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Helvetica Neue"/>
              </a:rPr>
              <a:t>2026-11-05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" y="5852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Proposal submission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61688" y="5486400"/>
            <a:ext cx="3346704" cy="694944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61688" y="5486400"/>
            <a:ext cx="45720" cy="694944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62855" y="55595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Helvetica Neue"/>
              </a:rPr>
              <a:t>2027-01-07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5" y="5852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Interim Report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46136" y="5486400"/>
            <a:ext cx="3346704" cy="694944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946136" y="5486400"/>
            <a:ext cx="45720" cy="694944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47304" y="55595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00" b="1">
                <a:solidFill>
                  <a:srgbClr val="A83542"/>
                </a:solidFill>
                <a:latin typeface="Helvetica Neue"/>
              </a:rPr>
              <a:t>2027-04-08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47304" y="58521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19" b="0">
                <a:solidFill>
                  <a:srgbClr val="5A6B7C"/>
                </a:solidFill>
                <a:latin typeface="Helvetica Neue"/>
              </a:rPr>
              <a:t>Final Report + Turnitin + AI Report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Helvetica Neue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50" b="1">
                <a:solidFill>
                  <a:srgbClr val="C08A2E"/>
                </a:solidFill>
                <a:latin typeface="Helvetica Neue"/>
              </a:rPr>
              <a:t>APPENDIX · APA 7TH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2600" b="1">
                <a:solidFill>
                  <a:srgbClr val="10233A"/>
                </a:solidFill>
                <a:latin typeface="Helvetica Neue"/>
              </a:rPr>
              <a:t>References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207008"/>
            <a:ext cx="10634472" cy="0"/>
          </a:xfrm>
          <a:prstGeom prst="line">
            <a:avLst/>
          </a:prstGeom>
          <a:ln w="1143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572768"/>
            <a:ext cx="5074920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740">
                <a:solidFill>
                  <a:srgbClr val="1E3652"/>
                </a:solidFill>
                <a:latin typeface="Helvetica Neue"/>
              </a:rPr>
              <a:t>Chen, H., Zhou, X., Zhou, W., Shao, X., Zhu, Y., Wang, B., Hong, J., Jia, A., &amp; Wu, F. (2026). X+Slides: Benchmarking audience-conditioned slide generation (arXiv:2606.19256). arXiv. https://doi.org/10.48550/arXiv.2606.19256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Helvetica Neue"/>
              </a:rPr>
              <a:t>Fu, T.-J., Wang, W. Y., McDuff, D., &amp; Song, Y. (2021). DOC2PPT: Automatic presentation slides generation from scientific documents (arXiv:2101.11796). arXiv. https://doi.org/10.48550/arXiv.2101.11796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Helvetica Neue"/>
              </a:rPr>
              <a:t>Ge, J., Wang, Z. Z., Zhou, X., Peng, Y.-H., Subramanian, S., Tan, Q., Sap, M., Suhr, A., Fried, D., Neubig, G., &amp; Darrell, T. (2025). AutoPresent: Designing structured visuals from scratch (arXiv:2501.00912). arXiv. https://doi.org/10.48550/arXiv.2501.00912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Helvetica Neue"/>
              </a:rPr>
              <a:t>Hu, H., Dang, C., Liu, Y., Kang, H., He, C., &amp; Li, W. (2026). PosterMELD: Multi-agent paper-to-poster generation for controllable design diversity with editable print-ready outputs (arXiv:2608.02218). arXiv. https://doi.org/10.48550/arXiv.2608.02218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Helvetica Neue"/>
              </a:rPr>
              <a:t>Huang, Z., Liu, X., Hu, T., Zhang, K., &amp; Liu, Y. (2025). PPTBench: Towards holistic evaluation of large language models for PowerPoint layout and design understanding (arXiv:2512.02624). arXiv. https://doi.org/10.48550/arXiv.2512.02624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Helvetica Neue"/>
              </a:rPr>
              <a:t>Jang, D., Heisler, M. L., Xing, L., Li, Y., Wang, E., Xiong, Y., Zhang, Y., &amp; Fan, Z. (2026). DECKBench: Benchmarking multi-agent frameworks for academic slide generation and editing (arXiv:2602.13318). arXiv. https://doi.org/10.48550/arXiv.2602.13318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Helvetica Neue"/>
              </a:rPr>
              <a:t>Jung, K., Cho, H., Yun, J., Yang, S., Jang, J., &amp; Choo, J. (2025). Talk to your slides: High-efficiency slide editing via language-driven structured data manipulation (arXiv:2505.11604). arXiv. https://doi.org/10.48550/arXiv.2505.11604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Helvetica Neue"/>
              </a:rPr>
              <a:t>Liang, X., Zhang, Z., Zhang, X., Su, H., Xu, Y., Sun, S., &amp; You, C. (2025). SlideGen: Collaborative multimodal agents for scientific slide generation (arXiv:2512.04529). arXiv. https://doi.org/10.48550/arXiv.2512.04529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Helvetica Neue"/>
              </a:rPr>
              <a:t>Ofengenden, M., Man, Y., Pang, Z., Gui, L.-Y., &amp; Wang, Y.-X. (2025). PPTArena: A benchmark for PowerPoint editing (arXiv:2512.03042). arXiv. https://doi.org/10.48550/arXiv.2512.03042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Helvetica Neue"/>
              </a:rPr>
              <a:t>Ozden, T. C., VS, S., Horoz, F., Kara, O., Kim, J., &amp; Rehg, J. M. (2026a). Narrative-driven paper-to-slide generation via ArcDeck (arXiv:2604.11969). arXiv. https://doi.org/10.48550/arXiv.2604.11969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Helvetica Neue"/>
              </a:rPr>
              <a:t>Ozden, T. C., VS, S., Horoz, F., Kara, O., Hakkani-Tür, D., Kim, J., &amp; Rehg, J. M. (2026b). ConvDeck: Conversational paper-to-slide generation via stage-specific user feedback (arXiv:2609.00226). arXiv. https://doi.org/10.48550/arXiv.2609.00226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72768"/>
            <a:ext cx="5074920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740">
                <a:solidFill>
                  <a:srgbClr val="1E3652"/>
                </a:solidFill>
                <a:latin typeface="Helvetica Neue"/>
              </a:rPr>
              <a:t>Pang, W., Lin, K. Q., Jian, X., He, X., &amp; Torr, P. (2025). Paper2Poster: Towards multimodal poster automation from scientific papers (arXiv:2505.21497). arXiv. https://doi.org/10.48550/arXiv.2505.21497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Helvetica Neue"/>
              </a:rPr>
              <a:t>Sun, E., Hou, Y., Wang, D., Zhang, Y., &amp; Wang, N. X. R. (2021). D2S: Document-to-slide generation via query-based text summarization (arXiv:2105.03664). arXiv. https://doi.org/10.48550/arXiv.2105.03664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Helvetica Neue"/>
              </a:rPr>
              <a:t>Tian, M., Zeng, Z., Yang, Y., Gao, X., Li, Y., Huang, Z., Wang, X., Lv, C., Cheng, M., Liu, B., Qiu, K., Dai, Q., Chen, D., Dong, Y., Zheng, X., Li, J., &amp; Luo, C. (2026). ReDeck: Step-level render-grounded refinement for document-to-slide generation (arXiv:2609.00194). arXiv. https://doi.org/10.48550/arXiv.2609.00194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Helvetica Neue"/>
              </a:rPr>
              <a:t>Vats, V., Sharma, K., &amp; Wang, Y. (2026). SlideLab: Audience-centered scientific slide generation and evaluation (arXiv:2609.30294). arXiv. https://doi.org/10.48550/arXiv.2609.30294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Helvetica Neue"/>
              </a:rPr>
              <a:t>Xie, E., Waterfield, D., Kennedy, M., &amp; Zhang, A. (2025). SlideBot: A multi-agent framework for generating informative, reliable, multi-modal presentations (arXiv:2511.09804). arXiv. https://doi.org/10.48550/arXiv.2511.09804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Helvetica Neue"/>
              </a:rPr>
              <a:t>Yang, M., Zhang, Z., Li, J., Liu, H., Cai, Y., &amp; Zheng, W. (2026). DeepSlide: From artifacts to presentation delivery (arXiv:2605.15202). arXiv. https://doi.org/10.48550/arXiv.2605.15202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Helvetica Neue"/>
              </a:rPr>
              <a:t>Zhang, Z. J., Chen, R., Zhong, M., &amp; Wobbrock, J. O. (2025). SlideAudit: A dataset and taxonomy for automated evaluation of presentation slides (arXiv:2508.03630). arXiv. https://doi.org/10.48550/arXiv.2508.03630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Helvetica Neue"/>
              </a:rPr>
              <a:t>Zheng, H., Guan, X., Kong, H., Zheng, J., Zhou, W., Lin, H., Lu, Y., He, B., Han, X., &amp; Sun, L. (2025). PPTAgent: Generating and evaluating presentations beyond text-to-slides (arXiv:2501.03936). arXiv. https://doi.org/10.48550/arXiv.2501.03936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Helvetica Neue"/>
              </a:rPr>
              <a:t>Zheng, H., Mo, G., Yan, X., Yuan, Q., Zhang, W., Chen, X., Lu, Y., Lin, H., Han, X., &amp; Sun, L. (2026a). DeepPresenter: Environment-grounded reflection for agentic presentation generation (arXiv:2602.22839). arXiv. https://doi.org/10.48550/arXiv.2602.22839</a:t>
            </a:r>
          </a:p>
          <a:p>
            <a:pPr>
              <a:lnSpc>
                <a:spcPct val="106000"/>
              </a:lnSpc>
              <a:spcBef>
                <a:spcPts val="400"/>
              </a:spcBef>
            </a:pPr>
            <a:r>
              <a:rPr sz="740">
                <a:solidFill>
                  <a:srgbClr val="1E3652"/>
                </a:solidFill>
                <a:latin typeface="Helvetica Neue"/>
              </a:rPr>
              <a:t>Zheng, H., Wang, F., Xiong, T., Yu, Y., Qian, S., Yu, H., Schwing, A., Nahrstedt, K., &amp; Wu, M. (2026b). SLIDEFORGE: An LLM agent for controllable editing of slides as structured artifacts (arXiv:2609.03109). arXiv. https://doi.org/10.48550/arXiv.2609.03109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800" b="0">
                <a:solidFill>
                  <a:srgbClr val="8A99A8"/>
                </a:solidFill>
                <a:latin typeface="Helvetica Neue"/>
              </a:rPr>
              <a:t>DSAI4901  ·  Capstone Project Proposal  ·  CHAN Yee 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</a:pPr>
            <a:r>
              <a:rPr sz="850" b="1">
                <a:solidFill>
                  <a:srgbClr val="8A99A8"/>
                </a:solidFill>
                <a:latin typeface="Helvetica Neue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